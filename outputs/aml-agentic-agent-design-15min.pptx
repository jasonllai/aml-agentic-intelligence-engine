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eccde9cb752408c" /><Relationship Type="http://schemas.openxmlformats.org/officeDocument/2006/relationships/extended-properties" Target="/docProps/app.xml" Id="R51948598a14b4cc0" /><Relationship Type="http://schemas.openxmlformats.org/officeDocument/2006/relationships/officeDocument" Target="/ppt/presentation.xml" Id="R7396a9f8733241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2a1ce2c99c4861"/>
  </p:sldMasterIdLst>
  <p:notesMasterIdLst>
    <p:notesMasterId xmlns:r="http://schemas.openxmlformats.org/officeDocument/2006/relationships" r:id="R83c912eb721245d9"/>
  </p:notesMasterIdLst>
  <p:sldIdLst>
    <p:sldId xmlns:r="http://schemas.openxmlformats.org/officeDocument/2006/relationships" id="256" r:id="Rfa00118416ba4fe4"/>
    <p:sldId xmlns:r="http://schemas.openxmlformats.org/officeDocument/2006/relationships" id="257" r:id="R6dc7bc606fc847c3"/>
    <p:sldId xmlns:r="http://schemas.openxmlformats.org/officeDocument/2006/relationships" id="258" r:id="R473e55448a80469f"/>
    <p:sldId xmlns:r="http://schemas.openxmlformats.org/officeDocument/2006/relationships" id="259" r:id="Rdd864da3fb954415"/>
    <p:sldId xmlns:r="http://schemas.openxmlformats.org/officeDocument/2006/relationships" id="260" r:id="R4195eb200a554c7d"/>
    <p:sldId xmlns:r="http://schemas.openxmlformats.org/officeDocument/2006/relationships" id="261" r:id="Rb6e9788bd4ad4c69"/>
    <p:sldId xmlns:r="http://schemas.openxmlformats.org/officeDocument/2006/relationships" id="262" r:id="R8d6823e09f7247b0"/>
    <p:sldId xmlns:r="http://schemas.openxmlformats.org/officeDocument/2006/relationships" id="263" r:id="R7b3c1d258a204f33"/>
    <p:sldId xmlns:r="http://schemas.openxmlformats.org/officeDocument/2006/relationships" id="264" r:id="R61206ac89a5d40e5"/>
    <p:sldId xmlns:r="http://schemas.openxmlformats.org/officeDocument/2006/relationships" id="265" r:id="Re5f64da9c000418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6e925366e4454" /><Relationship Type="http://schemas.openxmlformats.org/officeDocument/2006/relationships/slideMaster" Target="/ppt/slideMasters/slideMaster1.xml" Id="Rdc2a1ce2c99c4861" /><Relationship Type="http://schemas.openxmlformats.org/officeDocument/2006/relationships/notesMaster" Target="/ppt/notesMasters/notesMaster1.xml" Id="R83c912eb721245d9" /><Relationship Type="http://schemas.openxmlformats.org/officeDocument/2006/relationships/presProps" Target="/ppt/presProps.xml" Id="Rb2f8556e366f4f38" /><Relationship Type="http://schemas.openxmlformats.org/officeDocument/2006/relationships/tableStyles" Target="/ppt/tableStyles.xml" Id="Rfa252ffc838c481b" /><Relationship Type="http://schemas.openxmlformats.org/officeDocument/2006/relationships/slide" Target="/ppt/slides/slide1.xml" Id="Rfa00118416ba4fe4" /><Relationship Type="http://schemas.openxmlformats.org/officeDocument/2006/relationships/slide" Target="/ppt/slides/slide2.xml" Id="R6dc7bc606fc847c3" /><Relationship Type="http://schemas.openxmlformats.org/officeDocument/2006/relationships/slide" Target="/ppt/slides/slide3.xml" Id="R473e55448a80469f" /><Relationship Type="http://schemas.openxmlformats.org/officeDocument/2006/relationships/slide" Target="/ppt/slides/slide4.xml" Id="Rdd864da3fb954415" /><Relationship Type="http://schemas.openxmlformats.org/officeDocument/2006/relationships/slide" Target="/ppt/slides/slide5.xml" Id="R4195eb200a554c7d" /><Relationship Type="http://schemas.openxmlformats.org/officeDocument/2006/relationships/slide" Target="/ppt/slides/slide6.xml" Id="Rb6e9788bd4ad4c69" /><Relationship Type="http://schemas.openxmlformats.org/officeDocument/2006/relationships/slide" Target="/ppt/slides/slide7.xml" Id="R8d6823e09f7247b0" /><Relationship Type="http://schemas.openxmlformats.org/officeDocument/2006/relationships/slide" Target="/ppt/slides/slide8.xml" Id="R7b3c1d258a204f33" /><Relationship Type="http://schemas.openxmlformats.org/officeDocument/2006/relationships/slide" Target="/ppt/slides/slide9.xml" Id="R61206ac89a5d40e5" /><Relationship Type="http://schemas.openxmlformats.org/officeDocument/2006/relationships/slide" Target="/ppt/slides/slide10.xml" Id="Re5f64da9c00041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227d31e574fc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  <a:effectStyle>
          <a:effectLst>
            <a:outerShdw blurRad="95250" dist="30121" dir="4293903">
              <a:srgbClr val="0F172A">
                <a:alpha val="6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7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e134f74998f46a4" /><Relationship Type="http://schemas.openxmlformats.org/officeDocument/2006/relationships/notesMaster" Target="/ppt/notesMasters/notesMaster1.xml" Id="Rb2d96f0082b24e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a4ddec7fb4330" /><Relationship Type="http://schemas.openxmlformats.org/officeDocument/2006/relationships/notesMaster" Target="/ppt/notesMasters/notesMaster1.xml" Id="Rba1049646158425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8d2f325e35345c6" /><Relationship Type="http://schemas.openxmlformats.org/officeDocument/2006/relationships/notesMaster" Target="/ppt/notesMasters/notesMaster1.xml" Id="R689688cadf1149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77316d9ee24514" /><Relationship Type="http://schemas.openxmlformats.org/officeDocument/2006/relationships/notesMaster" Target="/ppt/notesMasters/notesMaster1.xml" Id="R57985041ae1044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6803123d104542" /><Relationship Type="http://schemas.openxmlformats.org/officeDocument/2006/relationships/notesMaster" Target="/ppt/notesMasters/notesMaster1.xml" Id="R16753ac1021745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008b9f91574979" /><Relationship Type="http://schemas.openxmlformats.org/officeDocument/2006/relationships/notesMaster" Target="/ppt/notesMasters/notesMaster1.xml" Id="R35505e45e04e438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d5af2850fd14c4b" /><Relationship Type="http://schemas.openxmlformats.org/officeDocument/2006/relationships/notesMaster" Target="/ppt/notesMasters/notesMaster1.xml" Id="R3a1e22884a7f423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44ab2574e84802" /><Relationship Type="http://schemas.openxmlformats.org/officeDocument/2006/relationships/notesMaster" Target="/ppt/notesMasters/notesMaster1.xml" Id="Rd8be27ef3946436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14e536c24e944db" /><Relationship Type="http://schemas.openxmlformats.org/officeDocument/2006/relationships/notesMaster" Target="/ppt/notesMasters/notesMaster1.xml" Id="R7306d00e5a84450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b6e1ccf5a034258" /><Relationship Type="http://schemas.openxmlformats.org/officeDocument/2006/relationships/notesMaster" Target="/ppt/notesMasters/notesMaster1.xml" Id="R3fef0ecdff144c7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correcting the framing: this is an agentic AML workflow, not a UI demo.</a:t>
            </a:r>
          </a:p>
          <a:p xmlns:a="http://schemas.openxmlformats.org/drawingml/2006/main">
            <a:r>
              <a:t>The system connects Data Scientist model outputs to Investigator case review under governance controls.</a:t>
            </a:r>
          </a:p>
          <a:p xmlns:a="http://schemas.openxmlformats.org/drawingml/2006/main">
            <a:r>
              <a:t>The rest of the deck explains which agents exist, how they collaborate, and where the loops are bounded.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Make the problem concrete: model outputs alone are not enough for AML investigation.</a:t>
            </a:r>
          </a:p>
          <a:p xmlns:a="http://schemas.openxmlformats.org/drawingml/2006/main">
            <a:r>
              <a:t>The system's value is governed conversion: assemble evidence, explain limitations, keep careful language, and preserve human review.</a:t>
            </a:r>
          </a:p>
          <a:p xmlns:a="http://schemas.openxmlformats.org/drawingml/2006/main">
            <a:r>
              <a:t>This sets up why agent specialization and loops matter.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answer to 'what are the agents?'.</a:t>
            </a:r>
          </a:p>
          <a:p xmlns:a="http://schemas.openxmlformats.org/drawingml/2006/main">
            <a:r>
              <a:t>Explain the three responsibilities: model/detection work, investigator evidence work, and control/governance.</a:t>
            </a:r>
          </a:p>
          <a:p xmlns:a="http://schemas.openxmlformats.org/drawingml/2006/main">
            <a:r>
              <a:t>Important nuance: the router does not run all agents every time. It runs the smallest authorized route for the role and task.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how Data Science contributes to the system.</a:t>
            </a:r>
          </a:p>
          <a:p xmlns:a="http://schemas.openxmlformats.org/drawingml/2006/main">
            <a:r>
              <a:t>The four model families generate candidate signals; the candidate ranking agent packages them.</a:t>
            </a:r>
          </a:p>
          <a:p xmlns:a="http://schemas.openxmlformats.org/drawingml/2006/main">
            <a:r>
              <a:t>The LLM can help word the package, but it does not own ranking, threshold, feature drivers, or the investigation decision.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core Investigator panel explanation.</a:t>
            </a:r>
          </a:p>
          <a:p xmlns:a="http://schemas.openxmlformats.org/drawingml/2006/main">
            <a:r>
              <a:t>The important details are the exact agents and the order.</a:t>
            </a:r>
          </a:p>
          <a:p xmlns:a="http://schemas.openxmlformats.org/drawingml/2006/main">
            <a:r>
              <a:t>The planner exists, but it is not free to skip required evidence. The orchestrator validates and overrides decisions to enforce the route.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answers 'how do the agents collaborate?'.</a:t>
            </a:r>
          </a:p>
          <a:p xmlns:a="http://schemas.openxmlformats.org/drawingml/2006/main">
            <a:r>
              <a:t>The collaboration contract is shared state plus planner decisions.</a:t>
            </a:r>
          </a:p>
          <a:p xmlns:a="http://schemas.openxmlformats.org/drawingml/2006/main">
            <a:r>
              <a:t>The planner can propose, but the orchestrator enforces allowed actions, required order, and maximum steps.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directly answers whether there are loops.</a:t>
            </a:r>
          </a:p>
          <a:p xmlns:a="http://schemas.openxmlformats.org/drawingml/2006/main">
            <a:r>
              <a:t>There are two post-assembly loops: critic refinement and guardrail remediation.</a:t>
            </a:r>
          </a:p>
          <a:p xmlns:a="http://schemas.openxmlformats.org/drawingml/2006/main">
            <a:r>
              <a:t>Both are limited to one pass and logged through state fields and stream events, so they are controlled rather than open-ended.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shared-memory design.</a:t>
            </a:r>
          </a:p>
          <a:p xmlns:a="http://schemas.openxmlformats.org/drawingml/2006/main">
            <a:r>
              <a:t>Agents do not collaborate through invisible side conversations. They collaborate through typed state fields.</a:t>
            </a:r>
          </a:p>
          <a:p xmlns:a="http://schemas.openxmlformats.org/drawingml/2006/main">
            <a:r>
              <a:t>This makes routing, reports, guardrail decisions, stream events, and audit records explainable after the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architecture slide the team likely wants.</a:t>
            </a:r>
          </a:p>
          <a:p xmlns:a="http://schemas.openxmlformats.org/drawingml/2006/main">
            <a:r>
              <a:t>The frontend is intentionally minimized. The real design is the orchestration path inside the backend.</a:t>
            </a:r>
          </a:p>
          <a:p xmlns:a="http://schemas.openxmlformats.org/drawingml/2006/main">
            <a:r>
              <a:t>Walk left to right: request, input policy, router, execution layer, service-backed agent nodes, governance, response and audit.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honestly: this is implemented as a production-oriented foundation, not an enterprise deployment.</a:t>
            </a:r>
          </a:p>
          <a:p xmlns:a="http://schemas.openxmlformats.org/drawingml/2006/main">
            <a:r>
              <a:t>Metrics are implementation and artifact proof, not model-performance claims.</a:t>
            </a:r>
          </a:p>
          <a:p xmlns:a="http://schemas.openxmlformats.org/drawingml/2006/main">
            <a:r>
              <a:t>The next step is hardening: persistence, auth, model governance, RAG operations, and integration with case-management and investigator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403fec1524e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d06b2b50ee4233" /><Relationship Type="http://schemas.openxmlformats.org/officeDocument/2006/relationships/slideLayout" Target="/ppt/slideLayouts/slideLayout1.xml" Id="Rcaf4dbe0f4bc440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f4dbe0f4bc440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  <a:effectStyle>
          <a:effectLst>
            <a:outerShdw blurRad="95250" dist="30121" dir="4293903">
              <a:srgbClr val="0F172A">
                <a:alpha val="6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7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55379925b4cc2" /><Relationship Type="http://schemas.openxmlformats.org/officeDocument/2006/relationships/image" Target="/ppt/media/image.png" Id="R36fd32b8502c481c" /><Relationship Type="http://schemas.openxmlformats.org/officeDocument/2006/relationships/notesSlide" Target="/ppt/notesSlides/notesSlide1.xml" Id="R249350c3ed914f4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531b9af866411c" /><Relationship Type="http://schemas.openxmlformats.org/officeDocument/2006/relationships/notesSlide" Target="/ppt/notesSlides/notesSlide2.xml" Id="Rbbd0bc2a489a43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fd2636695c4b33" /><Relationship Type="http://schemas.openxmlformats.org/officeDocument/2006/relationships/notesSlide" Target="/ppt/notesSlides/notesSlide3.xml" Id="R0952bbe30585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2f38d9d2d4305" /><Relationship Type="http://schemas.openxmlformats.org/officeDocument/2006/relationships/notesSlide" Target="/ppt/notesSlides/notesSlide4.xml" Id="Re29439241ce84d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fde3b5387c45bc" /><Relationship Type="http://schemas.openxmlformats.org/officeDocument/2006/relationships/notesSlide" Target="/ppt/notesSlides/notesSlide5.xml" Id="Ra945b46c87bc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4e584c78342c7" /><Relationship Type="http://schemas.openxmlformats.org/officeDocument/2006/relationships/notesSlide" Target="/ppt/notesSlides/notesSlide6.xml" Id="R29a0b186a8994bc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92f7c56b8942b1" /><Relationship Type="http://schemas.openxmlformats.org/officeDocument/2006/relationships/notesSlide" Target="/ppt/notesSlides/notesSlide7.xml" Id="R276627445c92401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c19d5c23e4613" /><Relationship Type="http://schemas.openxmlformats.org/officeDocument/2006/relationships/notesSlide" Target="/ppt/notesSlides/notesSlide8.xml" Id="R0620b51dd41f42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3fdf9e0ae434d" /><Relationship Type="http://schemas.openxmlformats.org/officeDocument/2006/relationships/notesSlide" Target="/ppt/notesSlides/notesSlide9.xml" Id="Rbbf79f04e82d41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68e0f6ac49f5" /><Relationship Type="http://schemas.openxmlformats.org/officeDocument/2006/relationships/notesSlide" Target="/ppt/notesSlides/notesSlide10.xml" Id="R2f7c2d6dacbd45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737F12-5470-4347-9578-5FFE9E707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d32b8502c481c"/>
          <a:srcRect xmlns:a="http://schemas.openxmlformats.org/drawingml/2006/main" l="26941" t="0" r="2694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0"/>
            <a:ext cx="561975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620E4F-F274-4CFC-9D69-CB1ED4D04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67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DBFCBE-9D38-4F00-936E-28DB7408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0"/>
            <a:ext cx="1333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CA0CC9-106D-4E11-A4D7-C0590BBC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20002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A70F14"/>
                </a:solidFill>
                <a:latin typeface="Aptos"/>
                <a:ea typeface="Aptos"/>
                <a:cs typeface="Aptos"/>
              </a:rPr>
              <a:t>15-MINUTE TEAM BRIEFING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28D2DB-0FAF-48A5-BC4E-B07AAF20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14450"/>
            <a:ext cx="54292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AML Agentic</a:t>
            </a:r>
          </a:p>
          <a:p xmlns:a="http://schemas.openxmlformats.org/drawingml/2006/main">
            <a:pPr>
              <a:def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Intelligence</a:t>
            </a:r>
          </a:p>
          <a:p xmlns:a="http://schemas.openxmlformats.org/drawingml/2006/main">
            <a:pPr>
              <a:def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Workbench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1CB94-1CF6-46BD-9584-BAE8DEAE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762375"/>
            <a:ext cx="5334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 governed multi-agent system for model-driven candidate handoff and evidence-based AML investigation.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FE08C-480C-4F85-9764-168F9381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72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Agent routes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5B3ED3-D0FF-446F-87AB-5B8B2DEE7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972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Investigator panel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9D4FC-5D36-4598-8DE6-402B70F12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972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Bounded loops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F7BE54-4C1F-4742-850B-DE6952AA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972050"/>
            <a:ext cx="12192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1EC1A-D11B-4BC0-99BD-620246B2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00700"/>
            <a:ext cx="571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A70F14"/>
                </a:solidFill>
                <a:latin typeface="Aptos"/>
                <a:ea typeface="Aptos"/>
                <a:cs typeface="Aptos"/>
              </a:rPr>
              <a:t>Thesis: the system is not a free-form chatbot. It is a routed, audited, governed agent workflow.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8286A-49EB-4A5B-8E67-619703343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1985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Source: repository code, docs, and local model/data artifacts</a:t>
            </a:r>
          </a:p>
        </p:txBody>
      </p:sp>
    </p:spTree>
    <p:extLst>
      <p:ext uri="{BB962C8B-B14F-4D97-AF65-F5344CB8AC3E}">
        <p14:creationId xmlns:p14="http://schemas.microsoft.com/office/powerpoint/2010/main" val="8086322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A53A52D-D2FF-47A4-91D9-0B56421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DESIGN MOTIVATION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5C34F-ECFD-4A0F-BE2D-41B551EE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bottleneck this agent design addresses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EE0905-92C2-49EA-B5B9-49F82EAA2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AML teams need governed conversion from model signal to investigator-ready evidence.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C63CBF-8976-45F2-8A49-F4D9152E5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0B4B09-87CB-42CB-BA94-56946474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95972B-69A4-41A0-9BDA-56EAE060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C4301D-73FA-48DD-B0F6-9DA44827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7241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41DB7-BCC5-4C4E-BD94-81521EB0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76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C94FF-400F-4C0B-AB72-5C3E5B5B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Fragmented inputs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4FE737-9877-43D9-943F-B68D9396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419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Transactions, KYC, engineered features, model scores, typology guidance, and investigator notes are useful but disconnected.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9C592E-F0E3-4400-B469-8CA3B33A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809750"/>
            <a:ext cx="37719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EAE391-67B4-4532-97A2-A7D4BD05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52650"/>
            <a:ext cx="3009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0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Core bottleneck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CA92D4-D531-48AF-92B5-FB9E780A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813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A70F14"/>
                </a:solidFill>
                <a:latin typeface="Aptos"/>
                <a:ea typeface="Aptos"/>
                <a:cs typeface="Aptos"/>
              </a:rPr>
              <a:t>How do we turn a model-prioritized customer into evidence that an investigator can review safely?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307E70-0578-460A-AF48-7EBE471D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752850"/>
            <a:ext cx="2552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Without overclaiming suspicion, fabricating citations, or treating model score as proof.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8861E8-3DD2-4F82-8E11-A227DA3C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24050"/>
            <a:ext cx="27241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CFE677-1B00-4E93-98AD-F4D3B2F4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24050"/>
            <a:ext cx="47625" cy="2343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76A16-728D-4A16-8072-F7D697D0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57400"/>
            <a:ext cx="2419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Agentic answer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0BF699-20B0-4310-A5BF-AC689FDC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81250"/>
            <a:ext cx="24193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Use specialized agents with shared state, bounded control loops, role-aware routing, and final quality gates.</a:t>
            </a:r>
          </a:p>
        </p:txBody>
      </p:sp>
      <p:cxnSp>
        <p:nvCxnSpPr>
          <p:cNvPr id="41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409950" y="30956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42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81950" y="3095625"/>
            <a:ext cx="8001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90B0A6-D1E1-437F-A31F-897D3D62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05400"/>
            <a:ext cx="89535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800A0F-643A-41A3-B6E4-FFEF5920A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238750"/>
            <a:ext cx="8153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Design goal: automate evidence organization and review assistance, not investigation judgement.</a:t>
            </a:r>
          </a:p>
        </p:txBody>
      </p:sp>
    </p:spTree>
    <p:extLst>
      <p:ext uri="{BB962C8B-B14F-4D97-AF65-F5344CB8AC3E}">
        <p14:creationId xmlns:p14="http://schemas.microsoft.com/office/powerpoint/2010/main" val="17370414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646B12-4CBE-45DC-82C9-75B6E3190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AGENT ROSTER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AE8749-EC80-4B01-8A3B-59DA3502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the agents are responsible for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38F06B-7CFE-4186-8123-894B25C8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system uses specialized agents, grouped by the kind of work they are allowed to perform.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103C2-86A3-41A6-96F6-1FED1F71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3B393F-880D-4ED7-B21E-1ED9C9B4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8C293A-9C1E-4352-9026-A99655CF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ABAAC-5E38-400A-B1ED-190A6CC32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619500" cy="4095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146E5-553E-4C1A-B713-FAA0C559F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3276600" cy="323850"/>
          </a:xfrm>
          <a:prstGeom xmlns:a="http://schemas.openxmlformats.org/drawingml/2006/main" prst="roundRect">
            <a:avLst>
              <a:gd name="adj" fmla="val 3823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6B27CA-4BBF-4ADE-AD97-40B80EE74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97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Detection and model 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BC2B0-C920-4D62-93A2-A5985F70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799BE-608F-44A0-AF3D-C7A46C33C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candidate_ranking_agent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4E4348-28F3-408B-962B-0DE5002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Candidate Ranking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DF5ECF-9672-4B7D-8C87-67C02B82B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67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Runs four-model top-K ranking and packages handoff evidence.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324C2-800B-494B-82E8-415568C8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D6CD43-0D0D-43F2-BDA6-D946E508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model_explanation_agent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48A8D6-60FD-4FCA-A232-FFF2E23F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Model Explanation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B188C3-7800-4BBB-9F3F-CA5985EF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Explains model outputs without treating scores as proof.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970BA-CED5-43F8-B7A7-52F62331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DDD3BE-D017-4741-9C1D-4507D07F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feature_critic_agent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A08EE-E274-469E-AD55-C0DF3D98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Feature Critic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61410-0C52-4675-A68C-46CE2CF9A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9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Reviews feature quality and model-driver risk.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57E4B0-D67B-4A40-AB30-0A39C9E8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33550"/>
            <a:ext cx="3619500" cy="4095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242BD7-8028-4520-86CF-9B6C21B5C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43100"/>
            <a:ext cx="3276600" cy="323850"/>
          </a:xfrm>
          <a:prstGeom xmlns:a="http://schemas.openxmlformats.org/drawingml/2006/main" prst="roundRect">
            <a:avLst>
              <a:gd name="adj" fmla="val 3823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DEC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D8A82-8300-4F1B-A4EC-1F8B822C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097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Investigator evidence agents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F76DC4-3388-41E2-800D-78CD09278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574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20626E4-2027-4232-BEA0-131F1B5F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336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transaction_behaviour_agent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D2F35E-2020-43F8-B706-6CB3F0E2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86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Transaction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1E0FA6-05AA-4F76-9D97-D19B33E8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670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Analyzes customer transaction patterns and evidence items.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2567A6-DC9A-4EC9-B817-FED8BF04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337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11BF71-C27D-4D40-AFD4-4BA5C59C1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099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typology_mapping_agent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270F8F-F5FB-44CE-8C67-1AC5DEBBE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623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Typology Mapping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AD101F-6E32-43F6-BD68-254D8FB75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7433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Maps behavior to official AML indicators with citations.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6304BF-E6FD-41A0-93DE-C67F5C09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210050"/>
            <a:ext cx="3200400" cy="704850"/>
          </a:xfrm>
          <a:prstGeom xmlns:a="http://schemas.openxmlformats.org/drawingml/2006/main" prst="roundRect">
            <a:avLst>
              <a:gd name="adj" fmla="val 148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C6308CA-AB3B-45C0-B8EF-84B507BB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2862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case_investigation_agent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707955-7478-407A-9240-65539CD5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386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Case Investigation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08C740-B409-46BD-AADE-220732DC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61962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Builds case review, disposition recommendation, and feedback fields.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3339D7A-D710-4C3B-93AF-27DCCAF7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733550"/>
            <a:ext cx="3619500" cy="409575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35F33C-7F0E-4EBE-92D3-7716F5A70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43100"/>
            <a:ext cx="3276600" cy="323850"/>
          </a:xfrm>
          <a:prstGeom xmlns:a="http://schemas.openxmlformats.org/drawingml/2006/main" prst="roundRect">
            <a:avLst>
              <a:gd name="adj" fmla="val 3823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2C590A-A6DB-4227-AE2A-16FBC3166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09775"/>
            <a:ext cx="3086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200" b="1" i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Control and governance agents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BA3755-FB9A-41DC-8FEC-CEA8034B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457450"/>
            <a:ext cx="32004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BF51BB3-78F3-4260-8511-3BE18B9C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336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supervisor_planner_agent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971F82-63AC-42F1-8193-B9BF776A9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860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Supervisor Planner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7549C44-552C-42C5-9D9E-C4023BD1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867025"/>
            <a:ext cx="2857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Proposes the next bounded investigator action.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463467-4554-466C-B951-2D285447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76575"/>
            <a:ext cx="32004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938D6F-E13E-41C5-92BF-51221B8C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152775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evidence_assembly_agent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F09A5F-D950-4E9B-9996-6CC5BF36E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05175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Evidence Assembly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29A4B2A-A24E-4E51-9284-835194FE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486150"/>
            <a:ext cx="2857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Composes report sections from executed agent outputs only.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FB01DE4-A00B-4113-9C9D-E3138D84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695700"/>
            <a:ext cx="32004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C20443B-D2F2-470B-A59D-03B232A0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report_critic_agent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549A13-A025-4F14-AEFE-9659E95B0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92430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Report Critic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B3559D-B70C-49E3-931C-EA2D15C6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05275"/>
            <a:ext cx="2857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Reviews draft and requests one bounded refinement if needed.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1354471-E8C7-42B9-8571-0D9706A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14825"/>
            <a:ext cx="32004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973F8EA-1E24-44A1-AC00-6ED8BE902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91025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judge_panel_agent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CC2D3B0-4F5F-4FE3-85C9-94E80C688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543425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Judge Panel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FE365E-7284-4D8A-8D4E-DDEA5224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724400"/>
            <a:ext cx="2857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Scores faithfulness, citation, compliance, typology, data science, usefulness.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C8D05F5-0ACA-4FD7-ADE5-6210BD76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933950"/>
            <a:ext cx="3200400" cy="5334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9038E90-9EC7-45F9-B581-EDD11655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010150"/>
            <a:ext cx="29718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75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75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guardrail_agent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A8EA234-C65E-4A34-8EFF-44AD217EC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162550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Guardrail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1AD9BA-D536-40FA-9808-70FCA9A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5343525"/>
            <a:ext cx="28575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9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policy check and safe fallback/remediation trigger.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BD5365C-E93F-4B48-BB7E-FF998DE2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953125"/>
            <a:ext cx="5905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Total: 11 supported agents, but only route-authorized agents run for a given role/task.</a:t>
            </a:r>
          </a:p>
        </p:txBody>
      </p:sp>
    </p:spTree>
    <p:extLst>
      <p:ext uri="{BB962C8B-B14F-4D97-AF65-F5344CB8AC3E}">
        <p14:creationId xmlns:p14="http://schemas.microsoft.com/office/powerpoint/2010/main" val="210598997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B27F50-23C7-48D8-843E-CD0B146D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DATA SCIENTIST ROUTE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0461A-0F10-4A5B-8DF2-70C6734B7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Candidate generation is model-owned, not LLM-owned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B8D9D5-A625-45D7-8B3E-4E405A19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primary Data Scientist route creates governed detection candidate packages for investigator handoff.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8899DE-CB9F-428F-AAEC-F82440E6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D7DE85-CE3E-42B6-97F5-F2C808CC0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97A67B-FEA4-4DF1-9B6A-D0C07521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600270-2A73-42A5-84BB-CDA94C5D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77165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D7192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47BA3B-85B4-4B34-8B8B-513AEEF4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764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Isolation Forest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7881BE-9D45-4FB8-8DC8-2172BC96A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Anomaly path length + SHAP drivers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E176E-3A89-4A0C-A184-71358556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77165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DF95E7-3258-4130-BBA4-53B0645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Autoencoder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BAFC9-C7F8-4F42-8F0B-49B16EBC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Reconstruction error over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7A9EB5-0227-43D5-B795-742037B6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62400"/>
            <a:ext cx="177165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58F7A2-9005-4338-B3DC-97CECEC3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576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Variational AE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352B59-0A55-4501-86B4-13C41E08B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957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Reconstruction + KL objective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A026C5-0C94-4511-878E-47351B89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771650" cy="685800"/>
          </a:xfrm>
          <a:prstGeom xmlns:a="http://schemas.openxmlformats.org/drawingml/2006/main" prst="roundRect">
            <a:avLst>
              <a:gd name="adj" fmla="val 180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F6E2FB-4355-4B2F-BEE8-950E0CEC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48250"/>
            <a:ext cx="154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Conditional VAE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03B915-2F12-4498-94EA-E7D30D74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154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Peer-condition adjusted anomaly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8406AA-914A-4C06-A9BB-C9730001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81300"/>
            <a:ext cx="224790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45A687-8A95-4F19-BA64-6287D395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201930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A102B9-165D-442D-B14A-2BB9AE07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05125"/>
            <a:ext cx="1943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candidate_ranking_agent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02339-5D12-4CCF-9A7C-0248A462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162300"/>
            <a:ext cx="1981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Candidate Ranking Agent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927602-4CC0-4178-AD60-BB9C0943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90900"/>
            <a:ext cx="1981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Runs top-K scoring, compares model families, and prepares packages.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E5B760-4B48-4D3E-BED6-5846D2C4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19300"/>
            <a:ext cx="3867150" cy="2724150"/>
          </a:xfrm>
          <a:prstGeom xmlns:a="http://schemas.openxmlformats.org/drawingml/2006/main" prst="roundRect">
            <a:avLst>
              <a:gd name="adj" fmla="val 6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0FDF49-E335-4C93-BF0D-A21D1169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86000"/>
            <a:ext cx="3295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Detection Candidate Package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1FC228-20FB-45F6-B969-DACA0D69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33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3D095D-2C7E-4537-9F43-4C507977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76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Rank, score, percentile, threshold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FDBDF-ABFA-4AE9-9CB7-81E7BA13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219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6FD62-5D49-4A25-9272-C460F901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162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Model family and top feature drivers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317569-81DA-4FF4-B332-329D4EE7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EF75F50-F122-44A3-9B88-AD9656B5B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48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SHAP or reconstruction attribution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E100F4-BBD1-4F5C-A50D-34AC6DDD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7909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9CD726-634F-4043-B428-E812A5A6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Guarded explanation or safe fallback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0BA122-E9A9-4D56-841E-8A04F31D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76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48FEC2-7CCF-438B-B209-1A7870954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19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Suggested investigation focus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8245453-9FA8-4EB6-8241-D5982CBD2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36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EEC9D14-A4B9-47E1-B0DA-6FD545C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05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Required model-not-proof disclaimer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8B52C28-0D86-412D-9D66-4D465571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3486150" cy="742950"/>
          </a:xfrm>
          <a:prstGeom xmlns:a="http://schemas.openxmlformats.org/drawingml/2006/main" prst="roundRect">
            <a:avLst>
              <a:gd name="adj" fmla="val 179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02A1A83-3CB9-4464-A39A-CBE7494BB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2920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310484B-60B9-4EDA-B62D-F0473B4A3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62550"/>
            <a:ext cx="3181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Investigator handoff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BE03B6-C8B8-4031-9E64-13DD7CBD0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429250"/>
            <a:ext cx="3181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Candidate package becomes the structured input for case review, not a final AML conclusion.</a:t>
            </a:r>
          </a:p>
        </p:txBody>
      </p:sp>
      <p:cxnSp>
        <p:nvCxnSpPr>
          <p:cNvPr id="90" name=""/>
          <p:cNvCxnSpPr>
            <a:stCxn xmlns:a="http://schemas.openxmlformats.org/drawingml/2006/main" id="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476500" y="2324100"/>
            <a:ext cx="11811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1" name=""/>
          <p:cNvCxnSpPr>
            <a:stCxn xmlns:a="http://schemas.openxmlformats.org/drawingml/2006/main" id="10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476500" y="3314700"/>
            <a:ext cx="1181100" cy="762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2" name=""/>
          <p:cNvCxnSpPr>
            <a:stCxn xmlns:a="http://schemas.openxmlformats.org/drawingml/2006/main" id="13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476500" y="3390900"/>
            <a:ext cx="1181100" cy="9144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3" name=""/>
          <p:cNvCxnSpPr>
            <a:stCxn xmlns:a="http://schemas.openxmlformats.org/drawingml/2006/main" id="16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 flipV="1">
            <a:off x="2476500" y="3390900"/>
            <a:ext cx="1181100" cy="1905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4" name=""/>
          <p:cNvCxnSpPr>
            <a:stCxn xmlns:a="http://schemas.openxmlformats.org/drawingml/2006/main" id="19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 flipV="1">
            <a:off x="5905500" y="3381375"/>
            <a:ext cx="1143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95" name=""/>
          <p:cNvCxnSpPr>
            <a:stCxn xmlns:a="http://schemas.openxmlformats.org/drawingml/2006/main" id="24" idx="2"/>
            <a:endCxn xmlns:a="http://schemas.openxmlformats.org/drawingml/2006/main" id="38" idx="0"/>
          </p:cNvCxnSpPr>
          <p:nvPr/>
        </p:nvCxnSpPr>
        <p:spPr>
          <a:xfrm xmlns:a="http://schemas.openxmlformats.org/drawingml/2006/main">
            <a:off x="8982075" y="47434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0F766E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95B6AFF-3832-40D8-AE68-3A4B772DD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981700"/>
            <a:ext cx="6896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FFBE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LLM role: organize explanation text. Source of truth: deterministic model score, drivers, thresholds, and package schema.</a:t>
            </a:r>
          </a:p>
        </p:txBody>
      </p:sp>
    </p:spTree>
    <p:extLst>
      <p:ext uri="{BB962C8B-B14F-4D97-AF65-F5344CB8AC3E}">
        <p14:creationId xmlns:p14="http://schemas.microsoft.com/office/powerpoint/2010/main" val="21421644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E3550F-C45C-4292-A095-C2B7A15C0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INVESTIGATOR PANEL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3F6615-5E5B-4211-8956-23F9DFBE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Primary agentic route for case review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D331C0-9558-4906-9BBB-44CB0AA5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This is the main agent workflow people need to understand.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F1B62A-AD08-4575-B40E-4EC57E6E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FBF35F-812E-4FDE-B824-DBF315DD5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2003A-E379-4D3A-AF1A-715EFFF3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1CAE3B-0244-4C41-BDD7-8E7193B9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999E04-16FA-4A4B-95FE-BD8E9AC0C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D85E02-68DE-4F79-995E-29215D1FD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supervisor_planner_agent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E8E98-D914-4E42-8965-4EF66AFF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26F8E2-F973-492D-A492-1038ACAF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chooses next action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37999E-A360-4954-9F73-4819927EE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65A88F-9437-4C31-AAF7-6003886D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C1578-4EA3-42E0-B813-27C37A8E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transaction_behaviour_agent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6B0B83-4D4C-4F07-944A-6B391100A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Transactions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623E4-B20A-4395-95F1-83517812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behavior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9436DB-270B-4EB1-B9AC-CAAA49F2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023EBF-C264-4222-BAA8-ED22F295E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6FD3BF-5DB4-4DAB-BF7E-977BE5B43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typology_mapping_agent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66D14-235F-4399-9BB2-457B2446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Typology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2974C1-6311-4A3E-8B5D-309FDF7F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official-source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FEB0465-9D0C-4C78-A904-1880ACBD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00D71-5B80-44AA-A45F-7962C4EF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69B20C-6F8F-4F8A-9B50-6E983393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case_investigation_agent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B60C35-D0E4-44E2-A6B5-18743912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Case Review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81DEB9-3E6E-4F03-9DB5-B0507E65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disposition +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C6A182-A48F-45F2-BC55-DC59CA062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490C40-E802-4965-9869-453126F5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A784C9-3099-439D-931D-080678DF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evidence_assembly_agent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4EEB6C-8ED8-4221-8084-5B21622D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Assembly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4D1DF5-5CFA-42AF-9667-638E86BC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draft report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5A8BF2-DAE2-44FB-8686-8CE621FC0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EE222C6-81AD-4BA3-860D-15CEBE59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F2AFCC2-8B07-4935-997A-8ECAFBAF7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report_critic_agent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5310E7-ABE6-452D-A9CB-0DDA384D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Critic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83EBFB-B1CA-4EC2-AC9B-AD0A3C59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review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A931D65-457D-46C4-B5A1-F02A4C1D0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D38B7B-A5F8-41BD-A6F9-C8DED05D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620B20-2AA2-46E4-9E9E-B5A0395C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judge_panel_agent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E3C078-6B04-4AD4-8F7E-D94FC80E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Judge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A815E7-1115-4F51-8E36-1590F8E4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weighted scoring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29ED16-B983-47ED-8D3D-92C8B7F2A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2095500"/>
            <a:ext cx="1200150" cy="12382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A883461-8F0D-44B8-8344-469155D3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190750"/>
            <a:ext cx="9715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7A3435-2B8A-4FBF-A6E2-3FA5C0917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219325"/>
            <a:ext cx="8953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guardrail_agent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6BF4A09-2AE8-45D2-8F3F-FC432293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76500"/>
            <a:ext cx="933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Guardrail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BDBEFC-251D-471A-877F-67EC741B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05100"/>
            <a:ext cx="933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 policy gate</a:t>
            </a:r>
          </a:p>
        </p:txBody>
      </p:sp>
      <p:cxnSp>
        <p:nvCxnSpPr>
          <p:cNvPr id="110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60020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1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02895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2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445770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2476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3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588645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4" name=""/>
          <p:cNvCxnSpPr>
            <a:stCxn xmlns:a="http://schemas.openxmlformats.org/drawingml/2006/main" id="27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31520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5" name=""/>
          <p:cNvCxnSpPr>
            <a:stCxn xmlns:a="http://schemas.openxmlformats.org/drawingml/2006/main" id="32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874395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116" name=""/>
          <p:cNvCxnSpPr>
            <a:stCxn xmlns:a="http://schemas.openxmlformats.org/drawingml/2006/main" id="37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10172700" y="2714625"/>
            <a:ext cx="2286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B2FDA4A-42CB-4874-B00F-547CB6A42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86200"/>
            <a:ext cx="32956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9CAC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54CEFF-B666-4347-9343-518C293D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281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rPr>
              <a:t>Required evidence order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F7D734C-0736-4A4E-9D74-9A2D1011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57700"/>
            <a:ext cx="22479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1. Transaction behaviour</a:t>
            </a:r>
          </a:p>
          <a:p xmlns:a="http://schemas.openxmlformats.org/drawingml/2006/main">
            <a:pPr algn="ctr"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2. Typology mapping</a:t>
            </a:r>
          </a:p>
          <a:p xmlns:a="http://schemas.openxmlformats.org/drawingml/2006/main">
            <a:pPr algn="ctr"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3. Case investigation</a:t>
            </a:r>
          </a:p>
          <a:p xmlns:a="http://schemas.openxmlformats.org/drawingml/2006/main">
            <a:pPr algn="ctr">
              <a:defRPr sz="1125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4. Then finalize report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4BADCE-2924-4F96-9B59-037D3DD6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886200"/>
            <a:ext cx="29718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9F49110-717C-431C-9523-AF31647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2563EB"/>
                </a:solidFill>
                <a:latin typeface="Aptos Display"/>
                <a:ea typeface="Aptos Display"/>
                <a:cs typeface="Aptos Display"/>
              </a:rPr>
              <a:t>Investigator output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B84CC9-C88E-4803-9024-EAC51342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76750"/>
            <a:ext cx="21717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Governed AML intelligence report with evidence table, limitations, recommendation, and audit trace.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792D0F9-5683-40DE-B072-8CE3A3563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86200"/>
            <a:ext cx="325755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6B79D5-4284-477F-9986-FA020CCE8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095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0F766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0F766E"/>
                </a:solidFill>
                <a:latin typeface="Aptos Display"/>
                <a:ea typeface="Aptos Display"/>
                <a:cs typeface="Aptos Display"/>
              </a:rPr>
              <a:t>Governance output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497147-DB69-4758-ADC2-5CD8E27EC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76750"/>
            <a:ext cx="247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Judge scores, guardrail flags, safe output when needed, and run/step records.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0F9C7FB-8666-4EE2-82E4-D1C83A047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829300"/>
            <a:ext cx="62865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Primary route: planner -&gt; evidence agents -&gt; assembly -&gt; critic -&gt; judge -&gt; guardrail</a:t>
            </a:r>
          </a:p>
        </p:txBody>
      </p:sp>
    </p:spTree>
    <p:extLst>
      <p:ext uri="{BB962C8B-B14F-4D97-AF65-F5344CB8AC3E}">
        <p14:creationId xmlns:p14="http://schemas.microsoft.com/office/powerpoint/2010/main" val="15340658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FCE59D-7F34-4485-8BCF-E6FB94593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COLLABORATION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7C7FA8-09D7-40E8-BB4C-23428F07E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Bounded planner loop, not open-ended autonomy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FE10A7-4092-4C87-BC25-BF8D61EAF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Supervisor Planner collaborates through shared state, while policy enforces sequence and stop conditions.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EEDE5-F79B-49CB-8E32-C09C6B0D1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35A9C-E555-4E70-BF6F-F93BDEDEA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D917F1-A9AB-4D82-AF49-86CF287B1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9660E1-0335-4AC3-8C1C-E3391B98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21907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F3F5AD-CC91-42A0-8A08-265A3712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228850"/>
            <a:ext cx="19621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77AE1A-EC73-4A50-89DB-8CA2E713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57425"/>
            <a:ext cx="1885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supervisor_planner_agent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DAE33-BFDE-497D-94E8-210DA1EFB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1924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Supervisor Planner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6B209-3F7F-4718-A808-7B99578A8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43200"/>
            <a:ext cx="1924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Reads completed evidence and proposes next_action.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F6E1A-4A4D-4E07-AA42-67DF2AEF0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247650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996C8A-EA20-4BB9-81E5-40A66EC85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38350"/>
            <a:ext cx="47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FF1DE0-F4D1-4888-AB96-50F78FF4A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Policy validator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6628A2-A77F-4680-B043-535C9293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95550"/>
            <a:ext cx="21717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Reject invalid actions and override out-of-order choices to the next required evidence step.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8F9015-2C01-4B27-8186-E9C31D197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2247900" cy="1238250"/>
          </a:xfrm>
          <a:prstGeom xmlns:a="http://schemas.openxmlformats.org/drawingml/2006/main" prst="roundRect">
            <a:avLst>
              <a:gd name="adj" fmla="val 10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E9C4E7-CDA6-4DBC-A389-8B326BF5A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33600"/>
            <a:ext cx="4762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49F222-D8AD-417C-A5BC-4B0DA80B6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66950"/>
            <a:ext cx="1943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Run next agent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986532-CCD5-42E5-A3DD-F1C6706D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590800"/>
            <a:ext cx="19431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Execute one evidence agent, record output, update executed_agents and audit_trace.</a:t>
            </a:r>
          </a:p>
        </p:txBody>
      </p:sp>
      <p:cxnSp>
        <p:nvCxnSpPr>
          <p:cNvPr id="54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257550" y="2752725"/>
            <a:ext cx="1638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2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372350" y="27527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6" idx="2"/>
            <a:endCxn xmlns:a="http://schemas.openxmlformats.org/drawingml/2006/main" id="7" idx="2"/>
          </p:cNvCxnSpPr>
          <p:nvPr/>
        </p:nvCxnSpPr>
        <p:spPr>
          <a:xfrm xmlns:a="http://schemas.openxmlformats.org/drawingml/2006/main" flipH="1">
            <a:off x="2162175" y="3371850"/>
            <a:ext cx="7800975" cy="228600"/>
          </a:xfrm>
          <a:prstGeom xmlns:a="http://schemas.openxmlformats.org/drawingml/2006/main" prst="bentConnector4">
            <a:avLst/>
          </a:prstGeom>
          <a:ln xmlns:a="http://schemas.openxmlformats.org/drawingml/2006/main" w="2286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23DF77-B2D3-4FAC-9064-772C15BA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171950"/>
            <a:ext cx="904875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B1D7C-FE3D-4435-B520-F7EAA965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362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Required evidence sequence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E3A6F7-B7BF-4674-BB8F-86A9EAD5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BF7FA-9D62-408A-823E-11147A92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62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transaction_behaviour_agent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55BC93F-2C12-477F-AC4C-23A1A5D5B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71A9FC-8716-42C3-A3B6-BD5428241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762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typology_mapping_agent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8E817-6BF0-4312-A661-082A15050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3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617F6-75AE-480B-8853-4802D3A1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62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case_investigation_agent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26DAD-987E-4405-9666-F704F231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005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7448BF8-60F4-4FEA-8D7E-3CC2B655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762500"/>
            <a:ext cx="1181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8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698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finalize_report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55C0FA-D424-4BB2-AF95-5DB772151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410200"/>
            <a:ext cx="74676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8F9CBE-DAF0-4778-8391-1F7286A9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24500"/>
            <a:ext cx="697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92400E"/>
                </a:solidFill>
                <a:latin typeface="Aptos"/>
                <a:ea typeface="Aptos"/>
                <a:cs typeface="Aptos"/>
              </a:rPr>
              <a:t>Loop bound: max 6 planner steps. If planner fails to finalize, the runner finalizes with available evidence.</a:t>
            </a:r>
          </a:p>
        </p:txBody>
      </p:sp>
    </p:spTree>
    <p:extLst>
      <p:ext uri="{BB962C8B-B14F-4D97-AF65-F5344CB8AC3E}">
        <p14:creationId xmlns:p14="http://schemas.microsoft.com/office/powerpoint/2010/main" val="16481202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6C02EE-9941-407C-A15B-BF4D66456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QUALITY LOOPS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B906-297E-4D75-B126-EAE45EFD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Where the system loops, and where it stops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11BB0-C671-42B6-9581-76381303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loops are intentional, bounded, and auditable so the system can improve drafts without running indefinitely.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29D80F-A45E-45F9-B404-76EA9B0C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F49CFE-E1E6-4EE4-AF0A-B74E53FD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1678AD-E4E2-4A00-A654-FF547F032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44D4E-E9ED-4637-8C49-5382E87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BF7CE8-A7B9-4557-AE1E-F6892A19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15811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0A8E6-9464-4AB9-86AE-5D6D4C45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2563EB"/>
                </a:solidFill>
                <a:latin typeface="Aptos"/>
                <a:ea typeface="Aptos"/>
                <a:cs typeface="Aptos"/>
              </a:rPr>
              <a:t>evidence_assembly_agent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A6A29-2F26-4410-A0B5-B1DA78E1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Draft Report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97DBC-8B5C-4509-A744-88A88B928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146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Composes report from executed agent outputs.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CAAADD-9A49-4AA0-8534-6BB1E0AD5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050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59E0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BE8BCA-05B5-4204-A957-F93AE454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400300"/>
            <a:ext cx="15811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476A21-C41B-40F7-8F4F-B331D13C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288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F59E0B"/>
                </a:solidFill>
                <a:latin typeface="Aptos"/>
                <a:ea typeface="Aptos"/>
                <a:cs typeface="Aptos"/>
              </a:rPr>
              <a:t>report_critic_agent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53BC-580C-4BB9-885B-ADD722D1D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Critic Review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EF7854-0541-4FBA-AEB8-9F2B0435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146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Checks gaps and can request refinement.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65E09F-5055-4318-A6A8-761424B11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3050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84CB21-BD10-47CE-9202-C291D663C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00300"/>
            <a:ext cx="15811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8AA81F-DB80-4781-B210-F94BF2ADA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judge_panel_agent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CE9243-B1D8-4F60-9D55-70D73C94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Judge Panel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1DE8A7-B1EB-48D4-930D-9E3824A3D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146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Scores six quality criteria.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FF2F34-E455-4311-9B25-30BA05508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05050"/>
            <a:ext cx="1809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F766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A25B86-7133-49AC-A6F9-B752A892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400300"/>
            <a:ext cx="1581150" cy="209550"/>
          </a:xfrm>
          <a:prstGeom xmlns:a="http://schemas.openxmlformats.org/drawingml/2006/main" prst="roundRect">
            <a:avLst>
              <a:gd name="adj" fmla="val 4545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18BB3B-4A5C-4F47-BFB8-57E9C208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28875"/>
            <a:ext cx="15049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90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690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guardrail_agent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46046E-09B6-4313-A0F0-DA861C9D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686050"/>
            <a:ext cx="1543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Guardrail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13199A-CEDC-4885-9268-61B636F6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914650"/>
            <a:ext cx="154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Flags unsafe AML language or unsupported claims.</a:t>
            </a:r>
          </a:p>
        </p:txBody>
      </p:sp>
      <p:cxnSp>
        <p:nvCxnSpPr>
          <p:cNvPr id="68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647950" y="28670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2563EB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69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5524500" y="2867025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70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8534400" y="2867025"/>
            <a:ext cx="10668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0F766E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3A7FED-05FC-4D60-B066-97C936D63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886200"/>
            <a:ext cx="3143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BEB"/>
          </a:solidFill>
          <a:ln xmlns:a="http://schemas.openxmlformats.org/drawingml/2006/main" w="14288">
            <a:solidFill>
              <a:srgbClr val="FDE68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9C2C55-7677-4A43-BEB7-CBFA4D14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07670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92400E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92400E"/>
                </a:solidFill>
                <a:latin typeface="Aptos Display"/>
                <a:ea typeface="Aptos Display"/>
                <a:cs typeface="Aptos Display"/>
              </a:rPr>
              <a:t>Refinement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C7A049-C22E-4BB3-B51F-2CB07E232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40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13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If critic_review.must_refine and rounds &lt; 1, rerun evidence assembly once.</a:t>
            </a:r>
          </a:p>
        </p:txBody>
      </p:sp>
      <p:cxnSp>
        <p:nvCxnSpPr>
          <p:cNvPr id="74" name=""/>
          <p:cNvCxnSpPr>
            <a:stCxn xmlns:a="http://schemas.openxmlformats.org/drawingml/2006/main" id="12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 flipH="1">
            <a:off x="3267075" y="3429000"/>
            <a:ext cx="13525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F59E0B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75" name=""/>
          <p:cNvCxnSpPr>
            <a:stCxn xmlns:a="http://schemas.openxmlformats.org/drawingml/2006/main" id="30" idx="1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1466850" y="3429000"/>
            <a:ext cx="276225" cy="914400"/>
          </a:xfrm>
          <a:prstGeom xmlns:a="http://schemas.openxmlformats.org/drawingml/2006/main" prst="bentConnector4">
            <a:avLst/>
          </a:prstGeom>
          <a:ln xmlns:a="http://schemas.openxmlformats.org/drawingml/2006/main" w="20955">
            <a:solidFill>
              <a:srgbClr val="F59E0B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D9FA3DC-3279-4E7A-880C-034480DC0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86200"/>
            <a:ext cx="32575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14288">
            <a:solidFill>
              <a:srgbClr val="F9CAC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88A91-66B2-4462-9FFB-52E662B9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076700"/>
            <a:ext cx="2686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rPr>
              <a:t>Guardrail remediation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6F5BD2-2FAC-4932-8272-B3AE5D942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362450"/>
            <a:ext cx="2743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3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If flags are remediable and rounds &lt; 1, critic issues a repair instruction, assembly revises, then judge/guardrail rerun.</a:t>
            </a:r>
          </a:p>
        </p:txBody>
      </p:sp>
      <p:cxnSp>
        <p:nvCxnSpPr>
          <p:cNvPr id="79" name=""/>
          <p:cNvCxnSpPr>
            <a:stCxn xmlns:a="http://schemas.openxmlformats.org/drawingml/2006/main" id="22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 flipH="1">
            <a:off x="8963025" y="3429000"/>
            <a:ext cx="154305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D71920"/>
            </a:solidFill>
            <a:prstDash val="dash"/>
            <a:headEnd type="none" w="med" len="me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35" idx="1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H="1" flipV="1">
            <a:off x="4619625" y="3429000"/>
            <a:ext cx="2714625" cy="914400"/>
          </a:xfrm>
          <a:prstGeom xmlns:a="http://schemas.openxmlformats.org/drawingml/2006/main" prst="bentConnector4">
            <a:avLst>
              <a:gd name="adj1" fmla="val 8421"/>
              <a:gd name="adj2" fmla="val 75000"/>
            </a:avLst>
          </a:prstGeom>
          <a:ln xmlns:a="http://schemas.openxmlformats.org/drawingml/2006/main" w="20955">
            <a:solidFill>
              <a:srgbClr val="D71920"/>
            </a:solidFill>
            <a:prstDash val="dash"/>
            <a:headEnd type="none" w="med" len="med"/>
            <a:tailEnd type="arrow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A5CA34A-665A-4C0B-96E7-BBDF0EFE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372100"/>
            <a:ext cx="7391400" cy="419100"/>
          </a:xfrm>
          <a:prstGeom xmlns:a="http://schemas.openxmlformats.org/drawingml/2006/main" prst="roundRect">
            <a:avLst>
              <a:gd name="adj" fmla="val 31818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648A71-4929-4A48-A349-6333D9C30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486400"/>
            <a:ext cx="6896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88" b="1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88" b="1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Bounds: max refinement rounds = 1; max guardrail remediation rounds = 1; non-remediable flags = empty_query, no_agent_outputs.</a:t>
            </a:r>
          </a:p>
        </p:txBody>
      </p:sp>
    </p:spTree>
    <p:extLst>
      <p:ext uri="{BB962C8B-B14F-4D97-AF65-F5344CB8AC3E}">
        <p14:creationId xmlns:p14="http://schemas.microsoft.com/office/powerpoint/2010/main" val="18929668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5546B9-76DC-4F85-8454-E60DE3FD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SHARED STATE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142733-BAAF-47F5-B503-241FC213B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How agents collaborate without hidden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6611A-C9D3-4D14-85BC-DFBBBA4A1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AMLAgentState is the structured collaboration contract across route execution.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983115-610B-4644-934E-21DECDBE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47C34-AC14-4E38-BFDB-FE1E0AE7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3076F-CF81-41EE-AD03-FF7CE314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818C7-DBA3-4B44-9960-8BF85F4ED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695450"/>
            <a:ext cx="3276600" cy="3333750"/>
          </a:xfrm>
          <a:prstGeom xmlns:a="http://schemas.openxmlformats.org/drawingml/2006/main" prst="roundRect">
            <a:avLst>
              <a:gd name="adj" fmla="val 639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192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B7C0F0-B56A-40DB-B86D-E6A13B14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962150"/>
            <a:ext cx="2552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 i="0">
                <a:solidFill>
                  <a:srgbClr val="A70F14"/>
                </a:solidFill>
                <a:latin typeface="Aptos Display"/>
                <a:ea typeface="Aptos Display"/>
                <a:cs typeface="Aptos Display"/>
              </a:rPr>
              <a:t>AMLAgentState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D97D9B-BFCD-4233-9226-1E5B1399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476500"/>
            <a:ext cx="22479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Single run state carried through router, graph, investigator runner, agents, judge, guardrails, and response builder.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0137F-01AD-47FD-96A8-A3D8065A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147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FFCBA7-AFBE-4227-A56B-87D31810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257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agent_outputs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4F116-7870-432B-9A41-8E7FE613A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5242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E7E2D3-96CF-49D8-A574-1D30243F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4671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executed_agents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340CC4-5FC5-4DF2-826C-036B83A9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338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B0D66C-C5D6-4279-9A0F-8E6D13B4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766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planner_decisions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EB0EA6-BA2F-4B63-914E-920B60F5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9433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D89CEC-91E9-4464-AE6A-FE861C45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8862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critic_reviews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8F782E-3423-417D-819E-E5B55CFB6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529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7A5CF-ECE0-44F6-ABAA-E19E13B05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0957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judge_outputs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B76AFB-3C6D-4473-9FC8-BC3D33FFA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3624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BE4668-255B-4AB9-A51B-40AA90CA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3053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guardrail_flags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82F34-71BC-4AA8-A3FC-8F75F094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57200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5B1D9D-ED01-4D84-947D-6D8F2FAD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5148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 b="0" i="0">
                <a:solidFill>
                  <a:srgbClr val="334155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audit_trace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210C4-3111-4652-B010-7219708C2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162A232-FCE5-4304-BA4C-77D4770D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08FC93-0DD7-4DEB-8021-2C00F15F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Route context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2EA51-E352-48BF-9018-0F37E6C6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role, task_type, query, route, route_explanation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000ED2-0189-41F8-B0C2-E137B947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26EF0FD-19AF-4699-ADB5-B6F86B0D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CE82F6-E851-446C-80FD-74A00BD0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Customer evidence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DCFDC-4EE8-4421-9441-2A4607845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transactions, features, model outputs, RAG documents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E08D6C-A193-40FC-BE93-5C37865F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C9C5DE-05E4-4FDF-9773-D28508A02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0975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D130A92-095F-46CC-ACD4-A683E4CB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4310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Planner and loops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DD4A14-C853-4735-A81C-493AF1E9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6695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planner decisions, stop reason, refinement rounds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37318F-5495-4CBB-954B-DF42B146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2762250" cy="10668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4E0585-A33B-4A6F-8237-0CA50F8B9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38600"/>
            <a:ext cx="47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2B3119-3BCA-4C83-8CD1-2858D715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171950"/>
            <a:ext cx="245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Governance output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3AD98A-909B-4E92-955A-97407BD5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495800"/>
            <a:ext cx="24574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1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1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judge result, guardrail status, safe output, final report</a:t>
            </a:r>
          </a:p>
        </p:txBody>
      </p:sp>
      <p:cxnSp>
        <p:nvCxnSpPr>
          <p:cNvPr id="84" name=""/>
          <p:cNvCxnSpPr>
            <a:stCxn xmlns:a="http://schemas.openxmlformats.org/drawingml/2006/main" id="2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524250" y="2343150"/>
            <a:ext cx="93345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5" name=""/>
          <p:cNvCxnSpPr>
            <a:stCxn xmlns:a="http://schemas.openxmlformats.org/drawingml/2006/main" id="28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3524250" y="3362325"/>
            <a:ext cx="93345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6" name=""/>
          <p:cNvCxnSpPr>
            <a:stCxn xmlns:a="http://schemas.openxmlformats.org/drawingml/2006/main" id="32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>
            <a:off x="4457700" y="2343150"/>
            <a:ext cx="6781800" cy="10191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87" name=""/>
          <p:cNvCxnSpPr>
            <a:stCxn xmlns:a="http://schemas.openxmlformats.org/drawingml/2006/main" id="3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H="1" flipV="1">
            <a:off x="4457700" y="3362325"/>
            <a:ext cx="6781800" cy="12096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7480775-B462-4F77-97E7-F9959704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600700"/>
            <a:ext cx="75438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CFDF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Collaboration model: each agent reads structured fields, writes structured fields, and leaves an audit trail.</a:t>
            </a:r>
          </a:p>
        </p:txBody>
      </p:sp>
    </p:spTree>
    <p:extLst>
      <p:ext uri="{BB962C8B-B14F-4D97-AF65-F5344CB8AC3E}">
        <p14:creationId xmlns:p14="http://schemas.microsoft.com/office/powerpoint/2010/main" val="6125205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4F4C0C-07D4-4ED3-8829-F0E2DEE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BACKEND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CD18E1-7E81-4B33-A8C1-903B81BF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true system design: agent orchestration and governance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84B6D9-55E2-4236-9C4B-85C6A0AB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Frontend is just an entry point; the core system is the API, router, runners, agents, services, and controls.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092C0D-AC2E-48E9-8BA9-0CA91C902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0776CE-9BE0-4E9D-A3A9-81A01ACE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D5C6EF-523A-459D-A5B6-BABED8A9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2B786-6A7C-4D2D-8AEB-6C082242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809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7B89CA-46F4-44FB-A6F8-9BE9F9153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154BF-6786-4378-860E-4973A97BD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336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Analysis request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41547-8B88-4C77-9B83-37A85614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role, task_type, query, customer_id, alert_id, selected_agents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24C72-18CD-4D05-91AD-FA309E42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16192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2C016-628D-4044-9DF9-57E18C29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F657A9-EABF-4EED-909F-5E96E0F9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336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PolicyEngine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3F7EDF-022E-4F86-9921-D7213E2D5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457450"/>
            <a:ext cx="1314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Input policy check before route execution.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767142-B5C4-468B-9311-A59ACE51C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18097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86620-6A4E-4C2B-A62F-0E6586F9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E0EA7D-F76D-4CE0-8FE5-87A055294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133600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RoleAwareRouter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3154C-CC0A-48B9-9432-F03BCCC72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457450"/>
            <a:ext cx="1504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Selects authorized route and appends final guardrail where required.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6F59EC-C780-497B-9878-0009FA93A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207645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2E177C-45A9-418E-8204-E9322279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F97C1B-F73C-48D4-A129-2D710CCC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13360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Execution layer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904487-0FAE-4BDB-B1A4-D5C6CB78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771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DynamicGraphBuilder for normal routes; InvestigatorAgenticRunner for primary case review.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F5E2AB-4F66-421A-B22B-B7C4A7729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1981200" cy="1123950"/>
          </a:xfrm>
          <a:prstGeom xmlns:a="http://schemas.openxmlformats.org/drawingml/2006/main" prst="roundRect">
            <a:avLst>
              <a:gd name="adj" fmla="val 118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9E695D-0C58-47F2-9647-ADF994F41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000250"/>
            <a:ext cx="476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76C324-2440-48AD-89A4-B9CFEF19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133600"/>
            <a:ext cx="1676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Response and audit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92C493-9CFA-47D5-BB66-3AEDAC2D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457450"/>
            <a:ext cx="1676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63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final_report, candidate packages, judge scores, guardrail status, run records.</a:t>
            </a:r>
          </a:p>
        </p:txBody>
      </p:sp>
      <p:cxnSp>
        <p:nvCxnSpPr>
          <p:cNvPr id="79" name=""/>
          <p:cNvCxnSpPr>
            <a:stCxn xmlns:a="http://schemas.openxmlformats.org/drawingml/2006/main" id="7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305050" y="25622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0" name=""/>
          <p:cNvCxnSpPr>
            <a:stCxn xmlns:a="http://schemas.openxmlformats.org/drawingml/2006/main" id="11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4381500" y="25622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1" name=""/>
          <p:cNvCxnSpPr>
            <a:stCxn xmlns:a="http://schemas.openxmlformats.org/drawingml/2006/main" id="15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6648450" y="25622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26670">
            <a:solidFill>
              <a:srgbClr val="D71920"/>
            </a:solidFill>
            <a:prstDash val="solid"/>
            <a:headEnd type="none" w="med" len="med"/>
            <a:tailEnd type="arrow" w="sm" len="sm"/>
          </a:ln>
        </p:spPr>
      </p:cxnSp>
      <p:cxnSp>
        <p:nvCxnSpPr>
          <p:cNvPr id="82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9182100" y="2562225"/>
            <a:ext cx="457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D44BE0-128F-44C5-849C-0702942E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71900"/>
            <a:ext cx="95631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5"/>
          <a:fontRef xmlns:a="http://schemas.openxmlformats.org/drawingml/2006/main" idx="major"/>
        </p:style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FA735C-B209-486F-B842-51C75635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814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Agent node registry and services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DB01771-E8AE-4600-901D-157D0F1A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686278-6985-4E41-BB55-B0F89EBC0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Data Service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55AF93-1F03-4910-A42E-CDE47AFFE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transactions, KYC, features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CB4080-463F-4113-A2DA-E9D5F5F8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CC44AA-90AE-4B92-8B59-7A47F11E4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Model 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56DB9B-A7E6-491B-9347-D55D7698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IF, AE, VAE, CVAE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933E89C-CD9A-4ECF-AED5-13FDFD41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14B5D9C-8C65-4034-9EDD-169EF38E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RAG Retriever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CAE086-A262-4B13-B411-A8230363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pgvector + citations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67A4F0C-DECC-40C4-936F-87AE5849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2C7EA4-037D-48D4-9292-437ED550F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111827"/>
                </a:solidFill>
                <a:latin typeface="Aptos"/>
                <a:ea typeface="Aptos"/>
                <a:cs typeface="Aptos"/>
              </a:rPr>
              <a:t>LLM Client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CEE81C1-9101-4C1A-8ACA-28EFC10E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structured generation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E1B11A-3C8F-4FF5-A042-E0E5070B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7A5303-FC1B-40A2-91E9-9F0E43A3D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Guardrails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2A55EE-EEBA-4119-8202-322C4F6F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deterministic policy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5BA559-8F8A-4267-B007-A65B41FF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400550"/>
            <a:ext cx="12954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BBF7D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ABEB213-0B9F-4D32-A92E-75C61B6D2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143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1" i="0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788" b="1" i="0">
                <a:solidFill>
                  <a:srgbClr val="0F766E"/>
                </a:solidFill>
                <a:latin typeface="Aptos"/>
                <a:ea typeface="Aptos"/>
                <a:cs typeface="Aptos"/>
              </a:rPr>
              <a:t>Judge Panel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4D61662-38DB-4F00-8CC1-CE78CE226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629150"/>
            <a:ext cx="11430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38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638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quality scoring</a:t>
            </a:r>
          </a:p>
        </p:txBody>
      </p:sp>
      <p:cxnSp>
        <p:nvCxnSpPr>
          <p:cNvPr id="103" name=""/>
          <p:cNvCxnSpPr>
            <a:stCxn xmlns:a="http://schemas.openxmlformats.org/drawingml/2006/main" id="19" idx="2"/>
            <a:endCxn xmlns:a="http://schemas.openxmlformats.org/drawingml/2006/main" id="31" idx="0"/>
          </p:cNvCxnSpPr>
          <p:nvPr/>
        </p:nvCxnSpPr>
        <p:spPr>
          <a:xfrm xmlns:a="http://schemas.openxmlformats.org/drawingml/2006/main" flipH="1">
            <a:off x="6096000" y="3124200"/>
            <a:ext cx="2047875" cy="6477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9E0B"/>
            </a:solidFill>
            <a:prstDash val="solid"/>
            <a:headEnd type="none" w="med" len="med"/>
            <a:tailEnd type="arrow" w="sm" len="sm"/>
          </a:ln>
        </p:spPr>
      </p:cxn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DBAEEA-6409-4210-AC9D-54244C201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619750"/>
            <a:ext cx="80010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EFF6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863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 principle: selected route only, typed state handoff, final policy gate, response stored with audit context.</a:t>
            </a:r>
          </a:p>
        </p:txBody>
      </p:sp>
    </p:spTree>
    <p:extLst>
      <p:ext uri="{BB962C8B-B14F-4D97-AF65-F5344CB8AC3E}">
        <p14:creationId xmlns:p14="http://schemas.microsoft.com/office/powerpoint/2010/main" val="5549588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88C581F-E5BF-4668-AB6E-91359D48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 i="0">
                <a:solidFill>
                  <a:srgbClr val="D71920"/>
                </a:solidFill>
                <a:latin typeface="Aptos"/>
                <a:ea typeface="Aptos"/>
                <a:cs typeface="Aptos"/>
              </a:defRPr>
            </a:pPr>
            <a:r>
              <a:rPr sz="900" b="1" i="0">
                <a:solidFill>
                  <a:srgbClr val="D71920"/>
                </a:solidFill>
                <a:latin typeface="Aptos"/>
                <a:ea typeface="Aptos"/>
                <a:cs typeface="Aptos"/>
              </a:rPr>
              <a:t>PROOF AND NEXT STEPS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12AA2A-CD71-405C-B1CB-B061D600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"/>
            <a:ext cx="990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What is implemented, and what is still not production-ready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1C110-17CD-4592-A526-D5B687648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system is a strong agentic foundation, but enterprise hardening remains explicit future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77DCE-5463-4B43-8750-60DCD223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9AACB-35EF-429E-949A-2307DE6F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1510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 i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AML Agentic Intelligence Workbench - agent system design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1A8BAD-9D2E-496D-9584-32439986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4748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A3D4F-A2E6-4036-8C60-479CA7F29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52600"/>
            <a:ext cx="2114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44D64A-1835-4339-A7D9-703ED865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431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61,410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E85BC-FFD5-4451-93C8-04DDB6E9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384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modeled customers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34A085-9017-41E5-A2A9-B4C0735D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1752600"/>
            <a:ext cx="2114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E514A-E16A-4E5F-B6BD-11484F0E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9431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34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259BFF-138E-46AF-B3F1-ACF9C81B4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engineered features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1C7F15-6675-481A-BA24-C2E479F6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2114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0CEDDB-6034-4394-B4DE-0C601731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9431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BAE19-5EB5-4188-BAB3-47AB39DA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model families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15E58B-A70A-4120-BF47-97AAC83D4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752600"/>
            <a:ext cx="211455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F8EED1-7007-4039-A316-E93D388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943100"/>
            <a:ext cx="1771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D71920"/>
                </a:solidFill>
                <a:latin typeface="Aptos Display"/>
                <a:ea typeface="Aptos Display"/>
                <a:cs typeface="Aptos Display"/>
              </a:rPr>
              <a:t>81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6BADA7-AC2A-42EA-A34A-3E63B6BD4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384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backend tests logged passing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471652-4565-4331-8D7E-CE09C0E1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8958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61B198-BCAA-4BB1-BC99-B1CA066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84DEA2-756A-466C-8BE0-58933F60A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Implemented foundation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3ED90B-142C-4473-B483-67F646DA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Role-aware routing, dynamic graph execution, primary Investigator runner, candidate packages, pgvector RAG path, judge panel, output guardrails, run records, and local verification.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6BBFD0-F98B-48AE-AE47-AB2EF5B33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895850" cy="1447800"/>
          </a:xfrm>
          <a:prstGeom xmlns:a="http://schemas.openxmlformats.org/drawingml/2006/main" prst="roundRect">
            <a:avLst>
              <a:gd name="adj" fmla="val 9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8A519B-63EE-49C4-BA41-E1A47870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429000"/>
            <a:ext cx="47625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9DDA7F-6EEF-43BA-A6EB-9793BA403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62350"/>
            <a:ext cx="459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 i="0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Known limits before production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97DA8E-4422-4674-AA97-981BC555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86200"/>
            <a:ext cx="4591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 i="0">
                <a:solidFill>
                  <a:srgbClr val="475569"/>
                </a:solidFill>
                <a:latin typeface="Aptos"/>
                <a:ea typeface="Aptos"/>
                <a:cs typeface="Aptos"/>
              </a:rPr>
              <a:t>No production SSO/RBAC, live source-system integration, durable case-management workflow, model registry, full approval workflow, or enterprise persistence hardening.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FDB9ED0-A682-48A1-A829-11FEF5DB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93345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FDECEC"/>
          </a:solidFill>
          <a:ln xmlns:a="http://schemas.openxmlformats.org/drawingml/2006/main" w="9525">
            <a:solidFill>
              <a:srgbClr val="F9CAC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0F6E7A-1601-417C-A8EF-CA2017B7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53050"/>
            <a:ext cx="868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63" b="1" i="0">
                <a:solidFill>
                  <a:srgbClr val="A70F14"/>
                </a:solidFill>
                <a:latin typeface="Aptos"/>
                <a:ea typeface="Aptos"/>
                <a:cs typeface="Aptos"/>
              </a:defRPr>
            </a:pPr>
            <a:r>
              <a:rPr sz="1163" b="1" i="0">
                <a:solidFill>
                  <a:srgbClr val="A70F14"/>
                </a:solidFill>
                <a:latin typeface="Aptos"/>
                <a:ea typeface="Aptos"/>
                <a:cs typeface="Aptos"/>
              </a:rPr>
              <a:t>Next build: durable audit/report persistence, production identity controls, model registry/validation, stronger RAG operations, and case-management feedback integration.</a:t>
            </a:r>
          </a:p>
        </p:txBody>
      </p:sp>
      <p:cxnSp>
        <p:nvCxnSpPr>
          <p:cNvPr id="58" name=""/>
          <p:cNvCxnSpPr>
            <a:stCxn xmlns:a="http://schemas.openxmlformats.org/drawingml/2006/main" id="19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619750" y="415290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94A3B8"/>
            </a:solidFill>
            <a:prstDash val="solid"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930552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14300" dist="39273" dir="4557825">
              <a:srgbClr val="0F172A">
                <a:alpha val="7000"/>
              </a:srgbClr>
            </a:outerShdw>
          </a:effectLst>
        </a:effectStyle>
        <a:effectStyle>
          <a:effectLst>
            <a:outerShdw blurRad="209550" dist="76793" dir="4972499">
              <a:srgbClr val="0F172A">
                <a:alpha val="9000"/>
              </a:srgbClr>
            </a:outerShdw>
          </a:effectLst>
        </a:effectStyle>
        <a:effectStyle>
          <a:effectLst>
            <a:outerShdw blurRad="190500" dist="67352" dir="4912194">
              <a:srgbClr val="0F172A">
                <a:alpha val="8000"/>
              </a:srgbClr>
            </a:outerShdw>
          </a:effectLst>
        </a:effectStyle>
        <a:effectStyle>
          <a:effectLst>
            <a:outerShdw blurRad="95250" dist="30121" dir="4293903">
              <a:srgbClr val="0F172A">
                <a:alpha val="6000"/>
              </a:srgbClr>
            </a:outerShdw>
          </a:effectLst>
        </a:effectStyle>
        <a:effectStyle>
          <a:effectLst>
            <a:outerShdw blurRad="142875" dist="48568" dir="4721404">
              <a:srgbClr val="0F172A">
                <a:alpha val="7000"/>
              </a:srgbClr>
            </a:outerShdw>
          </a:effectLst>
        </a:effectStyle>
        <a:effectStyle>
          <a:effectLst>
            <a:outerShdw blurRad="171450" dist="57938" dir="4832261">
              <a:srgbClr val="0F172A">
                <a:alpha val="7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2026-06-18T22:37:16.6150000Z</dcterms:created>
  <dcterms:modified xsi:type="dcterms:W3CDTF">2026-06-18T22:37:16.6150000Z</dcterms:modified>
</coreProperties>
</file>