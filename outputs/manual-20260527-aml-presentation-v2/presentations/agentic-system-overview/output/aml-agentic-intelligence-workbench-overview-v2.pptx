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6301"/>
  </p:normalViewPr>
  <p:slideViewPr>
    <p:cSldViewPr snapToGrid="0">
      <p:cViewPr varScale="1">
        <p:scale>
          <a:sx n="125" d="100"/>
          <a:sy n="125" d="100"/>
        </p:scale>
        <p:origin x="16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built this as a governed AML agentic workbench, not a general chatbot. The main design idea is controlled orchestration: role and task determine the route, agents assemble evidence, and judge plus guardrail layers review the result before it is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business problem is fragmentation. AML analysis often jumps between transaction data, model scores, feature tables, typology playbooks, and governance requirements. This workbench puts those inputs through a controlled path and produces a package that is easier to review and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main technical control. The system does not run every agent by default. A role and task resolve to a route, and that route must pass permission checks. Optional selected agents can narrow execution further, which helps with latency, cost, and data minimization.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Technically, the backend is the orchestrator. It validates the request, applies input policy, resolves a role-aware route, and builds a graph containing only the selected agents. The graph calls services such as data access, model scoring, RAG retrieval, and the LLM abstraction as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Governance is not just a prompt instruction. The request path includes input guardrails, role-scoped routing, typed outputs, judge evaluation, and output guardrails. The response also exposes audit metadata, so a reviewer can see what ran 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38CE366-A3A3-4535-B1CC-F4B4138654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13D"/>
          </a:solidFill>
          <a:ln w="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CA91741A-4A7F-4168-BEF3-8D86D39AFE63}"/>
              </a:ext>
            </a:extLst>
          </p:cNvPr>
          <p:cNvSpPr>
            <a:spLocks noGrp="1"/>
          </p:cNvSpPr>
          <p:nvPr/>
        </p:nvSpPr>
        <p:spPr>
          <a:xfrm>
            <a:off x="571500" y="514350"/>
            <a:ext cx="190500" cy="38100"/>
          </a:xfrm>
          <a:prstGeom prst="rect">
            <a:avLst/>
          </a:prstGeom>
          <a:solidFill>
            <a:srgbClr val="F5B642"/>
          </a:solidFill>
          <a:ln w="0">
            <a:solidFill>
              <a:srgbClr val="F5B642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C3840E27-3542-4B01-BF0D-94B94AF79AFB}"/>
              </a:ext>
            </a:extLst>
          </p:cNvPr>
          <p:cNvSpPr>
            <a:spLocks noGrp="1"/>
          </p:cNvSpPr>
          <p:nvPr/>
        </p:nvSpPr>
        <p:spPr>
          <a:xfrm>
            <a:off x="857250" y="41910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5B64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B642"/>
                </a:solidFill>
                <a:latin typeface="Aptos"/>
                <a:ea typeface="Aptos"/>
                <a:cs typeface="Aptos"/>
              </a:rPr>
              <a:t>SYSTEM PREVIEW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521D47-6EA4-40ED-8257-CD3C8337408B}"/>
              </a:ext>
            </a:extLst>
          </p:cNvPr>
          <p:cNvSpPr>
            <a:spLocks noGrp="1"/>
          </p:cNvSpPr>
          <p:nvPr/>
        </p:nvSpPr>
        <p:spPr>
          <a:xfrm>
            <a:off x="571500" y="1047750"/>
            <a:ext cx="5334000" cy="1828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AML Agentic</a:t>
            </a:r>
          </a:p>
          <a:p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Intelligence</a:t>
            </a:r>
          </a:p>
          <a:p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Workbench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2D1799-BAE0-4116-A76B-9CDEC9E444D8}"/>
              </a:ext>
            </a:extLst>
          </p:cNvPr>
          <p:cNvSpPr>
            <a:spLocks noGrp="1"/>
          </p:cNvSpPr>
          <p:nvPr/>
        </p:nvSpPr>
        <p:spPr>
          <a:xfrm>
            <a:off x="590550" y="3143250"/>
            <a:ext cx="533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1425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A governed, role-aware multi-agent foundation for assembling AML evidence, model context, typology knowledge, quality evaluation, and guardrails into an auditable report.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B03BB5-851F-44BD-B5EE-8C89DFD5D013}"/>
              </a:ext>
            </a:extLst>
          </p:cNvPr>
          <p:cNvSpPr>
            <a:spLocks noGrp="1"/>
          </p:cNvSpPr>
          <p:nvPr/>
        </p:nvSpPr>
        <p:spPr>
          <a:xfrm>
            <a:off x="590550" y="5772150"/>
            <a:ext cx="609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1200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Framing: technical preview for manager awareness; not a production approval request.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BCDA0C-2552-476F-BBD8-FC915356FF49}"/>
              </a:ext>
            </a:extLst>
          </p:cNvPr>
          <p:cNvSpPr>
            <a:spLocks noGrp="1"/>
          </p:cNvSpPr>
          <p:nvPr/>
        </p:nvSpPr>
        <p:spPr>
          <a:xfrm>
            <a:off x="6858000" y="1066800"/>
            <a:ext cx="1809750" cy="914400"/>
          </a:xfrm>
          <a:prstGeom prst="rect">
            <a:avLst/>
          </a:prstGeom>
          <a:solidFill>
            <a:srgbClr val="203351"/>
          </a:solidFill>
          <a:ln w="9525">
            <a:solidFill>
              <a:srgbClr val="4A5C7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09DB1F-89DA-40CB-B980-634696AB5197}"/>
              </a:ext>
            </a:extLst>
          </p:cNvPr>
          <p:cNvSpPr>
            <a:spLocks noGrp="1"/>
          </p:cNvSpPr>
          <p:nvPr/>
        </p:nvSpPr>
        <p:spPr>
          <a:xfrm>
            <a:off x="7029450" y="1219200"/>
            <a:ext cx="146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Role + task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4A4A46-0978-48CD-B4F4-584D71228277}"/>
              </a:ext>
            </a:extLst>
          </p:cNvPr>
          <p:cNvSpPr>
            <a:spLocks noGrp="1"/>
          </p:cNvSpPr>
          <p:nvPr/>
        </p:nvSpPr>
        <p:spPr>
          <a:xfrm>
            <a:off x="7029450" y="1543050"/>
            <a:ext cx="1466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Who is asking and why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48DA5C-18B0-40AD-8166-D14576F34AEB}"/>
              </a:ext>
            </a:extLst>
          </p:cNvPr>
          <p:cNvSpPr>
            <a:spLocks noGrp="1"/>
          </p:cNvSpPr>
          <p:nvPr/>
        </p:nvSpPr>
        <p:spPr>
          <a:xfrm>
            <a:off x="8858250" y="127635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5B6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B64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0082FA-D117-471F-B56C-D3F321DE8931}"/>
              </a:ext>
            </a:extLst>
          </p:cNvPr>
          <p:cNvSpPr>
            <a:spLocks noGrp="1"/>
          </p:cNvSpPr>
          <p:nvPr/>
        </p:nvSpPr>
        <p:spPr>
          <a:xfrm>
            <a:off x="9334500" y="1066800"/>
            <a:ext cx="1809750" cy="914400"/>
          </a:xfrm>
          <a:prstGeom prst="rect">
            <a:avLst/>
          </a:prstGeom>
          <a:solidFill>
            <a:srgbClr val="203351"/>
          </a:solidFill>
          <a:ln w="9525">
            <a:solidFill>
              <a:srgbClr val="4A5C7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2FBD10-35D0-48BB-99A7-7CEBC4986687}"/>
              </a:ext>
            </a:extLst>
          </p:cNvPr>
          <p:cNvSpPr>
            <a:spLocks noGrp="1"/>
          </p:cNvSpPr>
          <p:nvPr/>
        </p:nvSpPr>
        <p:spPr>
          <a:xfrm>
            <a:off x="9505950" y="1219200"/>
            <a:ext cx="146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Router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C92E95-74F3-4062-808F-5882964A5B07}"/>
              </a:ext>
            </a:extLst>
          </p:cNvPr>
          <p:cNvSpPr>
            <a:spLocks noGrp="1"/>
          </p:cNvSpPr>
          <p:nvPr/>
        </p:nvSpPr>
        <p:spPr>
          <a:xfrm>
            <a:off x="9505950" y="1543050"/>
            <a:ext cx="1466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Authorized route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E70817-3276-4227-B971-C07FD274B6A9}"/>
              </a:ext>
            </a:extLst>
          </p:cNvPr>
          <p:cNvSpPr>
            <a:spLocks noGrp="1"/>
          </p:cNvSpPr>
          <p:nvPr/>
        </p:nvSpPr>
        <p:spPr>
          <a:xfrm>
            <a:off x="6858000" y="2362200"/>
            <a:ext cx="4286250" cy="971550"/>
          </a:xfrm>
          <a:prstGeom prst="rect">
            <a:avLst/>
          </a:prstGeom>
          <a:solidFill>
            <a:srgbClr val="F7F3EA"/>
          </a:solidFill>
          <a:ln w="9525">
            <a:solidFill>
              <a:srgbClr val="F5B642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FECECC-37F1-4A29-85D6-71233D34EB41}"/>
              </a:ext>
            </a:extLst>
          </p:cNvPr>
          <p:cNvSpPr>
            <a:spLocks noGrp="1"/>
          </p:cNvSpPr>
          <p:nvPr/>
        </p:nvSpPr>
        <p:spPr>
          <a:xfrm>
            <a:off x="7029450" y="2514600"/>
            <a:ext cx="3943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Selected agent subgraph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6730E1-A822-473F-8490-1E15E4D3ABB1}"/>
              </a:ext>
            </a:extLst>
          </p:cNvPr>
          <p:cNvSpPr>
            <a:spLocks noGrp="1"/>
          </p:cNvSpPr>
          <p:nvPr/>
        </p:nvSpPr>
        <p:spPr>
          <a:xfrm>
            <a:off x="7029450" y="2838450"/>
            <a:ext cx="3943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Only the agents needed for the role and task execute.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C20980-8C04-4EDF-880E-BE177C8E55E9}"/>
              </a:ext>
            </a:extLst>
          </p:cNvPr>
          <p:cNvSpPr>
            <a:spLocks noGrp="1"/>
          </p:cNvSpPr>
          <p:nvPr/>
        </p:nvSpPr>
        <p:spPr>
          <a:xfrm>
            <a:off x="6858000" y="3886200"/>
            <a:ext cx="1809750" cy="838200"/>
          </a:xfrm>
          <a:prstGeom prst="rect">
            <a:avLst/>
          </a:prstGeom>
          <a:solidFill>
            <a:srgbClr val="203351"/>
          </a:solidFill>
          <a:ln w="9525">
            <a:solidFill>
              <a:srgbClr val="4A5C7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30AD71-E17C-41F0-8946-5718CF0816CB}"/>
              </a:ext>
            </a:extLst>
          </p:cNvPr>
          <p:cNvSpPr>
            <a:spLocks noGrp="1"/>
          </p:cNvSpPr>
          <p:nvPr/>
        </p:nvSpPr>
        <p:spPr>
          <a:xfrm>
            <a:off x="7029450" y="4038600"/>
            <a:ext cx="146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Judges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30C9E3-200C-4854-A71B-A9984F8E23B5}"/>
              </a:ext>
            </a:extLst>
          </p:cNvPr>
          <p:cNvSpPr>
            <a:spLocks noGrp="1"/>
          </p:cNvSpPr>
          <p:nvPr/>
        </p:nvSpPr>
        <p:spPr>
          <a:xfrm>
            <a:off x="7029450" y="4362450"/>
            <a:ext cx="146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Quality scoring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C4BCF1-7A45-4D14-B7FA-5A6A21AE73C4}"/>
              </a:ext>
            </a:extLst>
          </p:cNvPr>
          <p:cNvSpPr>
            <a:spLocks noGrp="1"/>
          </p:cNvSpPr>
          <p:nvPr/>
        </p:nvSpPr>
        <p:spPr>
          <a:xfrm>
            <a:off x="8858250" y="415290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5B6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B64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3B4063-5487-432F-922D-9B17EA0E1BDF}"/>
              </a:ext>
            </a:extLst>
          </p:cNvPr>
          <p:cNvSpPr>
            <a:spLocks noGrp="1"/>
          </p:cNvSpPr>
          <p:nvPr/>
        </p:nvSpPr>
        <p:spPr>
          <a:xfrm>
            <a:off x="9334500" y="3886200"/>
            <a:ext cx="1809750" cy="838200"/>
          </a:xfrm>
          <a:prstGeom prst="rect">
            <a:avLst/>
          </a:prstGeom>
          <a:solidFill>
            <a:srgbClr val="203351"/>
          </a:solidFill>
          <a:ln w="9525">
            <a:solidFill>
              <a:srgbClr val="4A5C7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EE1F9B-389F-4C78-A227-AE0A3CD8158B}"/>
              </a:ext>
            </a:extLst>
          </p:cNvPr>
          <p:cNvSpPr>
            <a:spLocks noGrp="1"/>
          </p:cNvSpPr>
          <p:nvPr/>
        </p:nvSpPr>
        <p:spPr>
          <a:xfrm>
            <a:off x="9505950" y="4038600"/>
            <a:ext cx="146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Guardrails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AD7C93-6442-4643-9ED1-FC6CF361B653}"/>
              </a:ext>
            </a:extLst>
          </p:cNvPr>
          <p:cNvSpPr>
            <a:spLocks noGrp="1"/>
          </p:cNvSpPr>
          <p:nvPr/>
        </p:nvSpPr>
        <p:spPr>
          <a:xfrm>
            <a:off x="9505950" y="4362450"/>
            <a:ext cx="146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Final safety review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B813EF-052B-4A84-982F-AF40E2D2B7E4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Source: README and system overview docs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48D4664-D54C-4139-B5A9-00780624394A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9657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96574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13917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1A209CF-0165-40FE-A4A8-3ECA56AD9F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F7F3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63408186-9BA0-4E14-B341-B6B7E0F293F9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90500" cy="38100"/>
          </a:xfrm>
          <a:prstGeom prst="rect">
            <a:avLst/>
          </a:prstGeom>
          <a:solidFill>
            <a:srgbClr val="D71920"/>
          </a:solidFill>
          <a:ln w="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578F9032-ADDC-4E70-8685-74AFF2AFBBDF}"/>
              </a:ext>
            </a:extLst>
          </p:cNvPr>
          <p:cNvSpPr>
            <a:spLocks noGrp="1"/>
          </p:cNvSpPr>
          <p:nvPr/>
        </p:nvSpPr>
        <p:spPr>
          <a:xfrm>
            <a:off x="838200" y="4000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" name="claim-title">
            <a:extLst>
              <a:ext uri="{FF2B5EF4-FFF2-40B4-BE49-F238E27FC236}">
                <a16:creationId xmlns:a16="http://schemas.microsoft.com/office/drawing/2014/main" id="{694BB4C8-876A-4B6D-82E7-588F52CDF014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382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AML teams need a controlled way to assemble evidence, not another loose chat surface.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F62B11-848E-421D-9AEA-E274B78A14E7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8763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1275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The system creates a repeatable report path across data, model outputs, retrieved typology context, governance checks, and audit metadata.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D60E4A-2E7F-4B5D-98AC-CEC1126C663E}"/>
              </a:ext>
            </a:extLst>
          </p:cNvPr>
          <p:cNvSpPr>
            <a:spLocks noGrp="1"/>
          </p:cNvSpPr>
          <p:nvPr/>
        </p:nvSpPr>
        <p:spPr>
          <a:xfrm>
            <a:off x="666750" y="2437847"/>
            <a:ext cx="29908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196943-CEF1-467C-A956-4D8A7F230BCB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2647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Transaction history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32B173-F14D-4DA5-8699-04A84C489B37}"/>
              </a:ext>
            </a:extLst>
          </p:cNvPr>
          <p:cNvSpPr>
            <a:spLocks noGrp="1"/>
          </p:cNvSpPr>
          <p:nvPr/>
        </p:nvSpPr>
        <p:spPr>
          <a:xfrm>
            <a:off x="838200" y="2838450"/>
            <a:ext cx="2647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Customer activity and counterparties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BEBDF5-ABBA-42FF-9B29-B9DEDE09E117}"/>
              </a:ext>
            </a:extLst>
          </p:cNvPr>
          <p:cNvSpPr>
            <a:spLocks noGrp="1"/>
          </p:cNvSpPr>
          <p:nvPr/>
        </p:nvSpPr>
        <p:spPr>
          <a:xfrm>
            <a:off x="666750" y="3219450"/>
            <a:ext cx="29908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AB04C3-A385-481C-A023-2D3C234535FE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2647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Feature signals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31ACE9-F153-42DF-9845-8B97975A2C58}"/>
              </a:ext>
            </a:extLst>
          </p:cNvPr>
          <p:cNvSpPr>
            <a:spLocks noGrp="1"/>
          </p:cNvSpPr>
          <p:nvPr/>
        </p:nvSpPr>
        <p:spPr>
          <a:xfrm>
            <a:off x="838200" y="3619500"/>
            <a:ext cx="2647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Behavioural summaries and feature quality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A2F32C-2B4B-4DF8-88B6-068DDC61596E}"/>
              </a:ext>
            </a:extLst>
          </p:cNvPr>
          <p:cNvSpPr>
            <a:spLocks noGrp="1"/>
          </p:cNvSpPr>
          <p:nvPr/>
        </p:nvSpPr>
        <p:spPr>
          <a:xfrm>
            <a:off x="666750" y="4019550"/>
            <a:ext cx="29908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78766F-F907-4BF3-ACCF-ACBADBABFCDA}"/>
              </a:ext>
            </a:extLst>
          </p:cNvPr>
          <p:cNvSpPr>
            <a:spLocks noGrp="1"/>
          </p:cNvSpPr>
          <p:nvPr/>
        </p:nvSpPr>
        <p:spPr>
          <a:xfrm>
            <a:off x="838200" y="4076700"/>
            <a:ext cx="2647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Model context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CE93CC-E898-4279-A0FA-2699004C711B}"/>
              </a:ext>
            </a:extLst>
          </p:cNvPr>
          <p:cNvSpPr>
            <a:spLocks noGrp="1"/>
          </p:cNvSpPr>
          <p:nvPr/>
        </p:nvSpPr>
        <p:spPr>
          <a:xfrm>
            <a:off x="838200" y="4400550"/>
            <a:ext cx="2647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Anomaly score interpretation, not proof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961FE8-1D9A-48DD-BF20-79165A9980C8}"/>
              </a:ext>
            </a:extLst>
          </p:cNvPr>
          <p:cNvSpPr>
            <a:spLocks noGrp="1"/>
          </p:cNvSpPr>
          <p:nvPr/>
        </p:nvSpPr>
        <p:spPr>
          <a:xfrm>
            <a:off x="647700" y="4800600"/>
            <a:ext cx="29908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865B7F-63F4-41CF-9D94-038A14E5ADE5}"/>
              </a:ext>
            </a:extLst>
          </p:cNvPr>
          <p:cNvSpPr>
            <a:spLocks noGrp="1"/>
          </p:cNvSpPr>
          <p:nvPr/>
        </p:nvSpPr>
        <p:spPr>
          <a:xfrm>
            <a:off x="838200" y="4857750"/>
            <a:ext cx="2647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Typology knowledge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127E45-AC82-4C0E-9354-130BBD46FC91}"/>
              </a:ext>
            </a:extLst>
          </p:cNvPr>
          <p:cNvSpPr>
            <a:spLocks noGrp="1"/>
          </p:cNvSpPr>
          <p:nvPr/>
        </p:nvSpPr>
        <p:spPr>
          <a:xfrm>
            <a:off x="838200" y="5181600"/>
            <a:ext cx="2647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Retrieved official-source context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EEA938-8CCD-475B-A0E6-10C2AD775F32}"/>
              </a:ext>
            </a:extLst>
          </p:cNvPr>
          <p:cNvSpPr>
            <a:spLocks noGrp="1"/>
          </p:cNvSpPr>
          <p:nvPr/>
        </p:nvSpPr>
        <p:spPr>
          <a:xfrm>
            <a:off x="4095750" y="371475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4BAB79-7F21-4A2E-879A-EF73BD244BB3}"/>
              </a:ext>
            </a:extLst>
          </p:cNvPr>
          <p:cNvSpPr>
            <a:spLocks noGrp="1"/>
          </p:cNvSpPr>
          <p:nvPr/>
        </p:nvSpPr>
        <p:spPr>
          <a:xfrm>
            <a:off x="4762500" y="2705100"/>
            <a:ext cx="2381250" cy="2190750"/>
          </a:xfrm>
          <a:prstGeom prst="rect">
            <a:avLst/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E6242C-7CA0-4E31-B31E-A2462CE39E4C}"/>
              </a:ext>
            </a:extLst>
          </p:cNvPr>
          <p:cNvSpPr>
            <a:spLocks noGrp="1"/>
          </p:cNvSpPr>
          <p:nvPr/>
        </p:nvSpPr>
        <p:spPr>
          <a:xfrm>
            <a:off x="4933950" y="285750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Orchestrated path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C17871-A981-4A94-8CDD-CFDC686F23B4}"/>
              </a:ext>
            </a:extLst>
          </p:cNvPr>
          <p:cNvSpPr>
            <a:spLocks noGrp="1"/>
          </p:cNvSpPr>
          <p:nvPr/>
        </p:nvSpPr>
        <p:spPr>
          <a:xfrm>
            <a:off x="4933950" y="3181350"/>
            <a:ext cx="2038350" cy="1600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Input policy</a:t>
            </a:r>
          </a:p>
          <a:p>
            <a:pPr algn="l">
              <a:defRPr sz="1125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Role-aware route</a:t>
            </a:r>
          </a:p>
          <a:p>
            <a:pPr algn="l">
              <a:defRPr sz="1125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Agent execution</a:t>
            </a:r>
          </a:p>
          <a:p>
            <a:pPr algn="l">
              <a:defRPr sz="1125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Evidence assembly</a:t>
            </a:r>
          </a:p>
          <a:p>
            <a:pPr algn="l">
              <a:defRPr sz="1125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Judge scoring</a:t>
            </a:r>
          </a:p>
          <a:p>
            <a:pPr algn="l">
              <a:defRPr sz="1125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Output guardrails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657470-C210-4AC4-BC92-4D22781F158E}"/>
              </a:ext>
            </a:extLst>
          </p:cNvPr>
          <p:cNvSpPr>
            <a:spLocks noGrp="1"/>
          </p:cNvSpPr>
          <p:nvPr/>
        </p:nvSpPr>
        <p:spPr>
          <a:xfrm>
            <a:off x="7715250" y="371475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935F1A-EB05-4321-812B-6D2D6B79547C}"/>
              </a:ext>
            </a:extLst>
          </p:cNvPr>
          <p:cNvSpPr>
            <a:spLocks noGrp="1"/>
          </p:cNvSpPr>
          <p:nvPr/>
        </p:nvSpPr>
        <p:spPr>
          <a:xfrm>
            <a:off x="8382000" y="2609850"/>
            <a:ext cx="31051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F5B642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572756-F706-40D3-A18B-1CB3274375EE}"/>
              </a:ext>
            </a:extLst>
          </p:cNvPr>
          <p:cNvSpPr>
            <a:spLocks noGrp="1"/>
          </p:cNvSpPr>
          <p:nvPr/>
        </p:nvSpPr>
        <p:spPr>
          <a:xfrm>
            <a:off x="8553450" y="2762250"/>
            <a:ext cx="2762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Auditable AML package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BCB65E4-1512-4F93-8662-EC523EE27D78}"/>
              </a:ext>
            </a:extLst>
          </p:cNvPr>
          <p:cNvSpPr>
            <a:spLocks noGrp="1"/>
          </p:cNvSpPr>
          <p:nvPr/>
        </p:nvSpPr>
        <p:spPr>
          <a:xfrm>
            <a:off x="8553450" y="3086100"/>
            <a:ext cx="2762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Role-specific report, citations, evidence table, judge scores, guardrail status, and route explanation.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A7F0C7-AEBF-4B50-AEDD-4BB7AE76C8A2}"/>
              </a:ext>
            </a:extLst>
          </p:cNvPr>
          <p:cNvSpPr>
            <a:spLocks noGrp="1"/>
          </p:cNvSpPr>
          <p:nvPr/>
        </p:nvSpPr>
        <p:spPr>
          <a:xfrm>
            <a:off x="8382000" y="4229100"/>
            <a:ext cx="3105150" cy="819150"/>
          </a:xfrm>
          <a:prstGeom prst="rect">
            <a:avLst/>
          </a:prstGeom>
          <a:solidFill>
            <a:srgbClr val="EEE7DB"/>
          </a:solidFill>
          <a:ln w="9525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FA8BB1-0443-4AD7-B8F9-653175064F10}"/>
              </a:ext>
            </a:extLst>
          </p:cNvPr>
          <p:cNvSpPr>
            <a:spLocks noGrp="1"/>
          </p:cNvSpPr>
          <p:nvPr/>
        </p:nvSpPr>
        <p:spPr>
          <a:xfrm>
            <a:off x="8553450" y="4381500"/>
            <a:ext cx="2762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Boundary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901A6C-47A9-403D-BA49-C5B89DEAB040}"/>
              </a:ext>
            </a:extLst>
          </p:cNvPr>
          <p:cNvSpPr>
            <a:spLocks noGrp="1"/>
          </p:cNvSpPr>
          <p:nvPr/>
        </p:nvSpPr>
        <p:spPr>
          <a:xfrm>
            <a:off x="8553450" y="4705350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Supports review. It does not make final AML decisions.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F819846-6B29-4CC1-9E14-DFF459A55E25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Source: docs/README_SYSTEM_OVERVIEW.md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0FE80E-0B2C-4102-94D3-49DD16FD71C2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9657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96574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07046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1B4E6564-D346-4B14-98F1-21049AC1F5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F7F3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1E216EEE-8157-4BFF-9BB9-DC3AC8141165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90500" cy="38100"/>
          </a:xfrm>
          <a:prstGeom prst="rect">
            <a:avLst/>
          </a:prstGeom>
          <a:solidFill>
            <a:srgbClr val="D71920"/>
          </a:solidFill>
          <a:ln w="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4B40BCA1-70F0-4CD6-A951-BF7EAEFA3A0A}"/>
              </a:ext>
            </a:extLst>
          </p:cNvPr>
          <p:cNvSpPr>
            <a:spLocks noGrp="1"/>
          </p:cNvSpPr>
          <p:nvPr/>
        </p:nvSpPr>
        <p:spPr>
          <a:xfrm>
            <a:off x="838200" y="4000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ROLE-AWARE ROUTING</a:t>
            </a:r>
          </a:p>
        </p:txBody>
      </p:sp>
      <p:sp>
        <p:nvSpPr>
          <p:cNvPr id="4" name="claim-title">
            <a:extLst>
              <a:ext uri="{FF2B5EF4-FFF2-40B4-BE49-F238E27FC236}">
                <a16:creationId xmlns:a16="http://schemas.microsoft.com/office/drawing/2014/main" id="{2F24C22A-C186-4B64-9D04-896DE0CEBDC9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6858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The router keeps each request on a narrow, authorized agent path.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6D1E81-38A2-4BB9-9DC9-54DF9891743B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723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1275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Routes are resolved from role, task type, and optional selected agents. Final guardrail review is mandatory.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A180C1-E226-4CDE-A4EA-6B8B444788EA}"/>
              </a:ext>
            </a:extLst>
          </p:cNvPr>
          <p:cNvSpPr>
            <a:spLocks noGrp="1"/>
          </p:cNvSpPr>
          <p:nvPr/>
        </p:nvSpPr>
        <p:spPr>
          <a:xfrm>
            <a:off x="647700" y="26098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Investigator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C4C84C-3F0C-4C51-9207-3AE80C8F1B0B}"/>
              </a:ext>
            </a:extLst>
          </p:cNvPr>
          <p:cNvSpPr>
            <a:spLocks noGrp="1"/>
          </p:cNvSpPr>
          <p:nvPr/>
        </p:nvSpPr>
        <p:spPr>
          <a:xfrm>
            <a:off x="647700" y="2876550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Evidence-grounded activity summary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63DE31-1937-4EF3-A352-17D204EABC78}"/>
              </a:ext>
            </a:extLst>
          </p:cNvPr>
          <p:cNvSpPr>
            <a:spLocks noGrp="1"/>
          </p:cNvSpPr>
          <p:nvPr/>
        </p:nvSpPr>
        <p:spPr>
          <a:xfrm>
            <a:off x="3333750" y="2647950"/>
            <a:ext cx="1162050" cy="323850"/>
          </a:xfrm>
          <a:prstGeom prst="rect">
            <a:avLst/>
          </a:prstGeom>
          <a:solidFill>
            <a:srgbClr val="14213D"/>
          </a:solidFill>
          <a:ln w="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3C07C8-67ED-46FF-A760-5FEF2C1D4DB6}"/>
              </a:ext>
            </a:extLst>
          </p:cNvPr>
          <p:cNvSpPr>
            <a:spLocks noGrp="1"/>
          </p:cNvSpPr>
          <p:nvPr/>
        </p:nvSpPr>
        <p:spPr>
          <a:xfrm>
            <a:off x="3429000" y="2705100"/>
            <a:ext cx="97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behaviour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10AD6F-3B3E-455A-B426-0475807739A9}"/>
              </a:ext>
            </a:extLst>
          </p:cNvPr>
          <p:cNvSpPr>
            <a:spLocks noGrp="1"/>
          </p:cNvSpPr>
          <p:nvPr/>
        </p:nvSpPr>
        <p:spPr>
          <a:xfrm>
            <a:off x="4533900" y="266700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960A77-9FDD-4022-9BF5-CCE78E6C1E8B}"/>
              </a:ext>
            </a:extLst>
          </p:cNvPr>
          <p:cNvSpPr>
            <a:spLocks noGrp="1"/>
          </p:cNvSpPr>
          <p:nvPr/>
        </p:nvSpPr>
        <p:spPr>
          <a:xfrm>
            <a:off x="4743450" y="2647950"/>
            <a:ext cx="1162050" cy="323850"/>
          </a:xfrm>
          <a:prstGeom prst="rect">
            <a:avLst/>
          </a:prstGeom>
          <a:solidFill>
            <a:srgbClr val="14213D"/>
          </a:solidFill>
          <a:ln w="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5954FF-9F60-43E5-A2DB-7C1901430742}"/>
              </a:ext>
            </a:extLst>
          </p:cNvPr>
          <p:cNvSpPr>
            <a:spLocks noGrp="1"/>
          </p:cNvSpPr>
          <p:nvPr/>
        </p:nvSpPr>
        <p:spPr>
          <a:xfrm>
            <a:off x="4838700" y="2705100"/>
            <a:ext cx="97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typology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3AF373-EAC5-401A-8862-42B2D692012D}"/>
              </a:ext>
            </a:extLst>
          </p:cNvPr>
          <p:cNvSpPr>
            <a:spLocks noGrp="1"/>
          </p:cNvSpPr>
          <p:nvPr/>
        </p:nvSpPr>
        <p:spPr>
          <a:xfrm>
            <a:off x="5943600" y="266700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B05345-5EF0-462E-AEC7-44BAC748F33F}"/>
              </a:ext>
            </a:extLst>
          </p:cNvPr>
          <p:cNvSpPr>
            <a:spLocks noGrp="1"/>
          </p:cNvSpPr>
          <p:nvPr/>
        </p:nvSpPr>
        <p:spPr>
          <a:xfrm>
            <a:off x="6153150" y="2647950"/>
            <a:ext cx="1162050" cy="323850"/>
          </a:xfrm>
          <a:prstGeom prst="rect">
            <a:avLst/>
          </a:prstGeom>
          <a:solidFill>
            <a:srgbClr val="14213D"/>
          </a:solidFill>
          <a:ln w="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1D0238-8911-45FA-8C30-A2ED1E2D46F9}"/>
              </a:ext>
            </a:extLst>
          </p:cNvPr>
          <p:cNvSpPr>
            <a:spLocks noGrp="1"/>
          </p:cNvSpPr>
          <p:nvPr/>
        </p:nvSpPr>
        <p:spPr>
          <a:xfrm>
            <a:off x="6248400" y="2705100"/>
            <a:ext cx="97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564E3B-42C5-40C6-9728-920D528BC493}"/>
              </a:ext>
            </a:extLst>
          </p:cNvPr>
          <p:cNvSpPr>
            <a:spLocks noGrp="1"/>
          </p:cNvSpPr>
          <p:nvPr/>
        </p:nvSpPr>
        <p:spPr>
          <a:xfrm>
            <a:off x="7353300" y="266700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567E37-2045-4A4E-BF43-1EDEA0EA5707}"/>
              </a:ext>
            </a:extLst>
          </p:cNvPr>
          <p:cNvSpPr>
            <a:spLocks noGrp="1"/>
          </p:cNvSpPr>
          <p:nvPr/>
        </p:nvSpPr>
        <p:spPr>
          <a:xfrm>
            <a:off x="7562850" y="2647950"/>
            <a:ext cx="1162050" cy="323850"/>
          </a:xfrm>
          <a:prstGeom prst="rect">
            <a:avLst/>
          </a:prstGeom>
          <a:solidFill>
            <a:srgbClr val="14213D"/>
          </a:solidFill>
          <a:ln w="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4C1B51-5AFE-4940-957B-B1A519522240}"/>
              </a:ext>
            </a:extLst>
          </p:cNvPr>
          <p:cNvSpPr>
            <a:spLocks noGrp="1"/>
          </p:cNvSpPr>
          <p:nvPr/>
        </p:nvSpPr>
        <p:spPr>
          <a:xfrm>
            <a:off x="7658100" y="2705100"/>
            <a:ext cx="97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judge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29DF54-B533-4E13-A8A2-901BFAC56E03}"/>
              </a:ext>
            </a:extLst>
          </p:cNvPr>
          <p:cNvSpPr>
            <a:spLocks noGrp="1"/>
          </p:cNvSpPr>
          <p:nvPr/>
        </p:nvSpPr>
        <p:spPr>
          <a:xfrm>
            <a:off x="8763000" y="266700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441CA3-C0B7-42EB-BF9B-20E78E4CB377}"/>
              </a:ext>
            </a:extLst>
          </p:cNvPr>
          <p:cNvSpPr>
            <a:spLocks noGrp="1"/>
          </p:cNvSpPr>
          <p:nvPr/>
        </p:nvSpPr>
        <p:spPr>
          <a:xfrm>
            <a:off x="8972550" y="2647950"/>
            <a:ext cx="1162050" cy="323850"/>
          </a:xfrm>
          <a:prstGeom prst="rect">
            <a:avLst/>
          </a:prstGeom>
          <a:solidFill>
            <a:srgbClr val="D71920"/>
          </a:solidFill>
          <a:ln w="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DB25A2-43CB-44E7-ADBD-D8DB8C552110}"/>
              </a:ext>
            </a:extLst>
          </p:cNvPr>
          <p:cNvSpPr>
            <a:spLocks noGrp="1"/>
          </p:cNvSpPr>
          <p:nvPr/>
        </p:nvSpPr>
        <p:spPr>
          <a:xfrm>
            <a:off x="9067800" y="2705100"/>
            <a:ext cx="97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guardrail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5F10E1-3A79-4BB5-948A-178948E833BA}"/>
              </a:ext>
            </a:extLst>
          </p:cNvPr>
          <p:cNvSpPr>
            <a:spLocks noGrp="1"/>
          </p:cNvSpPr>
          <p:nvPr/>
        </p:nvSpPr>
        <p:spPr>
          <a:xfrm>
            <a:off x="647700" y="35623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Data scientist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0A20E7-236C-434C-A5A7-1A949F7C6CC1}"/>
              </a:ext>
            </a:extLst>
          </p:cNvPr>
          <p:cNvSpPr>
            <a:spLocks noGrp="1"/>
          </p:cNvSpPr>
          <p:nvPr/>
        </p:nvSpPr>
        <p:spPr>
          <a:xfrm>
            <a:off x="647700" y="3829050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Feature and model behaviour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AF8029-E4F4-4607-8C4D-DA17045F7830}"/>
              </a:ext>
            </a:extLst>
          </p:cNvPr>
          <p:cNvSpPr>
            <a:spLocks noGrp="1"/>
          </p:cNvSpPr>
          <p:nvPr/>
        </p:nvSpPr>
        <p:spPr>
          <a:xfrm>
            <a:off x="3333750" y="3600450"/>
            <a:ext cx="1162050" cy="323850"/>
          </a:xfrm>
          <a:prstGeom prst="rect">
            <a:avLst/>
          </a:prstGeom>
          <a:solidFill>
            <a:srgbClr val="14213D"/>
          </a:solidFill>
          <a:ln w="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EFD9ED-07F7-4361-A590-F1F2E01078C0}"/>
              </a:ext>
            </a:extLst>
          </p:cNvPr>
          <p:cNvSpPr>
            <a:spLocks noGrp="1"/>
          </p:cNvSpPr>
          <p:nvPr/>
        </p:nvSpPr>
        <p:spPr>
          <a:xfrm>
            <a:off x="3429000" y="3657600"/>
            <a:ext cx="97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behaviour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D29B0E4-3389-49EF-83FC-72AAA053D168}"/>
              </a:ext>
            </a:extLst>
          </p:cNvPr>
          <p:cNvSpPr>
            <a:spLocks noGrp="1"/>
          </p:cNvSpPr>
          <p:nvPr/>
        </p:nvSpPr>
        <p:spPr>
          <a:xfrm>
            <a:off x="4533900" y="361950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04E00C-C2F0-42AB-B850-380B5C9F391C}"/>
              </a:ext>
            </a:extLst>
          </p:cNvPr>
          <p:cNvSpPr>
            <a:spLocks noGrp="1"/>
          </p:cNvSpPr>
          <p:nvPr/>
        </p:nvSpPr>
        <p:spPr>
          <a:xfrm>
            <a:off x="4743450" y="3600450"/>
            <a:ext cx="1162050" cy="323850"/>
          </a:xfrm>
          <a:prstGeom prst="rect">
            <a:avLst/>
          </a:prstGeom>
          <a:solidFill>
            <a:srgbClr val="14213D"/>
          </a:solidFill>
          <a:ln w="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8BE4C1-B298-4835-A558-E2372DDA74FF}"/>
              </a:ext>
            </a:extLst>
          </p:cNvPr>
          <p:cNvSpPr>
            <a:spLocks noGrp="1"/>
          </p:cNvSpPr>
          <p:nvPr/>
        </p:nvSpPr>
        <p:spPr>
          <a:xfrm>
            <a:off x="4838700" y="3657600"/>
            <a:ext cx="97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42F7EB-3184-4BFB-9551-47AC32BAAFA4}"/>
              </a:ext>
            </a:extLst>
          </p:cNvPr>
          <p:cNvSpPr>
            <a:spLocks noGrp="1"/>
          </p:cNvSpPr>
          <p:nvPr/>
        </p:nvSpPr>
        <p:spPr>
          <a:xfrm>
            <a:off x="5943600" y="361950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7D5DE38-C030-4162-9704-18B9AD666668}"/>
              </a:ext>
            </a:extLst>
          </p:cNvPr>
          <p:cNvSpPr>
            <a:spLocks noGrp="1"/>
          </p:cNvSpPr>
          <p:nvPr/>
        </p:nvSpPr>
        <p:spPr>
          <a:xfrm>
            <a:off x="6153150" y="3600450"/>
            <a:ext cx="1162050" cy="323850"/>
          </a:xfrm>
          <a:prstGeom prst="rect">
            <a:avLst/>
          </a:prstGeom>
          <a:solidFill>
            <a:srgbClr val="14213D"/>
          </a:solidFill>
          <a:ln w="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EDB1DF-6995-4B93-A548-E98268158B76}"/>
              </a:ext>
            </a:extLst>
          </p:cNvPr>
          <p:cNvSpPr>
            <a:spLocks noGrp="1"/>
          </p:cNvSpPr>
          <p:nvPr/>
        </p:nvSpPr>
        <p:spPr>
          <a:xfrm>
            <a:off x="6248400" y="3657600"/>
            <a:ext cx="97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91F3054-C6C3-41E8-A791-F26155679997}"/>
              </a:ext>
            </a:extLst>
          </p:cNvPr>
          <p:cNvSpPr>
            <a:spLocks noGrp="1"/>
          </p:cNvSpPr>
          <p:nvPr/>
        </p:nvSpPr>
        <p:spPr>
          <a:xfrm>
            <a:off x="7353300" y="361950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43CBC40-510E-4EA1-8057-CFE93E0EFDFD}"/>
              </a:ext>
            </a:extLst>
          </p:cNvPr>
          <p:cNvSpPr>
            <a:spLocks noGrp="1"/>
          </p:cNvSpPr>
          <p:nvPr/>
        </p:nvSpPr>
        <p:spPr>
          <a:xfrm>
            <a:off x="7562850" y="3600450"/>
            <a:ext cx="1162050" cy="323850"/>
          </a:xfrm>
          <a:prstGeom prst="rect">
            <a:avLst/>
          </a:prstGeom>
          <a:solidFill>
            <a:srgbClr val="14213D"/>
          </a:solidFill>
          <a:ln w="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528C213-E5FB-45D2-B1EB-E183CB53AB85}"/>
              </a:ext>
            </a:extLst>
          </p:cNvPr>
          <p:cNvSpPr>
            <a:spLocks noGrp="1"/>
          </p:cNvSpPr>
          <p:nvPr/>
        </p:nvSpPr>
        <p:spPr>
          <a:xfrm>
            <a:off x="7658100" y="3657600"/>
            <a:ext cx="97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C01AAC-9529-499B-ABBE-9BBDA650A3B3}"/>
              </a:ext>
            </a:extLst>
          </p:cNvPr>
          <p:cNvSpPr>
            <a:spLocks noGrp="1"/>
          </p:cNvSpPr>
          <p:nvPr/>
        </p:nvSpPr>
        <p:spPr>
          <a:xfrm>
            <a:off x="8763000" y="361950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EAA05EF-3A49-4008-AA8A-BC434FAAEF42}"/>
              </a:ext>
            </a:extLst>
          </p:cNvPr>
          <p:cNvSpPr>
            <a:spLocks noGrp="1"/>
          </p:cNvSpPr>
          <p:nvPr/>
        </p:nvSpPr>
        <p:spPr>
          <a:xfrm>
            <a:off x="8972550" y="3600450"/>
            <a:ext cx="1162050" cy="323850"/>
          </a:xfrm>
          <a:prstGeom prst="rect">
            <a:avLst/>
          </a:prstGeom>
          <a:solidFill>
            <a:srgbClr val="D71920"/>
          </a:solidFill>
          <a:ln w="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B8DE29C-3EFE-478E-A463-FC9CFC89F496}"/>
              </a:ext>
            </a:extLst>
          </p:cNvPr>
          <p:cNvSpPr>
            <a:spLocks noGrp="1"/>
          </p:cNvSpPr>
          <p:nvPr/>
        </p:nvSpPr>
        <p:spPr>
          <a:xfrm>
            <a:off x="9067800" y="3657600"/>
            <a:ext cx="97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guardrail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B16B55E-9564-4ADF-B6AE-386B7318D09E}"/>
              </a:ext>
            </a:extLst>
          </p:cNvPr>
          <p:cNvSpPr>
            <a:spLocks noGrp="1"/>
          </p:cNvSpPr>
          <p:nvPr/>
        </p:nvSpPr>
        <p:spPr>
          <a:xfrm>
            <a:off x="647700" y="45148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Model validator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7C4D776-52A3-49F4-A30E-73A5DDA5E2C2}"/>
              </a:ext>
            </a:extLst>
          </p:cNvPr>
          <p:cNvSpPr>
            <a:spLocks noGrp="1"/>
          </p:cNvSpPr>
          <p:nvPr/>
        </p:nvSpPr>
        <p:spPr>
          <a:xfrm>
            <a:off x="647700" y="4781550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Model caveats and controls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83F8E05-60CB-4A1D-8773-1613D2927FA2}"/>
              </a:ext>
            </a:extLst>
          </p:cNvPr>
          <p:cNvSpPr>
            <a:spLocks noGrp="1"/>
          </p:cNvSpPr>
          <p:nvPr/>
        </p:nvSpPr>
        <p:spPr>
          <a:xfrm>
            <a:off x="3333750" y="4552950"/>
            <a:ext cx="1162050" cy="323850"/>
          </a:xfrm>
          <a:prstGeom prst="rect">
            <a:avLst/>
          </a:prstGeom>
          <a:solidFill>
            <a:srgbClr val="14213D"/>
          </a:solidFill>
          <a:ln w="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AF99E21-03C4-454E-B09B-15C13902ED71}"/>
              </a:ext>
            </a:extLst>
          </p:cNvPr>
          <p:cNvSpPr>
            <a:spLocks noGrp="1"/>
          </p:cNvSpPr>
          <p:nvPr/>
        </p:nvSpPr>
        <p:spPr>
          <a:xfrm>
            <a:off x="3429000" y="4610100"/>
            <a:ext cx="97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C7448B-A30A-4C13-A73E-5448BBEDA5E0}"/>
              </a:ext>
            </a:extLst>
          </p:cNvPr>
          <p:cNvSpPr>
            <a:spLocks noGrp="1"/>
          </p:cNvSpPr>
          <p:nvPr/>
        </p:nvSpPr>
        <p:spPr>
          <a:xfrm>
            <a:off x="4533900" y="457200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99798C6-2428-430E-AFF9-D48802EA0840}"/>
              </a:ext>
            </a:extLst>
          </p:cNvPr>
          <p:cNvSpPr>
            <a:spLocks noGrp="1"/>
          </p:cNvSpPr>
          <p:nvPr/>
        </p:nvSpPr>
        <p:spPr>
          <a:xfrm>
            <a:off x="4743450" y="4552950"/>
            <a:ext cx="1162050" cy="323850"/>
          </a:xfrm>
          <a:prstGeom prst="rect">
            <a:avLst/>
          </a:prstGeom>
          <a:solidFill>
            <a:srgbClr val="14213D"/>
          </a:solidFill>
          <a:ln w="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7BA7BBC-215E-4829-8802-7D287944C7D6}"/>
              </a:ext>
            </a:extLst>
          </p:cNvPr>
          <p:cNvSpPr>
            <a:spLocks noGrp="1"/>
          </p:cNvSpPr>
          <p:nvPr/>
        </p:nvSpPr>
        <p:spPr>
          <a:xfrm>
            <a:off x="4838700" y="4610100"/>
            <a:ext cx="97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CB5CDD6-F0F0-4380-A2A1-B32D98DDBF7C}"/>
              </a:ext>
            </a:extLst>
          </p:cNvPr>
          <p:cNvSpPr>
            <a:spLocks noGrp="1"/>
          </p:cNvSpPr>
          <p:nvPr/>
        </p:nvSpPr>
        <p:spPr>
          <a:xfrm>
            <a:off x="5943600" y="457200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80B5AEF-ACC9-4D89-8047-DAD42C5D8165}"/>
              </a:ext>
            </a:extLst>
          </p:cNvPr>
          <p:cNvSpPr>
            <a:spLocks noGrp="1"/>
          </p:cNvSpPr>
          <p:nvPr/>
        </p:nvSpPr>
        <p:spPr>
          <a:xfrm>
            <a:off x="6153150" y="4552950"/>
            <a:ext cx="1162050" cy="323850"/>
          </a:xfrm>
          <a:prstGeom prst="rect">
            <a:avLst/>
          </a:prstGeom>
          <a:solidFill>
            <a:srgbClr val="14213D"/>
          </a:solidFill>
          <a:ln w="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65D7DFF-03FA-425E-BDF9-22115284D161}"/>
              </a:ext>
            </a:extLst>
          </p:cNvPr>
          <p:cNvSpPr>
            <a:spLocks noGrp="1"/>
          </p:cNvSpPr>
          <p:nvPr/>
        </p:nvSpPr>
        <p:spPr>
          <a:xfrm>
            <a:off x="6248400" y="4610100"/>
            <a:ext cx="97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7674B09-2A63-4DAD-B5CB-CFE1B01D2130}"/>
              </a:ext>
            </a:extLst>
          </p:cNvPr>
          <p:cNvSpPr>
            <a:spLocks noGrp="1"/>
          </p:cNvSpPr>
          <p:nvPr/>
        </p:nvSpPr>
        <p:spPr>
          <a:xfrm>
            <a:off x="7353300" y="457200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4673B39-0600-4054-B76B-3EB63B24D72D}"/>
              </a:ext>
            </a:extLst>
          </p:cNvPr>
          <p:cNvSpPr>
            <a:spLocks noGrp="1"/>
          </p:cNvSpPr>
          <p:nvPr/>
        </p:nvSpPr>
        <p:spPr>
          <a:xfrm>
            <a:off x="7562850" y="4552950"/>
            <a:ext cx="1162050" cy="323850"/>
          </a:xfrm>
          <a:prstGeom prst="rect">
            <a:avLst/>
          </a:prstGeom>
          <a:solidFill>
            <a:srgbClr val="14213D"/>
          </a:solidFill>
          <a:ln w="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19117BF-8E41-4107-AD32-577D2914E5CB}"/>
              </a:ext>
            </a:extLst>
          </p:cNvPr>
          <p:cNvSpPr>
            <a:spLocks noGrp="1"/>
          </p:cNvSpPr>
          <p:nvPr/>
        </p:nvSpPr>
        <p:spPr>
          <a:xfrm>
            <a:off x="7658100" y="4610100"/>
            <a:ext cx="97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judge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24714F3-0558-4855-A6E0-92F260661054}"/>
              </a:ext>
            </a:extLst>
          </p:cNvPr>
          <p:cNvSpPr>
            <a:spLocks noGrp="1"/>
          </p:cNvSpPr>
          <p:nvPr/>
        </p:nvSpPr>
        <p:spPr>
          <a:xfrm>
            <a:off x="8763000" y="457200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81A6295-8131-4C64-9D03-942790034670}"/>
              </a:ext>
            </a:extLst>
          </p:cNvPr>
          <p:cNvSpPr>
            <a:spLocks noGrp="1"/>
          </p:cNvSpPr>
          <p:nvPr/>
        </p:nvSpPr>
        <p:spPr>
          <a:xfrm>
            <a:off x="8972550" y="4552950"/>
            <a:ext cx="1162050" cy="323850"/>
          </a:xfrm>
          <a:prstGeom prst="rect">
            <a:avLst/>
          </a:prstGeom>
          <a:solidFill>
            <a:srgbClr val="D71920"/>
          </a:solidFill>
          <a:ln w="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6753E1F-6CCC-457C-9B35-A490C341FF84}"/>
              </a:ext>
            </a:extLst>
          </p:cNvPr>
          <p:cNvSpPr>
            <a:spLocks noGrp="1"/>
          </p:cNvSpPr>
          <p:nvPr/>
        </p:nvSpPr>
        <p:spPr>
          <a:xfrm>
            <a:off x="9067800" y="4610100"/>
            <a:ext cx="97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guardrail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02435A9-1218-4A40-92DB-B1382EEF6253}"/>
              </a:ext>
            </a:extLst>
          </p:cNvPr>
          <p:cNvSpPr>
            <a:spLocks noGrp="1"/>
          </p:cNvSpPr>
          <p:nvPr/>
        </p:nvSpPr>
        <p:spPr>
          <a:xfrm>
            <a:off x="7810500" y="1352550"/>
            <a:ext cx="3200400" cy="876300"/>
          </a:xfrm>
          <a:prstGeom prst="rect">
            <a:avLst/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2B5FBD8-E06B-4D4B-A881-5F97428F552E}"/>
              </a:ext>
            </a:extLst>
          </p:cNvPr>
          <p:cNvSpPr>
            <a:spLocks noGrp="1"/>
          </p:cNvSpPr>
          <p:nvPr/>
        </p:nvSpPr>
        <p:spPr>
          <a:xfrm>
            <a:off x="7981950" y="15049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Technical note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4415362-AAE7-480C-A2ED-C4E05B6D3E04}"/>
              </a:ext>
            </a:extLst>
          </p:cNvPr>
          <p:cNvSpPr>
            <a:spLocks noGrp="1"/>
          </p:cNvSpPr>
          <p:nvPr/>
        </p:nvSpPr>
        <p:spPr>
          <a:xfrm>
            <a:off x="7981950" y="1828800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Partial-agent execution reduces latency and exposure; role permissions still apply.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FD1EF38-C498-4A21-947F-74B690D8F758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Source: docs/AGENTS_AND_WORKFLOWS.md and docs/ARCHITECTURE.md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0980500-99D1-4D6F-817B-13ECBF74597A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9657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96574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00409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7DC93AE4-987E-4FE3-BD31-1C29F1B358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F7F3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73F9A0E0-0758-4B21-BBE6-23B1199BA6C5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90500" cy="38100"/>
          </a:xfrm>
          <a:prstGeom prst="rect">
            <a:avLst/>
          </a:prstGeom>
          <a:solidFill>
            <a:srgbClr val="D71920"/>
          </a:solidFill>
          <a:ln w="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98CFEE44-A866-4055-A0FE-EBB587BC65BF}"/>
              </a:ext>
            </a:extLst>
          </p:cNvPr>
          <p:cNvSpPr>
            <a:spLocks noGrp="1"/>
          </p:cNvSpPr>
          <p:nvPr/>
        </p:nvSpPr>
        <p:spPr>
          <a:xfrm>
            <a:off x="838200" y="4000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RUNTIME ARCHITECTURE</a:t>
            </a:r>
          </a:p>
        </p:txBody>
      </p:sp>
      <p:sp>
        <p:nvSpPr>
          <p:cNvPr id="4" name="claim-title">
            <a:extLst>
              <a:ext uri="{FF2B5EF4-FFF2-40B4-BE49-F238E27FC236}">
                <a16:creationId xmlns:a16="http://schemas.microsoft.com/office/drawing/2014/main" id="{49055E20-A7F8-43C9-ABB8-FB2A5D4753ED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572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FastAPI builds a dynamic LangGraph-compatible execution path per request.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1F6F77-1634-4426-8CBB-0280C4B3E09B}"/>
              </a:ext>
            </a:extLst>
          </p:cNvPr>
          <p:cNvSpPr>
            <a:spLocks noGrp="1"/>
          </p:cNvSpPr>
          <p:nvPr/>
        </p:nvSpPr>
        <p:spPr>
          <a:xfrm>
            <a:off x="571500" y="1581150"/>
            <a:ext cx="971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1275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The implementation is modular: frontend request, backend policy, route resolution, selected graph execution, service calls, judge scoring, and final guardrail review.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9CB578-0AC6-4CA4-988A-F57AF4F86DB6}"/>
              </a:ext>
            </a:extLst>
          </p:cNvPr>
          <p:cNvSpPr>
            <a:spLocks noGrp="1"/>
          </p:cNvSpPr>
          <p:nvPr/>
        </p:nvSpPr>
        <p:spPr>
          <a:xfrm>
            <a:off x="666750" y="2514600"/>
            <a:ext cx="16383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CCF612-4895-4F77-B5DB-63DDAE6831F4}"/>
              </a:ext>
            </a:extLst>
          </p:cNvPr>
          <p:cNvSpPr>
            <a:spLocks noGrp="1"/>
          </p:cNvSpPr>
          <p:nvPr/>
        </p:nvSpPr>
        <p:spPr>
          <a:xfrm>
            <a:off x="838200" y="2667000"/>
            <a:ext cx="1295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Next.js UI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4F44E4-B442-40A9-BFD5-92E4893AF5FD}"/>
              </a:ext>
            </a:extLst>
          </p:cNvPr>
          <p:cNvSpPr>
            <a:spLocks noGrp="1"/>
          </p:cNvSpPr>
          <p:nvPr/>
        </p:nvSpPr>
        <p:spPr>
          <a:xfrm>
            <a:off x="838200" y="2990850"/>
            <a:ext cx="12954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role, task,</a:t>
            </a:r>
          </a:p>
          <a:p>
            <a:pPr algn="l">
              <a:defRPr sz="1125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query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EAB534-7D2E-4AE7-9F60-FC9898165602}"/>
              </a:ext>
            </a:extLst>
          </p:cNvPr>
          <p:cNvSpPr>
            <a:spLocks noGrp="1"/>
          </p:cNvSpPr>
          <p:nvPr/>
        </p:nvSpPr>
        <p:spPr>
          <a:xfrm>
            <a:off x="2457450" y="280035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090738-6347-491F-8B86-352C5E0DE148}"/>
              </a:ext>
            </a:extLst>
          </p:cNvPr>
          <p:cNvSpPr>
            <a:spLocks noGrp="1"/>
          </p:cNvSpPr>
          <p:nvPr/>
        </p:nvSpPr>
        <p:spPr>
          <a:xfrm>
            <a:off x="2876550" y="2514600"/>
            <a:ext cx="16383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96B917-02F5-4355-887D-AA74C25F2C8D}"/>
              </a:ext>
            </a:extLst>
          </p:cNvPr>
          <p:cNvSpPr>
            <a:spLocks noGrp="1"/>
          </p:cNvSpPr>
          <p:nvPr/>
        </p:nvSpPr>
        <p:spPr>
          <a:xfrm>
            <a:off x="3048000" y="2667000"/>
            <a:ext cx="1295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390477-4A4B-4028-A08D-FEE27798ACB1}"/>
              </a:ext>
            </a:extLst>
          </p:cNvPr>
          <p:cNvSpPr>
            <a:spLocks noGrp="1"/>
          </p:cNvSpPr>
          <p:nvPr/>
        </p:nvSpPr>
        <p:spPr>
          <a:xfrm>
            <a:off x="3048000" y="2990850"/>
            <a:ext cx="12954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POST /analysis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119FC1-1091-4461-B97D-F07C7834BF2C}"/>
              </a:ext>
            </a:extLst>
          </p:cNvPr>
          <p:cNvSpPr>
            <a:spLocks noGrp="1"/>
          </p:cNvSpPr>
          <p:nvPr/>
        </p:nvSpPr>
        <p:spPr>
          <a:xfrm>
            <a:off x="4667250" y="280035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A9A305-F064-4460-B4C7-4D20CBA0FBA3}"/>
              </a:ext>
            </a:extLst>
          </p:cNvPr>
          <p:cNvSpPr>
            <a:spLocks noGrp="1"/>
          </p:cNvSpPr>
          <p:nvPr/>
        </p:nvSpPr>
        <p:spPr>
          <a:xfrm>
            <a:off x="5086350" y="2514600"/>
            <a:ext cx="16383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AA69B1-0413-4D8D-9DCC-FDD86270B1F3}"/>
              </a:ext>
            </a:extLst>
          </p:cNvPr>
          <p:cNvSpPr>
            <a:spLocks noGrp="1"/>
          </p:cNvSpPr>
          <p:nvPr/>
        </p:nvSpPr>
        <p:spPr>
          <a:xfrm>
            <a:off x="5257800" y="2667000"/>
            <a:ext cx="1295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Policy + Router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4FAC1A-FE59-4136-8D23-9C47646F8362}"/>
              </a:ext>
            </a:extLst>
          </p:cNvPr>
          <p:cNvSpPr>
            <a:spLocks noGrp="1"/>
          </p:cNvSpPr>
          <p:nvPr/>
        </p:nvSpPr>
        <p:spPr>
          <a:xfrm>
            <a:off x="5257800" y="2990850"/>
            <a:ext cx="12954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guardrails +</a:t>
            </a:r>
          </a:p>
          <a:p>
            <a:pPr algn="l">
              <a:defRPr sz="1125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permissions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FC2F64-4BFD-4A48-8191-0630EDE8D2CA}"/>
              </a:ext>
            </a:extLst>
          </p:cNvPr>
          <p:cNvSpPr>
            <a:spLocks noGrp="1"/>
          </p:cNvSpPr>
          <p:nvPr/>
        </p:nvSpPr>
        <p:spPr>
          <a:xfrm>
            <a:off x="6877050" y="280035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9F5A87-F599-40AD-BF6A-93D2004A7F76}"/>
              </a:ext>
            </a:extLst>
          </p:cNvPr>
          <p:cNvSpPr>
            <a:spLocks noGrp="1"/>
          </p:cNvSpPr>
          <p:nvPr/>
        </p:nvSpPr>
        <p:spPr>
          <a:xfrm>
            <a:off x="7296150" y="2514600"/>
            <a:ext cx="1638300" cy="1066800"/>
          </a:xfrm>
          <a:prstGeom prst="rect">
            <a:avLst/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584FBF-79BF-4660-8839-FFEC3F36B672}"/>
              </a:ext>
            </a:extLst>
          </p:cNvPr>
          <p:cNvSpPr>
            <a:spLocks noGrp="1"/>
          </p:cNvSpPr>
          <p:nvPr/>
        </p:nvSpPr>
        <p:spPr>
          <a:xfrm>
            <a:off x="7467600" y="2667000"/>
            <a:ext cx="1295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Dynamic graph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64A9D4-795B-4214-B51E-CF1A64312526}"/>
              </a:ext>
            </a:extLst>
          </p:cNvPr>
          <p:cNvSpPr>
            <a:spLocks noGrp="1"/>
          </p:cNvSpPr>
          <p:nvPr/>
        </p:nvSpPr>
        <p:spPr>
          <a:xfrm>
            <a:off x="7467600" y="2990850"/>
            <a:ext cx="12954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selected agent</a:t>
            </a:r>
          </a:p>
          <a:p>
            <a:pPr algn="l">
              <a:defRPr sz="1125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subgraph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3FB0DC-E98F-459D-A978-3D4AA8089F0E}"/>
              </a:ext>
            </a:extLst>
          </p:cNvPr>
          <p:cNvSpPr>
            <a:spLocks noGrp="1"/>
          </p:cNvSpPr>
          <p:nvPr/>
        </p:nvSpPr>
        <p:spPr>
          <a:xfrm>
            <a:off x="9086850" y="280035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A85AAF-EADF-4A22-900B-E3B896E59362}"/>
              </a:ext>
            </a:extLst>
          </p:cNvPr>
          <p:cNvSpPr>
            <a:spLocks noGrp="1"/>
          </p:cNvSpPr>
          <p:nvPr/>
        </p:nvSpPr>
        <p:spPr>
          <a:xfrm>
            <a:off x="9505950" y="2514600"/>
            <a:ext cx="16383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47775F-6A31-4D9E-AFB5-5A6C7023353F}"/>
              </a:ext>
            </a:extLst>
          </p:cNvPr>
          <p:cNvSpPr>
            <a:spLocks noGrp="1"/>
          </p:cNvSpPr>
          <p:nvPr/>
        </p:nvSpPr>
        <p:spPr>
          <a:xfrm>
            <a:off x="9677400" y="2667000"/>
            <a:ext cx="1295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Final package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979FBC-C993-4DB7-B629-82B8632494CC}"/>
              </a:ext>
            </a:extLst>
          </p:cNvPr>
          <p:cNvSpPr>
            <a:spLocks noGrp="1"/>
          </p:cNvSpPr>
          <p:nvPr/>
        </p:nvSpPr>
        <p:spPr>
          <a:xfrm>
            <a:off x="9677400" y="2990850"/>
            <a:ext cx="12954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report + scores</a:t>
            </a:r>
          </a:p>
          <a:p>
            <a:pPr algn="l">
              <a:defRPr sz="1125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+ audit trace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F0AAEE-A285-4CA8-9573-C201DF08C313}"/>
              </a:ext>
            </a:extLst>
          </p:cNvPr>
          <p:cNvSpPr>
            <a:spLocks noGrp="1"/>
          </p:cNvSpPr>
          <p:nvPr/>
        </p:nvSpPr>
        <p:spPr>
          <a:xfrm>
            <a:off x="800100" y="4305300"/>
            <a:ext cx="2266950" cy="933450"/>
          </a:xfrm>
          <a:prstGeom prst="rect">
            <a:avLst/>
          </a:prstGeom>
          <a:solidFill>
            <a:srgbClr val="EEE7DB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B5CC47E-7BAE-4DD6-A9DA-DA0B99722068}"/>
              </a:ext>
            </a:extLst>
          </p:cNvPr>
          <p:cNvSpPr>
            <a:spLocks noGrp="1"/>
          </p:cNvSpPr>
          <p:nvPr/>
        </p:nvSpPr>
        <p:spPr>
          <a:xfrm>
            <a:off x="971550" y="4457700"/>
            <a:ext cx="1924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DataService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91811A9-D3C8-4906-8D11-9F76F99BA5C1}"/>
              </a:ext>
            </a:extLst>
          </p:cNvPr>
          <p:cNvSpPr>
            <a:spLocks noGrp="1"/>
          </p:cNvSpPr>
          <p:nvPr/>
        </p:nvSpPr>
        <p:spPr>
          <a:xfrm>
            <a:off x="971550" y="4781550"/>
            <a:ext cx="1924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transactions, features, network summaries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6C6212-D813-4D6A-9E19-2640AE4AF4B0}"/>
              </a:ext>
            </a:extLst>
          </p:cNvPr>
          <p:cNvSpPr>
            <a:spLocks noGrp="1"/>
          </p:cNvSpPr>
          <p:nvPr/>
        </p:nvSpPr>
        <p:spPr>
          <a:xfrm>
            <a:off x="3524250" y="4305300"/>
            <a:ext cx="2266950" cy="933450"/>
          </a:xfrm>
          <a:prstGeom prst="rect">
            <a:avLst/>
          </a:prstGeom>
          <a:solidFill>
            <a:srgbClr val="EEE7DB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BABBA03-CB9B-446B-AD78-5A01767F8C9E}"/>
              </a:ext>
            </a:extLst>
          </p:cNvPr>
          <p:cNvSpPr>
            <a:spLocks noGrp="1"/>
          </p:cNvSpPr>
          <p:nvPr/>
        </p:nvSpPr>
        <p:spPr>
          <a:xfrm>
            <a:off x="3695700" y="4457700"/>
            <a:ext cx="1924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ModelService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7FFC461-09A6-4AB9-8E29-D5201D7E69DF}"/>
              </a:ext>
            </a:extLst>
          </p:cNvPr>
          <p:cNvSpPr>
            <a:spLocks noGrp="1"/>
          </p:cNvSpPr>
          <p:nvPr/>
        </p:nvSpPr>
        <p:spPr>
          <a:xfrm>
            <a:off x="3695700" y="4781550"/>
            <a:ext cx="1924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offline anomaly scorer when artifacts exist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E1E3158-2E1E-4B47-A711-9C8E263CB86C}"/>
              </a:ext>
            </a:extLst>
          </p:cNvPr>
          <p:cNvSpPr>
            <a:spLocks noGrp="1"/>
          </p:cNvSpPr>
          <p:nvPr/>
        </p:nvSpPr>
        <p:spPr>
          <a:xfrm>
            <a:off x="6248400" y="4305300"/>
            <a:ext cx="2266950" cy="933450"/>
          </a:xfrm>
          <a:prstGeom prst="rect">
            <a:avLst/>
          </a:prstGeom>
          <a:solidFill>
            <a:srgbClr val="EEE7DB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2102C86-CB57-4106-8318-B0BEA8EF0EB1}"/>
              </a:ext>
            </a:extLst>
          </p:cNvPr>
          <p:cNvSpPr>
            <a:spLocks noGrp="1"/>
          </p:cNvSpPr>
          <p:nvPr/>
        </p:nvSpPr>
        <p:spPr>
          <a:xfrm>
            <a:off x="6419850" y="4457700"/>
            <a:ext cx="1924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KnowledgeRetriever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83B781D-2A75-4FFF-90BE-2CD738A0598E}"/>
              </a:ext>
            </a:extLst>
          </p:cNvPr>
          <p:cNvSpPr>
            <a:spLocks noGrp="1"/>
          </p:cNvSpPr>
          <p:nvPr/>
        </p:nvSpPr>
        <p:spPr>
          <a:xfrm>
            <a:off x="6419850" y="4781550"/>
            <a:ext cx="1924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PostgreSQL / pgvector RAG chunks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7F6FD7C-CEA6-4705-8E81-E165E2F1A81E}"/>
              </a:ext>
            </a:extLst>
          </p:cNvPr>
          <p:cNvSpPr>
            <a:spLocks noGrp="1"/>
          </p:cNvSpPr>
          <p:nvPr/>
        </p:nvSpPr>
        <p:spPr>
          <a:xfrm>
            <a:off x="8972550" y="4305300"/>
            <a:ext cx="2266950" cy="933450"/>
          </a:xfrm>
          <a:prstGeom prst="rect">
            <a:avLst/>
          </a:prstGeom>
          <a:solidFill>
            <a:srgbClr val="EEE7DB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05B9B7C-FE99-41ED-B3DC-A8878983727D}"/>
              </a:ext>
            </a:extLst>
          </p:cNvPr>
          <p:cNvSpPr>
            <a:spLocks noGrp="1"/>
          </p:cNvSpPr>
          <p:nvPr/>
        </p:nvSpPr>
        <p:spPr>
          <a:xfrm>
            <a:off x="9144000" y="4457700"/>
            <a:ext cx="1924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LLMClient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51BD8A9-8814-4D2C-9C0E-92108665D89E}"/>
              </a:ext>
            </a:extLst>
          </p:cNvPr>
          <p:cNvSpPr>
            <a:spLocks noGrp="1"/>
          </p:cNvSpPr>
          <p:nvPr/>
        </p:nvSpPr>
        <p:spPr>
          <a:xfrm>
            <a:off x="9144000" y="4781550"/>
            <a:ext cx="1924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mock or OpenAI-compatible endpoint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79095AE-2028-41F6-AE81-8BD3B4729595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Source: docs/ARCHITECTURE.md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9345EB-2D73-4DCE-9F88-723A44D6F14A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9657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96574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86896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82E9232-B81F-4F52-9D9B-B6033D48A3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13D"/>
          </a:solidFill>
          <a:ln w="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1D5C3A82-2AA5-4C56-9B5C-F666CDA3E856}"/>
              </a:ext>
            </a:extLst>
          </p:cNvPr>
          <p:cNvSpPr>
            <a:spLocks noGrp="1"/>
          </p:cNvSpPr>
          <p:nvPr/>
        </p:nvSpPr>
        <p:spPr>
          <a:xfrm>
            <a:off x="571500" y="495300"/>
            <a:ext cx="190500" cy="38100"/>
          </a:xfrm>
          <a:prstGeom prst="rect">
            <a:avLst/>
          </a:prstGeom>
          <a:solidFill>
            <a:srgbClr val="F5B642"/>
          </a:solidFill>
          <a:ln w="0">
            <a:solidFill>
              <a:srgbClr val="F5B642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A4E030E3-5CE8-4139-8A5E-52A4C0D38BDE}"/>
              </a:ext>
            </a:extLst>
          </p:cNvPr>
          <p:cNvSpPr>
            <a:spLocks noGrp="1"/>
          </p:cNvSpPr>
          <p:nvPr/>
        </p:nvSpPr>
        <p:spPr>
          <a:xfrm>
            <a:off x="857250" y="4000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5B64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B642"/>
                </a:solidFill>
                <a:latin typeface="Aptos"/>
                <a:ea typeface="Aptos"/>
                <a:cs typeface="Aptos"/>
              </a:rPr>
              <a:t>GOVERNANCE BY DESIGN</a:t>
            </a:r>
          </a:p>
        </p:txBody>
      </p:sp>
      <p:sp>
        <p:nvSpPr>
          <p:cNvPr id="4" name="claim-title">
            <a:extLst>
              <a:ext uri="{FF2B5EF4-FFF2-40B4-BE49-F238E27FC236}">
                <a16:creationId xmlns:a16="http://schemas.microsoft.com/office/drawing/2014/main" id="{8FEB179D-8E3A-4C45-A11B-ABD19F3D073B}"/>
              </a:ext>
            </a:extLst>
          </p:cNvPr>
          <p:cNvSpPr>
            <a:spLocks noGrp="1"/>
          </p:cNvSpPr>
          <p:nvPr/>
        </p:nvSpPr>
        <p:spPr>
          <a:xfrm>
            <a:off x="571500" y="80010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Safety and quality checks are built into the execution path.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FE26C5-55D4-409D-AB8E-67A12E6DA599}"/>
              </a:ext>
            </a:extLst>
          </p:cNvPr>
          <p:cNvSpPr>
            <a:spLocks noGrp="1"/>
          </p:cNvSpPr>
          <p:nvPr/>
        </p:nvSpPr>
        <p:spPr>
          <a:xfrm>
            <a:off x="590550" y="1866900"/>
            <a:ext cx="8191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1350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The system is designed to fail loud when claims are unsupported, unsafe, or not traceable.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AE6BEC-13F1-4D0F-8E6A-0944520D2E5E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6477000" cy="704850"/>
          </a:xfrm>
          <a:prstGeom prst="rect">
            <a:avLst/>
          </a:prstGeom>
          <a:solidFill>
            <a:srgbClr val="203351"/>
          </a:solidFill>
          <a:ln w="9525">
            <a:solidFill>
              <a:srgbClr val="4A5C7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9EA510-B938-4AB1-BDAA-9CC0D6A6CFF8}"/>
              </a:ext>
            </a:extLst>
          </p:cNvPr>
          <p:cNvSpPr>
            <a:spLocks noGrp="1"/>
          </p:cNvSpPr>
          <p:nvPr/>
        </p:nvSpPr>
        <p:spPr>
          <a:xfrm>
            <a:off x="971550" y="2438400"/>
            <a:ext cx="6134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 guardrails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2D8FE7-771E-409A-A8E2-A3C0B4D12221}"/>
              </a:ext>
            </a:extLst>
          </p:cNvPr>
          <p:cNvSpPr>
            <a:spLocks noGrp="1"/>
          </p:cNvSpPr>
          <p:nvPr/>
        </p:nvSpPr>
        <p:spPr>
          <a:xfrm>
            <a:off x="971550" y="2762250"/>
            <a:ext cx="6134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Block unsafe requests before routing.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C56ADB-E65E-4957-B004-EF10F89C9050}"/>
              </a:ext>
            </a:extLst>
          </p:cNvPr>
          <p:cNvSpPr>
            <a:spLocks noGrp="1"/>
          </p:cNvSpPr>
          <p:nvPr/>
        </p:nvSpPr>
        <p:spPr>
          <a:xfrm>
            <a:off x="800100" y="3124200"/>
            <a:ext cx="6477000" cy="704850"/>
          </a:xfrm>
          <a:prstGeom prst="rect">
            <a:avLst/>
          </a:prstGeom>
          <a:solidFill>
            <a:srgbClr val="203351"/>
          </a:solidFill>
          <a:ln w="9525">
            <a:solidFill>
              <a:srgbClr val="4A5C7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AE0B60-8B77-40EA-99F2-F891977FA7A4}"/>
              </a:ext>
            </a:extLst>
          </p:cNvPr>
          <p:cNvSpPr>
            <a:spLocks noGrp="1"/>
          </p:cNvSpPr>
          <p:nvPr/>
        </p:nvSpPr>
        <p:spPr>
          <a:xfrm>
            <a:off x="971550" y="3276600"/>
            <a:ext cx="6134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Typed agent outputs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DE7F1E-A432-4780-A1A9-254AA5618AD0}"/>
              </a:ext>
            </a:extLst>
          </p:cNvPr>
          <p:cNvSpPr>
            <a:spLocks noGrp="1"/>
          </p:cNvSpPr>
          <p:nvPr/>
        </p:nvSpPr>
        <p:spPr>
          <a:xfrm>
            <a:off x="971550" y="3600450"/>
            <a:ext cx="6134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Pydantic schemas reduce loose LLM prose.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E87A9C-4845-4FC7-BAC2-21D66F9A8B09}"/>
              </a:ext>
            </a:extLst>
          </p:cNvPr>
          <p:cNvSpPr>
            <a:spLocks noGrp="1"/>
          </p:cNvSpPr>
          <p:nvPr/>
        </p:nvSpPr>
        <p:spPr>
          <a:xfrm>
            <a:off x="800100" y="3962400"/>
            <a:ext cx="6477000" cy="704850"/>
          </a:xfrm>
          <a:prstGeom prst="rect">
            <a:avLst/>
          </a:prstGeom>
          <a:solidFill>
            <a:srgbClr val="F5B642"/>
          </a:solidFill>
          <a:ln w="9525">
            <a:solidFill>
              <a:srgbClr val="F5B642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0981CC-0DA5-4172-B71B-46AF77D75E23}"/>
              </a:ext>
            </a:extLst>
          </p:cNvPr>
          <p:cNvSpPr>
            <a:spLocks noGrp="1"/>
          </p:cNvSpPr>
          <p:nvPr/>
        </p:nvSpPr>
        <p:spPr>
          <a:xfrm>
            <a:off x="971550" y="4114800"/>
            <a:ext cx="6134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Judge panel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074054-9107-4316-8565-CE17BA9A05E8}"/>
              </a:ext>
            </a:extLst>
          </p:cNvPr>
          <p:cNvSpPr>
            <a:spLocks noGrp="1"/>
          </p:cNvSpPr>
          <p:nvPr/>
        </p:nvSpPr>
        <p:spPr>
          <a:xfrm>
            <a:off x="971550" y="4438650"/>
            <a:ext cx="6134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Scores faithfulness, citations, compliance, typology wording, data science quality, and usefulness.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5B968E-2AA3-4E4A-BC50-7740AECC717B}"/>
              </a:ext>
            </a:extLst>
          </p:cNvPr>
          <p:cNvSpPr>
            <a:spLocks noGrp="1"/>
          </p:cNvSpPr>
          <p:nvPr/>
        </p:nvSpPr>
        <p:spPr>
          <a:xfrm>
            <a:off x="800100" y="4800600"/>
            <a:ext cx="6477000" cy="704850"/>
          </a:xfrm>
          <a:prstGeom prst="rect">
            <a:avLst/>
          </a:prstGeom>
          <a:solidFill>
            <a:srgbClr val="203351"/>
          </a:solidFill>
          <a:ln w="9525">
            <a:solidFill>
              <a:srgbClr val="4A5C7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CA8716-B164-40E8-B512-836A335B5874}"/>
              </a:ext>
            </a:extLst>
          </p:cNvPr>
          <p:cNvSpPr>
            <a:spLocks noGrp="1"/>
          </p:cNvSpPr>
          <p:nvPr/>
        </p:nvSpPr>
        <p:spPr>
          <a:xfrm>
            <a:off x="971550" y="4953000"/>
            <a:ext cx="6134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 guardrails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B228F1-D213-43CA-80AB-79BDE45EFFA4}"/>
              </a:ext>
            </a:extLst>
          </p:cNvPr>
          <p:cNvSpPr>
            <a:spLocks noGrp="1"/>
          </p:cNvSpPr>
          <p:nvPr/>
        </p:nvSpPr>
        <p:spPr>
          <a:xfrm>
            <a:off x="971550" y="5276850"/>
            <a:ext cx="6134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Catch prohibited certainty language, unsupported typology claims, citation risk, and PII.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1D9D9E-1669-4E86-A213-CA2FFD4BAC74}"/>
              </a:ext>
            </a:extLst>
          </p:cNvPr>
          <p:cNvSpPr>
            <a:spLocks noGrp="1"/>
          </p:cNvSpPr>
          <p:nvPr/>
        </p:nvSpPr>
        <p:spPr>
          <a:xfrm>
            <a:off x="8001000" y="2533650"/>
            <a:ext cx="2857500" cy="1181100"/>
          </a:xfrm>
          <a:prstGeom prst="rect">
            <a:avLst/>
          </a:prstGeom>
          <a:solidFill>
            <a:srgbClr val="F7F3EA"/>
          </a:solidFill>
          <a:ln w="9525">
            <a:solidFill>
              <a:srgbClr val="F5B642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2B8C4C-A1D5-49D7-8466-BFBEB33A41D7}"/>
              </a:ext>
            </a:extLst>
          </p:cNvPr>
          <p:cNvSpPr>
            <a:spLocks noGrp="1"/>
          </p:cNvSpPr>
          <p:nvPr/>
        </p:nvSpPr>
        <p:spPr>
          <a:xfrm>
            <a:off x="8172450" y="2686050"/>
            <a:ext cx="2514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Audit surface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4DD049-9961-42A1-BE1B-80DCA53B98CB}"/>
              </a:ext>
            </a:extLst>
          </p:cNvPr>
          <p:cNvSpPr>
            <a:spLocks noGrp="1"/>
          </p:cNvSpPr>
          <p:nvPr/>
        </p:nvSpPr>
        <p:spPr>
          <a:xfrm>
            <a:off x="8172450" y="3009900"/>
            <a:ext cx="25146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run_id, executed_agents, route_explanation, judge_scores, guardrail_status, audit_trace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2CCDE3-F7E0-4F78-940E-22C00C938B18}"/>
              </a:ext>
            </a:extLst>
          </p:cNvPr>
          <p:cNvSpPr>
            <a:spLocks noGrp="1"/>
          </p:cNvSpPr>
          <p:nvPr/>
        </p:nvSpPr>
        <p:spPr>
          <a:xfrm>
            <a:off x="8001000" y="4038600"/>
            <a:ext cx="2857500" cy="933450"/>
          </a:xfrm>
          <a:prstGeom prst="rect">
            <a:avLst/>
          </a:prstGeom>
          <a:solidFill>
            <a:srgbClr val="F7F3EA"/>
          </a:solidFill>
          <a:ln w="9525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F06FE0-5B67-4A2D-87E5-57297152194B}"/>
              </a:ext>
            </a:extLst>
          </p:cNvPr>
          <p:cNvSpPr>
            <a:spLocks noGrp="1"/>
          </p:cNvSpPr>
          <p:nvPr/>
        </p:nvSpPr>
        <p:spPr>
          <a:xfrm>
            <a:off x="8172450" y="4191000"/>
            <a:ext cx="2514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Boundary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CD0951-DB99-480D-B010-AC47C4644462}"/>
              </a:ext>
            </a:extLst>
          </p:cNvPr>
          <p:cNvSpPr>
            <a:spLocks noGrp="1"/>
          </p:cNvSpPr>
          <p:nvPr/>
        </p:nvSpPr>
        <p:spPr>
          <a:xfrm>
            <a:off x="8172450" y="4514850"/>
            <a:ext cx="2514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The system does not confirm criminal activity or direct regulatory filings.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63ABBF-4B49-4A82-9497-21E985522605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Source: system overview, agent workflows, guardrail implementation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E5A50A-963E-4914-918B-4272E0942580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9657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96574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155027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821</Words>
  <Application>Microsoft Macintosh PowerPoint</Application>
  <DocSecurity>0</DocSecurity>
  <PresentationFormat>Widescreen</PresentationFormat>
  <Paragraphs>139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Lai Jason</cp:lastModifiedBy>
  <cp:revision>1</cp:revision>
  <dcterms:created xsi:type="dcterms:W3CDTF">2026-05-27T08:18:39Z</dcterms:created>
  <dcterms:modified xsi:type="dcterms:W3CDTF">2026-05-27T19:23:32Z</dcterms:modified>
</cp:coreProperties>
</file>