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bbdac4bb71e47cb" /><Relationship Type="http://schemas.openxmlformats.org/officeDocument/2006/relationships/extended-properties" Target="/docProps/app.xml" Id="Raa26b486fe8643e0" /><Relationship Type="http://schemas.openxmlformats.org/officeDocument/2006/relationships/officeDocument" Target="/ppt/presentation.xml" Id="R64a9419503d44cab" /></Relationships>
</file>

<file path=ppt/presentation.xml><?xml version="1.0" encoding="utf-8"?>
<p:presentation xmlns:p="http://schemas.openxmlformats.org/presentationml/2006/main">
  <p:sldMasterIdLst>
    <p:sldMasterId xmlns:r="http://schemas.openxmlformats.org/officeDocument/2006/relationships" id="2147483648" r:id="R8f6b499d843b4fdc"/>
  </p:sldMasterIdLst>
  <p:notesMasterIdLst>
    <p:notesMasterId xmlns:r="http://schemas.openxmlformats.org/officeDocument/2006/relationships" r:id="R1d618092cb96462e"/>
  </p:notesMasterIdLst>
  <p:sldIdLst>
    <p:sldId xmlns:r="http://schemas.openxmlformats.org/officeDocument/2006/relationships" id="256" r:id="R70b6df4ee59c41f4"/>
    <p:sldId xmlns:r="http://schemas.openxmlformats.org/officeDocument/2006/relationships" id="257" r:id="Rff29fa4e74ad4db0"/>
    <p:sldId xmlns:r="http://schemas.openxmlformats.org/officeDocument/2006/relationships" id="258" r:id="R99affe1a8aed4613"/>
    <p:sldId xmlns:r="http://schemas.openxmlformats.org/officeDocument/2006/relationships" id="259" r:id="R6c71083b1e4d449a"/>
    <p:sldId xmlns:r="http://schemas.openxmlformats.org/officeDocument/2006/relationships" id="260" r:id="R0cfed9243ab746d2"/>
    <p:sldId xmlns:r="http://schemas.openxmlformats.org/officeDocument/2006/relationships" id="261" r:id="R282c272809c04f6c"/>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8f6b499d843b4fdc" /><Relationship Type="http://schemas.openxmlformats.org/officeDocument/2006/relationships/theme" Target="/ppt/theme/theme1.xml" Id="Rae0b34fca9184cd9" /><Relationship Type="http://schemas.openxmlformats.org/officeDocument/2006/relationships/notesMaster" Target="/ppt/notesMasters/notesMaster1.xml" Id="R1d618092cb96462e" /><Relationship Type="http://schemas.openxmlformats.org/officeDocument/2006/relationships/presProps" Target="/ppt/presProps.xml" Id="Rdc8db4cb09314567" /><Relationship Type="http://schemas.openxmlformats.org/officeDocument/2006/relationships/viewProps" Target="/ppt/viewProps.xml" Id="R8ec569e96a33484a" /><Relationship Type="http://schemas.openxmlformats.org/officeDocument/2006/relationships/tableStyles" Target="/ppt/tableStyles.xml" Id="Rc54ba77cc3a44c3e" /><Relationship Type="http://schemas.openxmlformats.org/officeDocument/2006/relationships/slide" Target="/ppt/slides/slide1.xml" Id="R70b6df4ee59c41f4" /><Relationship Type="http://schemas.openxmlformats.org/officeDocument/2006/relationships/slide" Target="/ppt/slides/slide2.xml" Id="Rff29fa4e74ad4db0" /><Relationship Type="http://schemas.openxmlformats.org/officeDocument/2006/relationships/slide" Target="/ppt/slides/slide3.xml" Id="R99affe1a8aed4613" /><Relationship Type="http://schemas.openxmlformats.org/officeDocument/2006/relationships/slide" Target="/ppt/slides/slide4.xml" Id="R6c71083b1e4d449a" /><Relationship Type="http://schemas.openxmlformats.org/officeDocument/2006/relationships/slide" Target="/ppt/slides/slide5.xml" Id="R0cfed9243ab746d2" /><Relationship Type="http://schemas.openxmlformats.org/officeDocument/2006/relationships/slide" Target="/ppt/slides/slide6.xml" Id="R282c272809c04f6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886412172a0f4d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f58c4a3b7c4259" /><Relationship Type="http://schemas.openxmlformats.org/officeDocument/2006/relationships/notesMaster" Target="/ppt/notesMasters/notesMaster1.xml" Id="Ra3049e9848eb43d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1b7c5e9a51343b6" /><Relationship Type="http://schemas.openxmlformats.org/officeDocument/2006/relationships/notesMaster" Target="/ppt/notesMasters/notesMaster1.xml" Id="R81761b512aa04a68" /></Relationships>
</file>

<file path=ppt/notesSlides/_rels/notesSlide3.xml.rels>&#65279;<?xml version="1.0" encoding="utf-8"?><Relationships xmlns="http://schemas.openxmlformats.org/package/2006/relationships"><Relationship Type="http://schemas.openxmlformats.org/officeDocument/2006/relationships/slide" Target="/ppt/slides/slide3.xml" Id="Rf57e8f33ee47456c" /><Relationship Type="http://schemas.openxmlformats.org/officeDocument/2006/relationships/notesMaster" Target="/ppt/notesMasters/notesMaster1.xml" Id="R1d720753870b49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c7c3da1d12864c3b" /><Relationship Type="http://schemas.openxmlformats.org/officeDocument/2006/relationships/notesMaster" Target="/ppt/notesMasters/notesMaster1.xml" Id="Ra088d6b75b0f4551" /></Relationships>
</file>

<file path=ppt/notesSlides/_rels/notesSlide5.xml.rels>&#65279;<?xml version="1.0" encoding="utf-8"?><Relationships xmlns="http://schemas.openxmlformats.org/package/2006/relationships"><Relationship Type="http://schemas.openxmlformats.org/officeDocument/2006/relationships/slide" Target="/ppt/slides/slide5.xml" Id="R3c47fe9719ef4da2" /><Relationship Type="http://schemas.openxmlformats.org/officeDocument/2006/relationships/notesMaster" Target="/ppt/notesMasters/notesMaster1.xml" Id="R7b6711010e944f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a3fda4e848d9454a" /><Relationship Type="http://schemas.openxmlformats.org/officeDocument/2006/relationships/notesMaster" Target="/ppt/notesMasters/notesMaster1.xml" Id="Rac33a481016d43a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built this as a governed AML agentic workbench, not as a general chatbot.</a:t>
            </a:r>
          </a:p>
          <a:p xmlns:a="http://schemas.openxmlformats.org/drawingml/2006/main">
            <a:r>
              <a:t/>
            </a:r>
          </a:p>
          <a:p xmlns:a="http://schemas.openxmlformats.org/drawingml/2006/main">
            <a:r>
              <a:t>    The key idea is controlled orchestration: the user role and task determine which agents can run, the system assembles evidence from data, model scoring, and retrieved typology knowledge, then judge and guardrail layers review the output before it is shown.</a:t>
            </a:r>
          </a:p>
          <a:p xmlns:a="http://schemas.openxmlformats.org/drawingml/2006/main">
            <a:r>
              <a:t/>
            </a:r>
          </a:p>
          <a:p xmlns:a="http://schemas.openxmlformats.org/drawingml/2006/main">
            <a:r>
              <a:t>    For this five-minute overview, I will focus on what it does, how it works technically, and what is real versus still foundation work.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this addresses is fragmentation. AML work often requires looking across transactions, feature tables, model outputs, typology playbooks, validation concerns, and governance requirements.</a:t>
            </a:r>
          </a:p>
          <a:p xmlns:a="http://schemas.openxmlformats.org/drawingml/2006/main">
            <a:r>
              <a:t/>
            </a:r>
          </a:p>
          <a:p xmlns:a="http://schemas.openxmlformats.org/drawingml/2006/main">
            <a:r>
              <a:t>    This workbench creates one controlled path through those inputs. It is deliberately not positioned as an automated decision-maker. It packages evidence, explains model signals carefully, maps patterns to typologies with citations, and shows quality checks before a user relies on the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first technical control worth calling out.</a:t>
            </a:r>
          </a:p>
          <a:p xmlns:a="http://schemas.openxmlformats.org/drawingml/2006/main">
            <a:r>
              <a:t/>
            </a:r>
          </a:p>
          <a:p xmlns:a="http://schemas.openxmlformats.org/drawingml/2006/main">
            <a:r>
              <a:t>    The system does not just run every agent every time. The role and task resolve to a route, and the route is validated against role permissions. For example, an investigator path includes transaction behaviour and typology mapping, while a model validator path focuses on model explanation and feature critique.</a:t>
            </a:r>
          </a:p>
          <a:p xmlns:a="http://schemas.openxmlformats.org/drawingml/2006/main">
            <a:r>
              <a:t/>
            </a:r>
          </a:p>
          <a:p xmlns:a="http://schemas.openxmlformats.org/drawingml/2006/main">
            <a:r>
              <a:t>    There is also explicit partial-agent execution. That is useful for cost, latency, and data minimization, but the final guardrail agent is always appended.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runtime is modular.</a:t>
            </a:r>
          </a:p>
          <a:p xmlns:a="http://schemas.openxmlformats.org/drawingml/2006/main">
            <a:r>
              <a:t/>
            </a:r>
          </a:p>
          <a:p xmlns:a="http://schemas.openxmlformats.org/drawingml/2006/main">
            <a:r>
              <a:t>    The frontend sends a structured request to FastAPI. The backend runs input policy, resolves a route, then builds a graph containing only the selected route nodes. If LangGraph is installed it uses StateGraph; otherwise there is a sequential fallback with the same node order.</a:t>
            </a:r>
          </a:p>
          <a:p xmlns:a="http://schemas.openxmlformats.org/drawingml/2006/main">
            <a:r>
              <a:t/>
            </a:r>
          </a:p>
          <a:p xmlns:a="http://schemas.openxmlformats.org/drawingml/2006/main">
            <a:r>
              <a:t>    The agent graph can call data access, model scoring, retrieved typology knowledge, and the LLM abstraction. After generation, evidence assembly, judge scoring, output guardrails, and run storage create the final response package.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Governance is one of the main design choices.</a:t>
            </a:r>
          </a:p>
          <a:p xmlns:a="http://schemas.openxmlformats.org/drawingml/2006/main">
            <a:r>
              <a:t/>
            </a:r>
          </a:p>
          <a:p xmlns:a="http://schemas.openxmlformats.org/drawingml/2006/main">
            <a:r>
              <a:t>    The system has input guardrails before routing, tool governance around internal capabilities, typed agent outputs, judge evaluation before delivery, and output guardrails at the end. That means unsafe or unsupported language is not just a prompt instruction. It is checked in the request path.</a:t>
            </a:r>
          </a:p>
          <a:p xmlns:a="http://schemas.openxmlformats.org/drawingml/2006/main">
            <a:r>
              <a:t/>
            </a:r>
          </a:p>
          <a:p xmlns:a="http://schemas.openxmlformats.org/drawingml/2006/main">
            <a:r>
              <a:t>    The audit surface is also visible in the response: run id, executed agents, route explanation, scores, guardrail status, and trace metadata.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want to be clear about maturity.</a:t>
            </a:r>
          </a:p>
          <a:p xmlns:a="http://schemas.openxmlformats.org/drawingml/2006/main">
            <a:r>
              <a:t/>
            </a:r>
          </a:p>
          <a:p xmlns:a="http://schemas.openxmlformats.org/drawingml/2006/main">
            <a:r>
              <a:t>    The foundation is real: the backend, frontend, router, graph execution, RAG path, model scoring abstraction, guardrails, judges, evaluation API, and tests are implemented.</a:t>
            </a:r>
          </a:p>
          <a:p xmlns:a="http://schemas.openxmlformats.org/drawingml/2006/main">
            <a:r>
              <a:t/>
            </a:r>
          </a:p>
          <a:p xmlns:a="http://schemas.openxmlformats.org/drawingml/2006/main">
            <a:r>
              <a:t>    But this is not production-ready yet. The main remaining work is enterprise integration: live data access, persistent report storage in the request path, real authentication and authorization, case-management integration, and a proper human approval workflow.</a:t>
            </a:r>
          </a:p>
          <a:p xmlns:a="http://schemas.openxmlformats.org/drawingml/2006/main">
            <a:r>
              <a:t/>
            </a:r>
          </a:p>
          <a:p xmlns:a="http://schemas.openxmlformats.org/drawingml/2006/main">
            <a:r>
              <a:t>    My recommended next step is to turn this into a controlled pilot: connect approved data sources, persist runs, enforce auth, and evaluate against golden cases before broad rollout.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36fe0c8c14941ae"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2aef6f53d9884065" /><Relationship Type="http://schemas.openxmlformats.org/officeDocument/2006/relationships/slideLayout" Target="/ppt/slideLayouts/slideLayout2.xml" Id="R059930fcc111411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59930fcc111411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5d4e253516874ddb" /><Relationship Type="http://schemas.openxmlformats.org/officeDocument/2006/relationships/notesSlide" Target="/ppt/notesSlides/notesSlide1.xml" Id="Rbb6131b7f93849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01547c7ed4ba45a4" /><Relationship Type="http://schemas.openxmlformats.org/officeDocument/2006/relationships/notesSlide" Target="/ppt/notesSlides/notesSlide2.xml" Id="R3daeb415782345ef"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7d53dc31f5d24329" /><Relationship Type="http://schemas.openxmlformats.org/officeDocument/2006/relationships/notesSlide" Target="/ppt/notesSlides/notesSlide3.xml" Id="R7ceba4a60ed64d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ad675bf9b997424e" /><Relationship Type="http://schemas.openxmlformats.org/officeDocument/2006/relationships/notesSlide" Target="/ppt/notesSlides/notesSlide4.xml" Id="R90e5cce07e724117"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3124c6fa962646b2" /><Relationship Type="http://schemas.openxmlformats.org/officeDocument/2006/relationships/notesSlide" Target="/ppt/notesSlides/notesSlide5.xml" Id="R80df23c4893d4f42"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d738d3f063dd4fa0" /><Relationship Type="http://schemas.openxmlformats.org/officeDocument/2006/relationships/notesSlide" Target="/ppt/notesSlides/notesSlide6.xml" Id="R7b4c121808c04006"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69532261-9C44-4307-9BDE-C43ACC13C90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4213D"/>
          </a:solidFill>
          <a:ln xmlns:a="http://schemas.openxmlformats.org/drawingml/2006/main" w="0">
            <a:solidFill>
              <a:srgbClr val="14213D"/>
            </a:solidFill>
            <a:prstDash val="solid"/>
          </a:ln>
        </p:spPr>
      </p:sp>
      <p:sp>
        <p:nvSpPr>
          <p:cNvPr id="2" name="kicker-marker">
            <a:extLst xmlns:a="http://schemas.openxmlformats.org/drawingml/2006/main">
              <a:ext uri="{FF2B5EF4-FFF2-40B4-BE49-F238E27FC236}">
                <a16:creationId xmlns:a16="http://schemas.microsoft.com/office/drawing/2014/main" id="{AB065B77-F5AE-4CC3-9D1F-7EB51EAF075C}"/>
              </a:ext>
            </a:extLst>
          </p:cNvPr>
          <p:cNvSpPr>
            <a:spLocks xmlns:a="http://schemas.openxmlformats.org/drawingml/2006/main" noGrp="1"/>
          </p:cNvSpPr>
          <p:nvPr/>
        </p:nvSpPr>
        <p:spPr>
          <a:xfrm xmlns:a="http://schemas.openxmlformats.org/drawingml/2006/main">
            <a:off x="571500" y="514350"/>
            <a:ext cx="171450" cy="38100"/>
          </a:xfrm>
          <a:prstGeom xmlns:a="http://schemas.openxmlformats.org/drawingml/2006/main" prst="rect">
            <a:avLst/>
          </a:prstGeom>
          <a:solidFill xmlns:a="http://schemas.openxmlformats.org/drawingml/2006/main">
            <a:srgbClr val="F5B642"/>
          </a:solidFill>
          <a:ln xmlns:a="http://schemas.openxmlformats.org/drawingml/2006/main" w="0">
            <a:solidFill>
              <a:srgbClr val="F5B642"/>
            </a:solidFill>
            <a:prstDash val="solid"/>
          </a:ln>
        </p:spPr>
      </p:sp>
      <p:sp>
        <p:nvSpPr>
          <p:cNvPr id="3" name="kicker-label">
            <a:extLst xmlns:a="http://schemas.openxmlformats.org/drawingml/2006/main">
              <a:ext uri="{FF2B5EF4-FFF2-40B4-BE49-F238E27FC236}">
                <a16:creationId xmlns:a16="http://schemas.microsoft.com/office/drawing/2014/main" id="{21741353-D0F9-4C8D-B1BD-DE9DBA12E467}"/>
              </a:ext>
            </a:extLst>
          </p:cNvPr>
          <p:cNvSpPr>
            <a:spLocks xmlns:a="http://schemas.openxmlformats.org/drawingml/2006/main" noGrp="1"/>
          </p:cNvSpPr>
          <p:nvPr/>
        </p:nvSpPr>
        <p:spPr>
          <a:xfrm xmlns:a="http://schemas.openxmlformats.org/drawingml/2006/main">
            <a:off x="838200" y="438150"/>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5B642"/>
                </a:solidFill>
                <a:latin typeface="Aptos"/>
                <a:ea typeface="Aptos"/>
                <a:cs typeface="Aptos"/>
              </a:defRPr>
            </a:pPr>
            <a:r>
              <a:rPr sz="900" b="1">
                <a:solidFill>
                  <a:srgbClr val="F5B642"/>
                </a:solidFill>
                <a:latin typeface="Aptos"/>
                <a:ea typeface="Aptos"/>
                <a:cs typeface="Aptos"/>
              </a:rPr>
              <a:t>SYSTEM OVERVIEW</a:t>
            </a:r>
          </a:p>
        </p:txBody>
      </p:sp>
      <p:sp>
        <p:nvSpPr>
          <p:cNvPr id="4" name="">
            <a:extLst xmlns:a="http://schemas.openxmlformats.org/drawingml/2006/main">
              <a:ext uri="{FF2B5EF4-FFF2-40B4-BE49-F238E27FC236}">
                <a16:creationId xmlns:a16="http://schemas.microsoft.com/office/drawing/2014/main" id="{BB8C30D4-83C0-4FA7-8CBC-04A2FC9579C6}"/>
              </a:ext>
            </a:extLst>
          </p:cNvPr>
          <p:cNvSpPr>
            <a:spLocks xmlns:a="http://schemas.openxmlformats.org/drawingml/2006/main" noGrp="1"/>
          </p:cNvSpPr>
          <p:nvPr/>
        </p:nvSpPr>
        <p:spPr>
          <a:xfrm xmlns:a="http://schemas.openxmlformats.org/drawingml/2006/main">
            <a:off x="552450" y="1009650"/>
            <a:ext cx="5334000" cy="1809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4050" b="1">
                <a:solidFill>
                  <a:srgbClr val="FFFFFF"/>
                </a:solidFill>
                <a:latin typeface="Aptos Display"/>
                <a:ea typeface="Aptos Display"/>
                <a:cs typeface="Aptos Display"/>
              </a:defRPr>
            </a:pPr>
            <a:r>
              <a:rPr sz="4050" b="1">
                <a:solidFill>
                  <a:srgbClr val="FFFFFF"/>
                </a:solidFill>
                <a:latin typeface="Aptos Display"/>
                <a:ea typeface="Aptos Display"/>
                <a:cs typeface="Aptos Display"/>
              </a:rPr>
              <a:t>AML Agentic</a:t>
            </a:r>
          </a:p>
          <a:p xmlns:a="http://schemas.openxmlformats.org/drawingml/2006/main">
            <a:pPr algn="l">
              <a:defRPr sz="4050" b="1">
                <a:solidFill>
                  <a:srgbClr val="FFFFFF"/>
                </a:solidFill>
                <a:latin typeface="Aptos Display"/>
                <a:ea typeface="Aptos Display"/>
                <a:cs typeface="Aptos Display"/>
              </a:defRPr>
            </a:pPr>
            <a:r>
              <a:rPr sz="4050" b="1">
                <a:solidFill>
                  <a:srgbClr val="FFFFFF"/>
                </a:solidFill>
                <a:latin typeface="Aptos Display"/>
                <a:ea typeface="Aptos Display"/>
                <a:cs typeface="Aptos Display"/>
              </a:rPr>
              <a:t>Intelligence</a:t>
            </a:r>
          </a:p>
          <a:p xmlns:a="http://schemas.openxmlformats.org/drawingml/2006/main">
            <a:pPr algn="l">
              <a:defRPr sz="4050" b="1">
                <a:solidFill>
                  <a:srgbClr val="FFFFFF"/>
                </a:solidFill>
                <a:latin typeface="Aptos Display"/>
                <a:ea typeface="Aptos Display"/>
                <a:cs typeface="Aptos Display"/>
              </a:defRPr>
            </a:pPr>
            <a:r>
              <a:rPr sz="4050" b="1">
                <a:solidFill>
                  <a:srgbClr val="FFFFFF"/>
                </a:solidFill>
                <a:latin typeface="Aptos Display"/>
                <a:ea typeface="Aptos Display"/>
                <a:cs typeface="Aptos Display"/>
              </a:rPr>
              <a:t>Workbench</a:t>
            </a:r>
          </a:p>
        </p:txBody>
      </p:sp>
      <p:sp>
        <p:nvSpPr>
          <p:cNvPr id="5" name="">
            <a:extLst xmlns:a="http://schemas.openxmlformats.org/drawingml/2006/main">
              <a:ext uri="{FF2B5EF4-FFF2-40B4-BE49-F238E27FC236}">
                <a16:creationId xmlns:a16="http://schemas.microsoft.com/office/drawing/2014/main" id="{776D5421-02F0-483A-B355-E5192291507F}"/>
              </a:ext>
            </a:extLst>
          </p:cNvPr>
          <p:cNvSpPr>
            <a:spLocks xmlns:a="http://schemas.openxmlformats.org/drawingml/2006/main" noGrp="1"/>
          </p:cNvSpPr>
          <p:nvPr/>
        </p:nvSpPr>
        <p:spPr>
          <a:xfrm xmlns:a="http://schemas.openxmlformats.org/drawingml/2006/main">
            <a:off x="590550" y="3067050"/>
            <a:ext cx="4953000" cy="914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76200" bIns="0" anchor="t"/>
          <a:lstStyle xmlns:a="http://schemas.openxmlformats.org/drawingml/2006/main"/>
          <a:p xmlns:a="http://schemas.openxmlformats.org/drawingml/2006/main">
            <a:pPr algn="l">
              <a:defRPr sz="1425" b="0">
                <a:solidFill>
                  <a:srgbClr val="D9E2EF"/>
                </a:solidFill>
                <a:latin typeface="Aptos"/>
                <a:ea typeface="Aptos"/>
                <a:cs typeface="Aptos"/>
              </a:defRPr>
            </a:pPr>
            <a:r>
              <a:rPr sz="1425" b="0">
                <a:solidFill>
                  <a:srgbClr val="D9E2EF"/>
                </a:solidFill>
                <a:latin typeface="Aptos"/>
                <a:ea typeface="Aptos"/>
                <a:cs typeface="Aptos"/>
              </a:rPr>
              <a:t>A governed, role-aware multi-agent foundation that assembles AML data, model signals, typology knowledge, evaluation, and guardrails into auditable intelligence packages.</a:t>
            </a:r>
          </a:p>
        </p:txBody>
      </p:sp>
      <p:sp>
        <p:nvSpPr>
          <p:cNvPr id="6" name="">
            <a:extLst xmlns:a="http://schemas.openxmlformats.org/drawingml/2006/main">
              <a:ext uri="{FF2B5EF4-FFF2-40B4-BE49-F238E27FC236}">
                <a16:creationId xmlns:a16="http://schemas.microsoft.com/office/drawing/2014/main" id="{EE5D897F-8703-4509-8386-BB13B8DABD9C}"/>
              </a:ext>
            </a:extLst>
          </p:cNvPr>
          <p:cNvSpPr>
            <a:spLocks xmlns:a="http://schemas.openxmlformats.org/drawingml/2006/main" noGrp="1"/>
          </p:cNvSpPr>
          <p:nvPr/>
        </p:nvSpPr>
        <p:spPr>
          <a:xfrm xmlns:a="http://schemas.openxmlformats.org/drawingml/2006/main">
            <a:off x="6572250" y="1047750"/>
            <a:ext cx="2000250" cy="704850"/>
          </a:xfrm>
          <a:prstGeom xmlns:a="http://schemas.openxmlformats.org/drawingml/2006/main" prst="rect">
            <a:avLst/>
          </a:prstGeom>
          <a:solidFill xmlns:a="http://schemas.openxmlformats.org/drawingml/2006/main">
            <a:srgbClr val="1D2E4A"/>
          </a:solidFill>
          <a:ln xmlns:a="http://schemas.openxmlformats.org/drawingml/2006/main" w="9525">
            <a:solidFill>
              <a:srgbClr val="4A5C78"/>
            </a:solidFill>
            <a:prstDash val="solid"/>
          </a:ln>
        </p:spPr>
      </p:sp>
      <p:sp>
        <p:nvSpPr>
          <p:cNvPr id="7" name="">
            <a:extLst xmlns:a="http://schemas.openxmlformats.org/drawingml/2006/main">
              <a:ext uri="{FF2B5EF4-FFF2-40B4-BE49-F238E27FC236}">
                <a16:creationId xmlns:a16="http://schemas.microsoft.com/office/drawing/2014/main" id="{61F70D5E-111B-4BDF-9592-3F85ADA80D71}"/>
              </a:ext>
            </a:extLst>
          </p:cNvPr>
          <p:cNvSpPr>
            <a:spLocks xmlns:a="http://schemas.openxmlformats.org/drawingml/2006/main" noGrp="1"/>
          </p:cNvSpPr>
          <p:nvPr/>
        </p:nvSpPr>
        <p:spPr>
          <a:xfrm xmlns:a="http://schemas.openxmlformats.org/drawingml/2006/main">
            <a:off x="6724650" y="1171575"/>
            <a:ext cx="16954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Role + task</a:t>
            </a:r>
          </a:p>
        </p:txBody>
      </p:sp>
      <p:sp>
        <p:nvSpPr>
          <p:cNvPr id="8" name="">
            <a:extLst xmlns:a="http://schemas.openxmlformats.org/drawingml/2006/main">
              <a:ext uri="{FF2B5EF4-FFF2-40B4-BE49-F238E27FC236}">
                <a16:creationId xmlns:a16="http://schemas.microsoft.com/office/drawing/2014/main" id="{3518AE04-377E-47EC-B556-E8B8CE0DC609}"/>
              </a:ext>
            </a:extLst>
          </p:cNvPr>
          <p:cNvSpPr>
            <a:spLocks xmlns:a="http://schemas.openxmlformats.org/drawingml/2006/main" noGrp="1"/>
          </p:cNvSpPr>
          <p:nvPr/>
        </p:nvSpPr>
        <p:spPr>
          <a:xfrm xmlns:a="http://schemas.openxmlformats.org/drawingml/2006/main">
            <a:off x="6724650" y="1447800"/>
            <a:ext cx="16954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C6D2E3"/>
                </a:solidFill>
                <a:latin typeface="Aptos"/>
                <a:ea typeface="Aptos"/>
                <a:cs typeface="Aptos"/>
              </a:defRPr>
            </a:pPr>
            <a:r>
              <a:rPr sz="975" b="0">
                <a:solidFill>
                  <a:srgbClr val="C6D2E3"/>
                </a:solidFill>
                <a:latin typeface="Aptos"/>
                <a:ea typeface="Aptos"/>
                <a:cs typeface="Aptos"/>
              </a:rPr>
              <a:t>Investigator, DS, validator, compliance</a:t>
            </a:r>
          </a:p>
        </p:txBody>
      </p:sp>
      <p:sp>
        <p:nvSpPr>
          <p:cNvPr id="9" name="">
            <a:extLst xmlns:a="http://schemas.openxmlformats.org/drawingml/2006/main">
              <a:ext uri="{FF2B5EF4-FFF2-40B4-BE49-F238E27FC236}">
                <a16:creationId xmlns:a16="http://schemas.microsoft.com/office/drawing/2014/main" id="{764E9FF0-D7F1-4814-97C8-10E12A923343}"/>
              </a:ext>
            </a:extLst>
          </p:cNvPr>
          <p:cNvSpPr>
            <a:spLocks xmlns:a="http://schemas.openxmlformats.org/drawingml/2006/main" noGrp="1"/>
          </p:cNvSpPr>
          <p:nvPr/>
        </p:nvSpPr>
        <p:spPr>
          <a:xfrm xmlns:a="http://schemas.openxmlformats.org/drawingml/2006/main">
            <a:off x="8705850" y="1295400"/>
            <a:ext cx="228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F5B642"/>
                </a:solidFill>
                <a:latin typeface="Aptos"/>
                <a:ea typeface="Aptos"/>
                <a:cs typeface="Aptos"/>
              </a:defRPr>
            </a:pPr>
            <a:r>
              <a:rPr sz="1650" b="1">
                <a:solidFill>
                  <a:srgbClr val="F5B642"/>
                </a:solidFill>
                <a:latin typeface="Aptos"/>
                <a:ea typeface="Aptos"/>
                <a:cs typeface="Aptos"/>
              </a:rPr>
              <a:t>&gt;</a:t>
            </a:r>
          </a:p>
        </p:txBody>
      </p:sp>
      <p:sp>
        <p:nvSpPr>
          <p:cNvPr id="10" name="">
            <a:extLst xmlns:a="http://schemas.openxmlformats.org/drawingml/2006/main">
              <a:ext uri="{FF2B5EF4-FFF2-40B4-BE49-F238E27FC236}">
                <a16:creationId xmlns:a16="http://schemas.microsoft.com/office/drawing/2014/main" id="{B4D9A492-034F-4739-873C-47BE3E0AE5DB}"/>
              </a:ext>
            </a:extLst>
          </p:cNvPr>
          <p:cNvSpPr>
            <a:spLocks xmlns:a="http://schemas.openxmlformats.org/drawingml/2006/main" noGrp="1"/>
          </p:cNvSpPr>
          <p:nvPr/>
        </p:nvSpPr>
        <p:spPr>
          <a:xfrm xmlns:a="http://schemas.openxmlformats.org/drawingml/2006/main">
            <a:off x="9048750" y="1047750"/>
            <a:ext cx="2038350" cy="704850"/>
          </a:xfrm>
          <a:prstGeom xmlns:a="http://schemas.openxmlformats.org/drawingml/2006/main" prst="rect">
            <a:avLst/>
          </a:prstGeom>
          <a:solidFill xmlns:a="http://schemas.openxmlformats.org/drawingml/2006/main">
            <a:srgbClr val="1D2E4A"/>
          </a:solidFill>
          <a:ln xmlns:a="http://schemas.openxmlformats.org/drawingml/2006/main" w="9525">
            <a:solidFill>
              <a:srgbClr val="4A5C78"/>
            </a:solidFill>
            <a:prstDash val="solid"/>
          </a:ln>
        </p:spPr>
      </p:sp>
      <p:sp>
        <p:nvSpPr>
          <p:cNvPr id="11" name="">
            <a:extLst xmlns:a="http://schemas.openxmlformats.org/drawingml/2006/main">
              <a:ext uri="{FF2B5EF4-FFF2-40B4-BE49-F238E27FC236}">
                <a16:creationId xmlns:a16="http://schemas.microsoft.com/office/drawing/2014/main" id="{0ED001DF-28CD-4449-BA4E-641FE868966F}"/>
              </a:ext>
            </a:extLst>
          </p:cNvPr>
          <p:cNvSpPr>
            <a:spLocks xmlns:a="http://schemas.openxmlformats.org/drawingml/2006/main" noGrp="1"/>
          </p:cNvSpPr>
          <p:nvPr/>
        </p:nvSpPr>
        <p:spPr>
          <a:xfrm xmlns:a="http://schemas.openxmlformats.org/drawingml/2006/main">
            <a:off x="9201150" y="1171575"/>
            <a:ext cx="1733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Router</a:t>
            </a:r>
          </a:p>
        </p:txBody>
      </p:sp>
      <p:sp>
        <p:nvSpPr>
          <p:cNvPr id="12" name="">
            <a:extLst xmlns:a="http://schemas.openxmlformats.org/drawingml/2006/main">
              <a:ext uri="{FF2B5EF4-FFF2-40B4-BE49-F238E27FC236}">
                <a16:creationId xmlns:a16="http://schemas.microsoft.com/office/drawing/2014/main" id="{21BB4631-693A-4A6F-84C9-AC4AE7059BFE}"/>
              </a:ext>
            </a:extLst>
          </p:cNvPr>
          <p:cNvSpPr>
            <a:spLocks xmlns:a="http://schemas.openxmlformats.org/drawingml/2006/main" noGrp="1"/>
          </p:cNvSpPr>
          <p:nvPr/>
        </p:nvSpPr>
        <p:spPr>
          <a:xfrm xmlns:a="http://schemas.openxmlformats.org/drawingml/2006/main">
            <a:off x="9201150" y="1447800"/>
            <a:ext cx="17335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C6D2E3"/>
                </a:solidFill>
                <a:latin typeface="Aptos"/>
                <a:ea typeface="Aptos"/>
                <a:cs typeface="Aptos"/>
              </a:defRPr>
            </a:pPr>
            <a:r>
              <a:rPr sz="975" b="0">
                <a:solidFill>
                  <a:srgbClr val="C6D2E3"/>
                </a:solidFill>
                <a:latin typeface="Aptos"/>
                <a:ea typeface="Aptos"/>
                <a:cs typeface="Aptos"/>
              </a:rPr>
              <a:t>Authorized agent path</a:t>
            </a:r>
          </a:p>
        </p:txBody>
      </p:sp>
      <p:sp>
        <p:nvSpPr>
          <p:cNvPr id="13" name="">
            <a:extLst xmlns:a="http://schemas.openxmlformats.org/drawingml/2006/main">
              <a:ext uri="{FF2B5EF4-FFF2-40B4-BE49-F238E27FC236}">
                <a16:creationId xmlns:a16="http://schemas.microsoft.com/office/drawing/2014/main" id="{7A565AE5-7683-473D-84D9-E5905999339C}"/>
              </a:ext>
            </a:extLst>
          </p:cNvPr>
          <p:cNvSpPr>
            <a:spLocks xmlns:a="http://schemas.openxmlformats.org/drawingml/2006/main" noGrp="1"/>
          </p:cNvSpPr>
          <p:nvPr/>
        </p:nvSpPr>
        <p:spPr>
          <a:xfrm xmlns:a="http://schemas.openxmlformats.org/drawingml/2006/main">
            <a:off x="6572250" y="2247900"/>
            <a:ext cx="4514850" cy="1200150"/>
          </a:xfrm>
          <a:prstGeom xmlns:a="http://schemas.openxmlformats.org/drawingml/2006/main" prst="rect">
            <a:avLst/>
          </a:prstGeom>
          <a:solidFill xmlns:a="http://schemas.openxmlformats.org/drawingml/2006/main">
            <a:srgbClr val="F7F3EA"/>
          </a:solidFill>
          <a:ln xmlns:a="http://schemas.openxmlformats.org/drawingml/2006/main" w="9525">
            <a:solidFill>
              <a:srgbClr val="F5B642"/>
            </a:solidFill>
            <a:prstDash val="solid"/>
          </a:ln>
        </p:spPr>
      </p:sp>
      <p:sp>
        <p:nvSpPr>
          <p:cNvPr id="14" name="">
            <a:extLst xmlns:a="http://schemas.openxmlformats.org/drawingml/2006/main">
              <a:ext uri="{FF2B5EF4-FFF2-40B4-BE49-F238E27FC236}">
                <a16:creationId xmlns:a16="http://schemas.microsoft.com/office/drawing/2014/main" id="{E8DDD4EF-9E7E-4F08-B5CF-28D9400CDFA5}"/>
              </a:ext>
            </a:extLst>
          </p:cNvPr>
          <p:cNvSpPr>
            <a:spLocks xmlns:a="http://schemas.openxmlformats.org/drawingml/2006/main" noGrp="1"/>
          </p:cNvSpPr>
          <p:nvPr/>
        </p:nvSpPr>
        <p:spPr>
          <a:xfrm xmlns:a="http://schemas.openxmlformats.org/drawingml/2006/main">
            <a:off x="6724650" y="2371725"/>
            <a:ext cx="4210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14213D"/>
                </a:solidFill>
                <a:latin typeface="Aptos"/>
                <a:ea typeface="Aptos"/>
                <a:cs typeface="Aptos"/>
              </a:defRPr>
            </a:pPr>
            <a:r>
              <a:rPr sz="1125" b="1">
                <a:solidFill>
                  <a:srgbClr val="14213D"/>
                </a:solidFill>
                <a:latin typeface="Aptos"/>
                <a:ea typeface="Aptos"/>
                <a:cs typeface="Aptos"/>
              </a:rPr>
              <a:t>Selected agent subgraph</a:t>
            </a:r>
          </a:p>
        </p:txBody>
      </p:sp>
      <p:sp>
        <p:nvSpPr>
          <p:cNvPr id="15" name="">
            <a:extLst xmlns:a="http://schemas.openxmlformats.org/drawingml/2006/main">
              <a:ext uri="{FF2B5EF4-FFF2-40B4-BE49-F238E27FC236}">
                <a16:creationId xmlns:a16="http://schemas.microsoft.com/office/drawing/2014/main" id="{ECD92236-4055-459A-8955-DF5CED5A1449}"/>
              </a:ext>
            </a:extLst>
          </p:cNvPr>
          <p:cNvSpPr>
            <a:spLocks xmlns:a="http://schemas.openxmlformats.org/drawingml/2006/main" noGrp="1"/>
          </p:cNvSpPr>
          <p:nvPr/>
        </p:nvSpPr>
        <p:spPr>
          <a:xfrm xmlns:a="http://schemas.openxmlformats.org/drawingml/2006/main">
            <a:off x="6724650" y="2647950"/>
            <a:ext cx="421005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Transaction behaviour -&gt; model explanation -&gt; typology mapping -&gt; feature critique -&gt; evidence assembly</a:t>
            </a:r>
          </a:p>
        </p:txBody>
      </p:sp>
      <p:sp>
        <p:nvSpPr>
          <p:cNvPr id="16" name="">
            <a:extLst xmlns:a="http://schemas.openxmlformats.org/drawingml/2006/main">
              <a:ext uri="{FF2B5EF4-FFF2-40B4-BE49-F238E27FC236}">
                <a16:creationId xmlns:a16="http://schemas.microsoft.com/office/drawing/2014/main" id="{F9FE1E41-AE14-4BED-8ADA-4DDCB01A0ADB}"/>
              </a:ext>
            </a:extLst>
          </p:cNvPr>
          <p:cNvSpPr>
            <a:spLocks xmlns:a="http://schemas.openxmlformats.org/drawingml/2006/main" noGrp="1"/>
          </p:cNvSpPr>
          <p:nvPr/>
        </p:nvSpPr>
        <p:spPr>
          <a:xfrm xmlns:a="http://schemas.openxmlformats.org/drawingml/2006/main">
            <a:off x="6572250" y="3943350"/>
            <a:ext cx="2000250" cy="838200"/>
          </a:xfrm>
          <a:prstGeom xmlns:a="http://schemas.openxmlformats.org/drawingml/2006/main" prst="rect">
            <a:avLst/>
          </a:prstGeom>
          <a:solidFill xmlns:a="http://schemas.openxmlformats.org/drawingml/2006/main">
            <a:srgbClr val="1D2E4A"/>
          </a:solidFill>
          <a:ln xmlns:a="http://schemas.openxmlformats.org/drawingml/2006/main" w="9525">
            <a:solidFill>
              <a:srgbClr val="4A5C78"/>
            </a:solidFill>
            <a:prstDash val="solid"/>
          </a:ln>
        </p:spPr>
      </p:sp>
      <p:sp>
        <p:nvSpPr>
          <p:cNvPr id="17" name="">
            <a:extLst xmlns:a="http://schemas.openxmlformats.org/drawingml/2006/main">
              <a:ext uri="{FF2B5EF4-FFF2-40B4-BE49-F238E27FC236}">
                <a16:creationId xmlns:a16="http://schemas.microsoft.com/office/drawing/2014/main" id="{FE612C55-0910-4C4C-8764-B9467907F789}"/>
              </a:ext>
            </a:extLst>
          </p:cNvPr>
          <p:cNvSpPr>
            <a:spLocks xmlns:a="http://schemas.openxmlformats.org/drawingml/2006/main" noGrp="1"/>
          </p:cNvSpPr>
          <p:nvPr/>
        </p:nvSpPr>
        <p:spPr>
          <a:xfrm xmlns:a="http://schemas.openxmlformats.org/drawingml/2006/main">
            <a:off x="6724650" y="4067175"/>
            <a:ext cx="16954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Judges</a:t>
            </a:r>
          </a:p>
        </p:txBody>
      </p:sp>
      <p:sp>
        <p:nvSpPr>
          <p:cNvPr id="18" name="">
            <a:extLst xmlns:a="http://schemas.openxmlformats.org/drawingml/2006/main">
              <a:ext uri="{FF2B5EF4-FFF2-40B4-BE49-F238E27FC236}">
                <a16:creationId xmlns:a16="http://schemas.microsoft.com/office/drawing/2014/main" id="{9344E7F2-6BFA-496F-91B8-B9C0CBE1A4D5}"/>
              </a:ext>
            </a:extLst>
          </p:cNvPr>
          <p:cNvSpPr>
            <a:spLocks xmlns:a="http://schemas.openxmlformats.org/drawingml/2006/main" noGrp="1"/>
          </p:cNvSpPr>
          <p:nvPr/>
        </p:nvSpPr>
        <p:spPr>
          <a:xfrm xmlns:a="http://schemas.openxmlformats.org/drawingml/2006/main">
            <a:off x="6724650" y="4343400"/>
            <a:ext cx="16954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C6D2E3"/>
                </a:solidFill>
                <a:latin typeface="Aptos"/>
                <a:ea typeface="Aptos"/>
                <a:cs typeface="Aptos"/>
              </a:defRPr>
            </a:pPr>
            <a:r>
              <a:rPr sz="975" b="0">
                <a:solidFill>
                  <a:srgbClr val="C6D2E3"/>
                </a:solidFill>
                <a:latin typeface="Aptos"/>
                <a:ea typeface="Aptos"/>
                <a:cs typeface="Aptos"/>
              </a:rPr>
              <a:t>Faithfulness, citations, compliance, usefulness</a:t>
            </a:r>
          </a:p>
        </p:txBody>
      </p:sp>
      <p:sp>
        <p:nvSpPr>
          <p:cNvPr id="19" name="">
            <a:extLst xmlns:a="http://schemas.openxmlformats.org/drawingml/2006/main">
              <a:ext uri="{FF2B5EF4-FFF2-40B4-BE49-F238E27FC236}">
                <a16:creationId xmlns:a16="http://schemas.microsoft.com/office/drawing/2014/main" id="{3599D6D5-F7F3-4BA8-9995-281D4BA4FCB7}"/>
              </a:ext>
            </a:extLst>
          </p:cNvPr>
          <p:cNvSpPr>
            <a:spLocks xmlns:a="http://schemas.openxmlformats.org/drawingml/2006/main" noGrp="1"/>
          </p:cNvSpPr>
          <p:nvPr/>
        </p:nvSpPr>
        <p:spPr>
          <a:xfrm xmlns:a="http://schemas.openxmlformats.org/drawingml/2006/main">
            <a:off x="8705850" y="4229100"/>
            <a:ext cx="228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F5B642"/>
                </a:solidFill>
                <a:latin typeface="Aptos"/>
                <a:ea typeface="Aptos"/>
                <a:cs typeface="Aptos"/>
              </a:defRPr>
            </a:pPr>
            <a:r>
              <a:rPr sz="1650" b="1">
                <a:solidFill>
                  <a:srgbClr val="F5B642"/>
                </a:solidFill>
                <a:latin typeface="Aptos"/>
                <a:ea typeface="Aptos"/>
                <a:cs typeface="Aptos"/>
              </a:rPr>
              <a:t>&gt;</a:t>
            </a:r>
          </a:p>
        </p:txBody>
      </p:sp>
      <p:sp>
        <p:nvSpPr>
          <p:cNvPr id="20" name="">
            <a:extLst xmlns:a="http://schemas.openxmlformats.org/drawingml/2006/main">
              <a:ext uri="{FF2B5EF4-FFF2-40B4-BE49-F238E27FC236}">
                <a16:creationId xmlns:a16="http://schemas.microsoft.com/office/drawing/2014/main" id="{42C8A80F-43D9-43C0-AFAA-4255FC1A95C3}"/>
              </a:ext>
            </a:extLst>
          </p:cNvPr>
          <p:cNvSpPr>
            <a:spLocks xmlns:a="http://schemas.openxmlformats.org/drawingml/2006/main" noGrp="1"/>
          </p:cNvSpPr>
          <p:nvPr/>
        </p:nvSpPr>
        <p:spPr>
          <a:xfrm xmlns:a="http://schemas.openxmlformats.org/drawingml/2006/main">
            <a:off x="9048750" y="3943350"/>
            <a:ext cx="2038350" cy="838200"/>
          </a:xfrm>
          <a:prstGeom xmlns:a="http://schemas.openxmlformats.org/drawingml/2006/main" prst="rect">
            <a:avLst/>
          </a:prstGeom>
          <a:solidFill xmlns:a="http://schemas.openxmlformats.org/drawingml/2006/main">
            <a:srgbClr val="1D2E4A"/>
          </a:solidFill>
          <a:ln xmlns:a="http://schemas.openxmlformats.org/drawingml/2006/main" w="9525">
            <a:solidFill>
              <a:srgbClr val="4A5C78"/>
            </a:solidFill>
            <a:prstDash val="solid"/>
          </a:ln>
        </p:spPr>
      </p:sp>
      <p:sp>
        <p:nvSpPr>
          <p:cNvPr id="21" name="">
            <a:extLst xmlns:a="http://schemas.openxmlformats.org/drawingml/2006/main">
              <a:ext uri="{FF2B5EF4-FFF2-40B4-BE49-F238E27FC236}">
                <a16:creationId xmlns:a16="http://schemas.microsoft.com/office/drawing/2014/main" id="{6D39EAB2-BA20-4A91-9FDD-C67EED24B20A}"/>
              </a:ext>
            </a:extLst>
          </p:cNvPr>
          <p:cNvSpPr>
            <a:spLocks xmlns:a="http://schemas.openxmlformats.org/drawingml/2006/main" noGrp="1"/>
          </p:cNvSpPr>
          <p:nvPr/>
        </p:nvSpPr>
        <p:spPr>
          <a:xfrm xmlns:a="http://schemas.openxmlformats.org/drawingml/2006/main">
            <a:off x="9201150" y="4067175"/>
            <a:ext cx="17335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Guardrails</a:t>
            </a:r>
          </a:p>
        </p:txBody>
      </p:sp>
      <p:sp>
        <p:nvSpPr>
          <p:cNvPr id="22" name="">
            <a:extLst xmlns:a="http://schemas.openxmlformats.org/drawingml/2006/main">
              <a:ext uri="{FF2B5EF4-FFF2-40B4-BE49-F238E27FC236}">
                <a16:creationId xmlns:a16="http://schemas.microsoft.com/office/drawing/2014/main" id="{B929C698-9A49-472C-B126-EEF1999E3746}"/>
              </a:ext>
            </a:extLst>
          </p:cNvPr>
          <p:cNvSpPr>
            <a:spLocks xmlns:a="http://schemas.openxmlformats.org/drawingml/2006/main" noGrp="1"/>
          </p:cNvSpPr>
          <p:nvPr/>
        </p:nvSpPr>
        <p:spPr>
          <a:xfrm xmlns:a="http://schemas.openxmlformats.org/drawingml/2006/main">
            <a:off x="9201150" y="4343400"/>
            <a:ext cx="173355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C6D2E3"/>
                </a:solidFill>
                <a:latin typeface="Aptos"/>
                <a:ea typeface="Aptos"/>
                <a:cs typeface="Aptos"/>
              </a:defRPr>
            </a:pPr>
            <a:r>
              <a:rPr sz="975" b="0">
                <a:solidFill>
                  <a:srgbClr val="C6D2E3"/>
                </a:solidFill>
                <a:latin typeface="Aptos"/>
                <a:ea typeface="Aptos"/>
                <a:cs typeface="Aptos"/>
              </a:rPr>
              <a:t>Unsafe claims blocked or rewritten</a:t>
            </a:r>
          </a:p>
        </p:txBody>
      </p:sp>
      <p:sp>
        <p:nvSpPr>
          <p:cNvPr id="23" name="">
            <a:extLst xmlns:a="http://schemas.openxmlformats.org/drawingml/2006/main">
              <a:ext uri="{FF2B5EF4-FFF2-40B4-BE49-F238E27FC236}">
                <a16:creationId xmlns:a16="http://schemas.microsoft.com/office/drawing/2014/main" id="{70848191-4BB9-4E4E-A150-498401827BF8}"/>
              </a:ext>
            </a:extLst>
          </p:cNvPr>
          <p:cNvSpPr>
            <a:spLocks xmlns:a="http://schemas.openxmlformats.org/drawingml/2006/main" noGrp="1"/>
          </p:cNvSpPr>
          <p:nvPr/>
        </p:nvSpPr>
        <p:spPr>
          <a:xfrm xmlns:a="http://schemas.openxmlformats.org/drawingml/2006/main">
            <a:off x="552450" y="5581650"/>
            <a:ext cx="10363200" cy="9525"/>
          </a:xfrm>
          <a:prstGeom xmlns:a="http://schemas.openxmlformats.org/drawingml/2006/main" prst="rect">
            <a:avLst/>
          </a:prstGeom>
          <a:solidFill xmlns:a="http://schemas.openxmlformats.org/drawingml/2006/main">
            <a:srgbClr val="4A5C78"/>
          </a:solidFill>
          <a:ln xmlns:a="http://schemas.openxmlformats.org/drawingml/2006/main" w="0">
            <a:solidFill>
              <a:srgbClr val="4A5C78"/>
            </a:solidFill>
            <a:prstDash val="solid"/>
          </a:ln>
        </p:spPr>
      </p:sp>
      <p:sp>
        <p:nvSpPr>
          <p:cNvPr id="24" name="">
            <a:extLst xmlns:a="http://schemas.openxmlformats.org/drawingml/2006/main">
              <a:ext uri="{FF2B5EF4-FFF2-40B4-BE49-F238E27FC236}">
                <a16:creationId xmlns:a16="http://schemas.microsoft.com/office/drawing/2014/main" id="{88DB2245-83FA-4E1C-A668-A58D9664F0C7}"/>
              </a:ext>
            </a:extLst>
          </p:cNvPr>
          <p:cNvSpPr>
            <a:spLocks xmlns:a="http://schemas.openxmlformats.org/drawingml/2006/main" noGrp="1"/>
          </p:cNvSpPr>
          <p:nvPr/>
        </p:nvSpPr>
        <p:spPr>
          <a:xfrm xmlns:a="http://schemas.openxmlformats.org/drawingml/2006/main">
            <a:off x="590550" y="5810250"/>
            <a:ext cx="74295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76200" bIns="0" anchor="t"/>
          <a:lstStyle xmlns:a="http://schemas.openxmlformats.org/drawingml/2006/main"/>
          <a:p xmlns:a="http://schemas.openxmlformats.org/drawingml/2006/main">
            <a:pPr algn="l">
              <a:defRPr sz="1200" b="0">
                <a:solidFill>
                  <a:srgbClr val="D9E2EF"/>
                </a:solidFill>
                <a:latin typeface="Aptos"/>
                <a:ea typeface="Aptos"/>
                <a:cs typeface="Aptos"/>
              </a:defRPr>
            </a:pPr>
            <a:r>
              <a:rPr sz="1200" b="0">
                <a:solidFill>
                  <a:srgbClr val="D9E2EF"/>
                </a:solidFill>
                <a:latin typeface="Aptos"/>
                <a:ea typeface="Aptos"/>
                <a:cs typeface="Aptos"/>
              </a:rPr>
              <a:t>Positioning for today: first technical preview, not a production approval request.</a:t>
            </a:r>
          </a:p>
        </p:txBody>
      </p:sp>
      <p:sp>
        <p:nvSpPr>
          <p:cNvPr id="25" name="footer-source">
            <a:extLst xmlns:a="http://schemas.openxmlformats.org/drawingml/2006/main">
              <a:ext uri="{FF2B5EF4-FFF2-40B4-BE49-F238E27FC236}">
                <a16:creationId xmlns:a16="http://schemas.microsoft.com/office/drawing/2014/main" id="{86D849A0-9347-49AD-BEF8-77930487F99F}"/>
              </a:ext>
            </a:extLst>
          </p:cNvPr>
          <p:cNvSpPr>
            <a:spLocks xmlns:a="http://schemas.openxmlformats.org/drawingml/2006/main" noGrp="1"/>
          </p:cNvSpPr>
          <p:nvPr/>
        </p:nvSpPr>
        <p:spPr>
          <a:xfrm xmlns:a="http://schemas.openxmlformats.org/drawingml/2006/main">
            <a:off x="514350" y="6496050"/>
            <a:ext cx="6858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C6670"/>
                </a:solidFill>
                <a:latin typeface="Aptos"/>
                <a:ea typeface="Aptos"/>
                <a:cs typeface="Aptos"/>
              </a:defRPr>
            </a:pPr>
            <a:r>
              <a:rPr sz="750" b="0">
                <a:solidFill>
                  <a:srgbClr val="5C6670"/>
                </a:solidFill>
                <a:latin typeface="Aptos"/>
                <a:ea typeface="Aptos"/>
                <a:cs typeface="Aptos"/>
              </a:rPr>
              <a:t>Source: README and system overview docs</a:t>
            </a:r>
          </a:p>
        </p:txBody>
      </p:sp>
      <p:sp>
        <p:nvSpPr>
          <p:cNvPr id="26" name="footer-page">
            <a:extLst xmlns:a="http://schemas.openxmlformats.org/drawingml/2006/main">
              <a:ext uri="{FF2B5EF4-FFF2-40B4-BE49-F238E27FC236}">
                <a16:creationId xmlns:a16="http://schemas.microsoft.com/office/drawing/2014/main" id="{10B21C48-5181-4B1C-8B0B-24B7C5F216AA}"/>
              </a:ext>
            </a:extLst>
          </p:cNvPr>
          <p:cNvSpPr>
            <a:spLocks xmlns:a="http://schemas.openxmlformats.org/drawingml/2006/main" noGrp="1"/>
          </p:cNvSpPr>
          <p:nvPr/>
        </p:nvSpPr>
        <p:spPr>
          <a:xfrm xmlns:a="http://schemas.openxmlformats.org/drawingml/2006/main">
            <a:off x="11239500" y="6438900"/>
            <a:ext cx="438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5C6670"/>
                </a:solidFill>
                <a:latin typeface="Aptos Mono"/>
                <a:ea typeface="Aptos Mono"/>
                <a:cs typeface="Aptos Mono"/>
              </a:defRPr>
            </a:pPr>
            <a:r>
              <a:rPr sz="825" b="0">
                <a:solidFill>
                  <a:srgbClr val="5C6670"/>
                </a:solidFill>
                <a:latin typeface="Aptos Mono"/>
                <a:ea typeface="Aptos Mono"/>
                <a:cs typeface="Aptos Mono"/>
              </a:rPr>
              <a:t>01</a:t>
            </a:r>
          </a:p>
        </p:txBody>
      </p:sp>
    </p:spTree>
    <p:extLst>
      <p:ext uri="{BB962C8B-B14F-4D97-AF65-F5344CB8AC3E}">
        <p14:creationId xmlns:p14="http://schemas.microsoft.com/office/powerpoint/2010/main" val="699296250"/>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EBE06A2C-9AB7-4257-A28D-71D4B6781E1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F7F3EA"/>
            </a:solidFill>
            <a:prstDash val="solid"/>
          </a:ln>
        </p:spPr>
      </p:sp>
      <p:sp>
        <p:nvSpPr>
          <p:cNvPr id="2" name="kicker-marker">
            <a:extLst xmlns:a="http://schemas.openxmlformats.org/drawingml/2006/main">
              <a:ext uri="{FF2B5EF4-FFF2-40B4-BE49-F238E27FC236}">
                <a16:creationId xmlns:a16="http://schemas.microsoft.com/office/drawing/2014/main" id="{53119145-4702-4574-9908-2C7FD0A3FEAA}"/>
              </a:ext>
            </a:extLst>
          </p:cNvPr>
          <p:cNvSpPr>
            <a:spLocks xmlns:a="http://schemas.openxmlformats.org/drawingml/2006/main" noGrp="1"/>
          </p:cNvSpPr>
          <p:nvPr/>
        </p:nvSpPr>
        <p:spPr>
          <a:xfrm xmlns:a="http://schemas.openxmlformats.org/drawingml/2006/main">
            <a:off x="533400" y="476250"/>
            <a:ext cx="171450" cy="38100"/>
          </a:xfrm>
          <a:prstGeom xmlns:a="http://schemas.openxmlformats.org/drawingml/2006/main" prst="rect">
            <a:avLst/>
          </a:prstGeom>
          <a:solidFill xmlns:a="http://schemas.openxmlformats.org/drawingml/2006/main">
            <a:srgbClr val="D71920"/>
          </a:solidFill>
          <a:ln xmlns:a="http://schemas.openxmlformats.org/drawingml/2006/main" w="0">
            <a:solidFill>
              <a:srgbClr val="D71920"/>
            </a:solidFill>
            <a:prstDash val="solid"/>
          </a:ln>
        </p:spPr>
      </p:sp>
      <p:sp>
        <p:nvSpPr>
          <p:cNvPr id="3" name="kicker-label">
            <a:extLst xmlns:a="http://schemas.openxmlformats.org/drawingml/2006/main">
              <a:ext uri="{FF2B5EF4-FFF2-40B4-BE49-F238E27FC236}">
                <a16:creationId xmlns:a16="http://schemas.microsoft.com/office/drawing/2014/main" id="{C7DA18CD-3AA1-46A0-A045-CB20F6B9DCD2}"/>
              </a:ext>
            </a:extLst>
          </p:cNvPr>
          <p:cNvSpPr>
            <a:spLocks xmlns:a="http://schemas.openxmlformats.org/drawingml/2006/main" noGrp="1"/>
          </p:cNvSpPr>
          <p:nvPr/>
        </p:nvSpPr>
        <p:spPr>
          <a:xfrm xmlns:a="http://schemas.openxmlformats.org/drawingml/2006/main">
            <a:off x="800100" y="400050"/>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D71920"/>
                </a:solidFill>
                <a:latin typeface="Aptos"/>
                <a:ea typeface="Aptos"/>
                <a:cs typeface="Aptos"/>
              </a:defRPr>
            </a:pPr>
            <a:r>
              <a:rPr sz="900" b="1">
                <a:solidFill>
                  <a:srgbClr val="D71920"/>
                </a:solidFill>
                <a:latin typeface="Aptos"/>
                <a:ea typeface="Aptos"/>
                <a:cs typeface="Aptos"/>
              </a:rPr>
              <a:t>WHY IT EXISTS</a:t>
            </a:r>
          </a:p>
        </p:txBody>
      </p:sp>
      <p:sp>
        <p:nvSpPr>
          <p:cNvPr id="4" name="claim-title">
            <a:extLst xmlns:a="http://schemas.openxmlformats.org/drawingml/2006/main">
              <a:ext uri="{FF2B5EF4-FFF2-40B4-BE49-F238E27FC236}">
                <a16:creationId xmlns:a16="http://schemas.microsoft.com/office/drawing/2014/main" id="{E7C5C80B-7852-4E83-AE64-E4B78D81A4A7}"/>
              </a:ext>
            </a:extLst>
          </p:cNvPr>
          <p:cNvSpPr>
            <a:spLocks xmlns:a="http://schemas.openxmlformats.org/drawingml/2006/main" noGrp="1"/>
          </p:cNvSpPr>
          <p:nvPr/>
        </p:nvSpPr>
        <p:spPr>
          <a:xfrm xmlns:a="http://schemas.openxmlformats.org/drawingml/2006/main">
            <a:off x="514350" y="742950"/>
            <a:ext cx="83820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4213D"/>
                </a:solidFill>
                <a:latin typeface="Aptos Display"/>
                <a:ea typeface="Aptos Display"/>
                <a:cs typeface="Aptos Display"/>
              </a:defRPr>
            </a:pPr>
            <a:r>
              <a:rPr sz="2550" b="1">
                <a:solidFill>
                  <a:srgbClr val="14213D"/>
                </a:solidFill>
                <a:latin typeface="Aptos Display"/>
                <a:ea typeface="Aptos Display"/>
                <a:cs typeface="Aptos Display"/>
              </a:rPr>
              <a:t>The workbench turns disconnected AML artifacts into one controlled intelligence path.</a:t>
            </a:r>
          </a:p>
        </p:txBody>
      </p:sp>
      <p:sp>
        <p:nvSpPr>
          <p:cNvPr id="5" name="">
            <a:extLst xmlns:a="http://schemas.openxmlformats.org/drawingml/2006/main">
              <a:ext uri="{FF2B5EF4-FFF2-40B4-BE49-F238E27FC236}">
                <a16:creationId xmlns:a16="http://schemas.microsoft.com/office/drawing/2014/main" id="{E528A0C7-81FE-4470-8111-6062548C8256}"/>
              </a:ext>
            </a:extLst>
          </p:cNvPr>
          <p:cNvSpPr>
            <a:spLocks xmlns:a="http://schemas.openxmlformats.org/drawingml/2006/main" noGrp="1"/>
          </p:cNvSpPr>
          <p:nvPr/>
        </p:nvSpPr>
        <p:spPr>
          <a:xfrm xmlns:a="http://schemas.openxmlformats.org/drawingml/2006/main">
            <a:off x="533400" y="1562100"/>
            <a:ext cx="70485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76200" bIns="0" anchor="t"/>
          <a:lstStyle xmlns:a="http://schemas.openxmlformats.org/drawingml/2006/main"/>
          <a:p xmlns:a="http://schemas.openxmlformats.org/drawingml/2006/main">
            <a:pPr algn="l">
              <a:defRPr sz="1275" b="0">
                <a:solidFill>
                  <a:srgbClr val="374151"/>
                </a:solidFill>
                <a:latin typeface="Aptos"/>
                <a:ea typeface="Aptos"/>
                <a:cs typeface="Aptos"/>
              </a:defRPr>
            </a:pPr>
            <a:r>
              <a:rPr sz="1275" b="0">
                <a:solidFill>
                  <a:srgbClr val="374151"/>
                </a:solidFill>
                <a:latin typeface="Aptos"/>
                <a:ea typeface="Aptos"/>
                <a:cs typeface="Aptos"/>
              </a:rPr>
              <a:t>The current build focuses on evidence packaging, explainability, routing, governance, and repeatability. It does not make final AML decisions.</a:t>
            </a:r>
          </a:p>
        </p:txBody>
      </p:sp>
      <p:sp>
        <p:nvSpPr>
          <p:cNvPr id="6" name="input-0-box">
            <a:extLst xmlns:a="http://schemas.openxmlformats.org/drawingml/2006/main">
              <a:ext uri="{FF2B5EF4-FFF2-40B4-BE49-F238E27FC236}">
                <a16:creationId xmlns:a16="http://schemas.microsoft.com/office/drawing/2014/main" id="{0C749846-F928-4348-9D2E-E720DE7D0D54}"/>
              </a:ext>
            </a:extLst>
          </p:cNvPr>
          <p:cNvSpPr>
            <a:spLocks xmlns:a="http://schemas.openxmlformats.org/drawingml/2006/main" noGrp="1"/>
          </p:cNvSpPr>
          <p:nvPr/>
        </p:nvSpPr>
        <p:spPr>
          <a:xfrm xmlns:a="http://schemas.openxmlformats.org/drawingml/2006/main">
            <a:off x="609600" y="2305050"/>
            <a:ext cx="2571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8D0C3"/>
            </a:solidFill>
            <a:prstDash val="solid"/>
          </a:ln>
        </p:spPr>
      </p:sp>
      <p:sp>
        <p:nvSpPr>
          <p:cNvPr id="7" name="input-0-label">
            <a:extLst xmlns:a="http://schemas.openxmlformats.org/drawingml/2006/main">
              <a:ext uri="{FF2B5EF4-FFF2-40B4-BE49-F238E27FC236}">
                <a16:creationId xmlns:a16="http://schemas.microsoft.com/office/drawing/2014/main" id="{0BF655CE-68C1-407C-9E4E-ED0BF823720E}"/>
              </a:ext>
            </a:extLst>
          </p:cNvPr>
          <p:cNvSpPr>
            <a:spLocks xmlns:a="http://schemas.openxmlformats.org/drawingml/2006/main" noGrp="1"/>
          </p:cNvSpPr>
          <p:nvPr/>
        </p:nvSpPr>
        <p:spPr>
          <a:xfrm xmlns:a="http://schemas.openxmlformats.org/drawingml/2006/main">
            <a:off x="762000" y="2428875"/>
            <a:ext cx="2266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14213D"/>
                </a:solidFill>
                <a:latin typeface="Aptos"/>
                <a:ea typeface="Aptos"/>
                <a:cs typeface="Aptos"/>
              </a:defRPr>
            </a:pPr>
            <a:r>
              <a:rPr sz="1125" b="1">
                <a:solidFill>
                  <a:srgbClr val="14213D"/>
                </a:solidFill>
                <a:latin typeface="Aptos"/>
                <a:ea typeface="Aptos"/>
                <a:cs typeface="Aptos"/>
              </a:rPr>
              <a:t>Transactions</a:t>
            </a:r>
          </a:p>
        </p:txBody>
      </p:sp>
      <p:sp>
        <p:nvSpPr>
          <p:cNvPr id="8" name="input-0-body">
            <a:extLst xmlns:a="http://schemas.openxmlformats.org/drawingml/2006/main">
              <a:ext uri="{FF2B5EF4-FFF2-40B4-BE49-F238E27FC236}">
                <a16:creationId xmlns:a16="http://schemas.microsoft.com/office/drawing/2014/main" id="{66D58B42-282E-4CAA-BEF7-4230DF65CC93}"/>
              </a:ext>
            </a:extLst>
          </p:cNvPr>
          <p:cNvSpPr>
            <a:spLocks xmlns:a="http://schemas.openxmlformats.org/drawingml/2006/main" noGrp="1"/>
          </p:cNvSpPr>
          <p:nvPr/>
        </p:nvSpPr>
        <p:spPr>
          <a:xfrm xmlns:a="http://schemas.openxmlformats.org/drawingml/2006/main">
            <a:off x="762000" y="2705100"/>
            <a:ext cx="2266950" cy="-57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C6670"/>
                </a:solidFill>
                <a:latin typeface="Aptos"/>
                <a:ea typeface="Aptos"/>
                <a:cs typeface="Aptos"/>
              </a:defRPr>
            </a:pPr>
            <a:r>
              <a:rPr sz="975" b="0">
                <a:solidFill>
                  <a:srgbClr val="5C6670"/>
                </a:solidFill>
                <a:latin typeface="Aptos"/>
                <a:ea typeface="Aptos"/>
                <a:cs typeface="Aptos"/>
              </a:rPr>
              <a:t>Customer activity, counterparties, velocity, channel patterns</a:t>
            </a:r>
          </a:p>
        </p:txBody>
      </p:sp>
      <p:sp>
        <p:nvSpPr>
          <p:cNvPr id="9" name="input-1-box">
            <a:extLst xmlns:a="http://schemas.openxmlformats.org/drawingml/2006/main">
              <a:ext uri="{FF2B5EF4-FFF2-40B4-BE49-F238E27FC236}">
                <a16:creationId xmlns:a16="http://schemas.microsoft.com/office/drawing/2014/main" id="{BA7A34A9-49A5-48ED-B6AE-280B1DCBEF6B}"/>
              </a:ext>
            </a:extLst>
          </p:cNvPr>
          <p:cNvSpPr>
            <a:spLocks xmlns:a="http://schemas.openxmlformats.org/drawingml/2006/main" noGrp="1"/>
          </p:cNvSpPr>
          <p:nvPr/>
        </p:nvSpPr>
        <p:spPr>
          <a:xfrm xmlns:a="http://schemas.openxmlformats.org/drawingml/2006/main">
            <a:off x="609600" y="2952750"/>
            <a:ext cx="2571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8D0C3"/>
            </a:solidFill>
            <a:prstDash val="solid"/>
          </a:ln>
        </p:spPr>
      </p:sp>
      <p:sp>
        <p:nvSpPr>
          <p:cNvPr id="10" name="input-1-label">
            <a:extLst xmlns:a="http://schemas.openxmlformats.org/drawingml/2006/main">
              <a:ext uri="{FF2B5EF4-FFF2-40B4-BE49-F238E27FC236}">
                <a16:creationId xmlns:a16="http://schemas.microsoft.com/office/drawing/2014/main" id="{0CDA2B85-D165-45C0-B695-AF5D348B9565}"/>
              </a:ext>
            </a:extLst>
          </p:cNvPr>
          <p:cNvSpPr>
            <a:spLocks xmlns:a="http://schemas.openxmlformats.org/drawingml/2006/main" noGrp="1"/>
          </p:cNvSpPr>
          <p:nvPr/>
        </p:nvSpPr>
        <p:spPr>
          <a:xfrm xmlns:a="http://schemas.openxmlformats.org/drawingml/2006/main">
            <a:off x="762000" y="3076575"/>
            <a:ext cx="2266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14213D"/>
                </a:solidFill>
                <a:latin typeface="Aptos"/>
                <a:ea typeface="Aptos"/>
                <a:cs typeface="Aptos"/>
              </a:defRPr>
            </a:pPr>
            <a:r>
              <a:rPr sz="1125" b="1">
                <a:solidFill>
                  <a:srgbClr val="14213D"/>
                </a:solidFill>
                <a:latin typeface="Aptos"/>
                <a:ea typeface="Aptos"/>
                <a:cs typeface="Aptos"/>
              </a:rPr>
              <a:t>Features</a:t>
            </a:r>
          </a:p>
        </p:txBody>
      </p:sp>
      <p:sp>
        <p:nvSpPr>
          <p:cNvPr id="11" name="input-1-body">
            <a:extLst xmlns:a="http://schemas.openxmlformats.org/drawingml/2006/main">
              <a:ext uri="{FF2B5EF4-FFF2-40B4-BE49-F238E27FC236}">
                <a16:creationId xmlns:a16="http://schemas.microsoft.com/office/drawing/2014/main" id="{41484DF4-61DD-45B0-9E53-99EB1E212766}"/>
              </a:ext>
            </a:extLst>
          </p:cNvPr>
          <p:cNvSpPr>
            <a:spLocks xmlns:a="http://schemas.openxmlformats.org/drawingml/2006/main" noGrp="1"/>
          </p:cNvSpPr>
          <p:nvPr/>
        </p:nvSpPr>
        <p:spPr>
          <a:xfrm xmlns:a="http://schemas.openxmlformats.org/drawingml/2006/main">
            <a:off x="762000" y="3352800"/>
            <a:ext cx="2266950" cy="-57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C6670"/>
                </a:solidFill>
                <a:latin typeface="Aptos"/>
                <a:ea typeface="Aptos"/>
                <a:cs typeface="Aptos"/>
              </a:defRPr>
            </a:pPr>
            <a:r>
              <a:rPr sz="975" b="0">
                <a:solidFill>
                  <a:srgbClr val="5C6670"/>
                </a:solidFill>
                <a:latin typeface="Aptos"/>
                <a:ea typeface="Aptos"/>
                <a:cs typeface="Aptos"/>
              </a:rPr>
              <a:t>Customer-level feature summaries and model-ready signals</a:t>
            </a:r>
          </a:p>
        </p:txBody>
      </p:sp>
      <p:sp>
        <p:nvSpPr>
          <p:cNvPr id="12" name="input-2-box">
            <a:extLst xmlns:a="http://schemas.openxmlformats.org/drawingml/2006/main">
              <a:ext uri="{FF2B5EF4-FFF2-40B4-BE49-F238E27FC236}">
                <a16:creationId xmlns:a16="http://schemas.microsoft.com/office/drawing/2014/main" id="{D34AB1BE-C77C-4C0F-8820-64673BA16D83}"/>
              </a:ext>
            </a:extLst>
          </p:cNvPr>
          <p:cNvSpPr>
            <a:spLocks xmlns:a="http://schemas.openxmlformats.org/drawingml/2006/main" noGrp="1"/>
          </p:cNvSpPr>
          <p:nvPr/>
        </p:nvSpPr>
        <p:spPr>
          <a:xfrm xmlns:a="http://schemas.openxmlformats.org/drawingml/2006/main">
            <a:off x="609600" y="3600450"/>
            <a:ext cx="2571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8D0C3"/>
            </a:solidFill>
            <a:prstDash val="solid"/>
          </a:ln>
        </p:spPr>
      </p:sp>
      <p:sp>
        <p:nvSpPr>
          <p:cNvPr id="13" name="input-2-label">
            <a:extLst xmlns:a="http://schemas.openxmlformats.org/drawingml/2006/main">
              <a:ext uri="{FF2B5EF4-FFF2-40B4-BE49-F238E27FC236}">
                <a16:creationId xmlns:a16="http://schemas.microsoft.com/office/drawing/2014/main" id="{65398717-01ED-42BA-8AB9-F305E5D89A05}"/>
              </a:ext>
            </a:extLst>
          </p:cNvPr>
          <p:cNvSpPr>
            <a:spLocks xmlns:a="http://schemas.openxmlformats.org/drawingml/2006/main" noGrp="1"/>
          </p:cNvSpPr>
          <p:nvPr/>
        </p:nvSpPr>
        <p:spPr>
          <a:xfrm xmlns:a="http://schemas.openxmlformats.org/drawingml/2006/main">
            <a:off x="762000" y="3724275"/>
            <a:ext cx="2266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14213D"/>
                </a:solidFill>
                <a:latin typeface="Aptos"/>
                <a:ea typeface="Aptos"/>
                <a:cs typeface="Aptos"/>
              </a:defRPr>
            </a:pPr>
            <a:r>
              <a:rPr sz="1125" b="1">
                <a:solidFill>
                  <a:srgbClr val="14213D"/>
                </a:solidFill>
                <a:latin typeface="Aptos"/>
                <a:ea typeface="Aptos"/>
                <a:cs typeface="Aptos"/>
              </a:rPr>
              <a:t>Model scoring</a:t>
            </a:r>
          </a:p>
        </p:txBody>
      </p:sp>
      <p:sp>
        <p:nvSpPr>
          <p:cNvPr id="14" name="input-2-body">
            <a:extLst xmlns:a="http://schemas.openxmlformats.org/drawingml/2006/main">
              <a:ext uri="{FF2B5EF4-FFF2-40B4-BE49-F238E27FC236}">
                <a16:creationId xmlns:a16="http://schemas.microsoft.com/office/drawing/2014/main" id="{BC3C6873-4F0B-41DD-A171-1CA884CEFCA8}"/>
              </a:ext>
            </a:extLst>
          </p:cNvPr>
          <p:cNvSpPr>
            <a:spLocks xmlns:a="http://schemas.openxmlformats.org/drawingml/2006/main" noGrp="1"/>
          </p:cNvSpPr>
          <p:nvPr/>
        </p:nvSpPr>
        <p:spPr>
          <a:xfrm xmlns:a="http://schemas.openxmlformats.org/drawingml/2006/main">
            <a:off x="762000" y="4000500"/>
            <a:ext cx="2266950" cy="-57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C6670"/>
                </a:solidFill>
                <a:latin typeface="Aptos"/>
                <a:ea typeface="Aptos"/>
                <a:cs typeface="Aptos"/>
              </a:defRPr>
            </a:pPr>
            <a:r>
              <a:rPr sz="975" b="0">
                <a:solidFill>
                  <a:srgbClr val="5C6670"/>
                </a:solidFill>
                <a:latin typeface="Aptos"/>
                <a:ea typeface="Aptos"/>
                <a:cs typeface="Aptos"/>
              </a:rPr>
              <a:t>Offline anomaly model when artifacts are available</a:t>
            </a:r>
          </a:p>
        </p:txBody>
      </p:sp>
      <p:sp>
        <p:nvSpPr>
          <p:cNvPr id="15" name="input-3-box">
            <a:extLst xmlns:a="http://schemas.openxmlformats.org/drawingml/2006/main">
              <a:ext uri="{FF2B5EF4-FFF2-40B4-BE49-F238E27FC236}">
                <a16:creationId xmlns:a16="http://schemas.microsoft.com/office/drawing/2014/main" id="{4FD1BA81-7F52-4DBB-A7D4-417615498E9F}"/>
              </a:ext>
            </a:extLst>
          </p:cNvPr>
          <p:cNvSpPr>
            <a:spLocks xmlns:a="http://schemas.openxmlformats.org/drawingml/2006/main" noGrp="1"/>
          </p:cNvSpPr>
          <p:nvPr/>
        </p:nvSpPr>
        <p:spPr>
          <a:xfrm xmlns:a="http://schemas.openxmlformats.org/drawingml/2006/main">
            <a:off x="609600" y="4248150"/>
            <a:ext cx="2571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8D0C3"/>
            </a:solidFill>
            <a:prstDash val="solid"/>
          </a:ln>
        </p:spPr>
      </p:sp>
      <p:sp>
        <p:nvSpPr>
          <p:cNvPr id="16" name="input-3-label">
            <a:extLst xmlns:a="http://schemas.openxmlformats.org/drawingml/2006/main">
              <a:ext uri="{FF2B5EF4-FFF2-40B4-BE49-F238E27FC236}">
                <a16:creationId xmlns:a16="http://schemas.microsoft.com/office/drawing/2014/main" id="{63A14FC0-44C5-4CCC-BC89-03FF9BA7C2EB}"/>
              </a:ext>
            </a:extLst>
          </p:cNvPr>
          <p:cNvSpPr>
            <a:spLocks xmlns:a="http://schemas.openxmlformats.org/drawingml/2006/main" noGrp="1"/>
          </p:cNvSpPr>
          <p:nvPr/>
        </p:nvSpPr>
        <p:spPr>
          <a:xfrm xmlns:a="http://schemas.openxmlformats.org/drawingml/2006/main">
            <a:off x="762000" y="4371975"/>
            <a:ext cx="2266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14213D"/>
                </a:solidFill>
                <a:latin typeface="Aptos"/>
                <a:ea typeface="Aptos"/>
                <a:cs typeface="Aptos"/>
              </a:defRPr>
            </a:pPr>
            <a:r>
              <a:rPr sz="1125" b="1">
                <a:solidFill>
                  <a:srgbClr val="14213D"/>
                </a:solidFill>
                <a:latin typeface="Aptos"/>
                <a:ea typeface="Aptos"/>
                <a:cs typeface="Aptos"/>
              </a:rPr>
              <a:t>Typologies</a:t>
            </a:r>
          </a:p>
        </p:txBody>
      </p:sp>
      <p:sp>
        <p:nvSpPr>
          <p:cNvPr id="17" name="input-3-body">
            <a:extLst xmlns:a="http://schemas.openxmlformats.org/drawingml/2006/main">
              <a:ext uri="{FF2B5EF4-FFF2-40B4-BE49-F238E27FC236}">
                <a16:creationId xmlns:a16="http://schemas.microsoft.com/office/drawing/2014/main" id="{1DCAE038-3554-4691-A7BC-D875C3E0AFA0}"/>
              </a:ext>
            </a:extLst>
          </p:cNvPr>
          <p:cNvSpPr>
            <a:spLocks xmlns:a="http://schemas.openxmlformats.org/drawingml/2006/main" noGrp="1"/>
          </p:cNvSpPr>
          <p:nvPr/>
        </p:nvSpPr>
        <p:spPr>
          <a:xfrm xmlns:a="http://schemas.openxmlformats.org/drawingml/2006/main">
            <a:off x="762000" y="4648200"/>
            <a:ext cx="2266950" cy="-57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C6670"/>
                </a:solidFill>
                <a:latin typeface="Aptos"/>
                <a:ea typeface="Aptos"/>
                <a:cs typeface="Aptos"/>
              </a:defRPr>
            </a:pPr>
            <a:r>
              <a:rPr sz="975" b="0">
                <a:solidFill>
                  <a:srgbClr val="5C6670"/>
                </a:solidFill>
                <a:latin typeface="Aptos"/>
                <a:ea typeface="Aptos"/>
                <a:cs typeface="Aptos"/>
              </a:rPr>
              <a:t>pgvector RAG from official-source knowledge chunks</a:t>
            </a:r>
          </a:p>
        </p:txBody>
      </p:sp>
      <p:sp>
        <p:nvSpPr>
          <p:cNvPr id="18" name="input-4-box">
            <a:extLst xmlns:a="http://schemas.openxmlformats.org/drawingml/2006/main">
              <a:ext uri="{FF2B5EF4-FFF2-40B4-BE49-F238E27FC236}">
                <a16:creationId xmlns:a16="http://schemas.microsoft.com/office/drawing/2014/main" id="{3C2A6C46-ECCB-4B9B-B075-B2590C61B393}"/>
              </a:ext>
            </a:extLst>
          </p:cNvPr>
          <p:cNvSpPr>
            <a:spLocks xmlns:a="http://schemas.openxmlformats.org/drawingml/2006/main" noGrp="1"/>
          </p:cNvSpPr>
          <p:nvPr/>
        </p:nvSpPr>
        <p:spPr>
          <a:xfrm xmlns:a="http://schemas.openxmlformats.org/drawingml/2006/main">
            <a:off x="609600" y="4895850"/>
            <a:ext cx="2571750" cy="457200"/>
          </a:xfrm>
          <a:prstGeom xmlns:a="http://schemas.openxmlformats.org/drawingml/2006/main" prst="rect">
            <a:avLst/>
          </a:prstGeom>
          <a:solidFill xmlns:a="http://schemas.openxmlformats.org/drawingml/2006/main">
            <a:srgbClr val="FFFFFF"/>
          </a:solidFill>
          <a:ln xmlns:a="http://schemas.openxmlformats.org/drawingml/2006/main" w="9525">
            <a:solidFill>
              <a:srgbClr val="D8D0C3"/>
            </a:solidFill>
            <a:prstDash val="solid"/>
          </a:ln>
        </p:spPr>
      </p:sp>
      <p:sp>
        <p:nvSpPr>
          <p:cNvPr id="19" name="input-4-label">
            <a:extLst xmlns:a="http://schemas.openxmlformats.org/drawingml/2006/main">
              <a:ext uri="{FF2B5EF4-FFF2-40B4-BE49-F238E27FC236}">
                <a16:creationId xmlns:a16="http://schemas.microsoft.com/office/drawing/2014/main" id="{FA3437DB-FAC1-4E38-AC61-DC8DEDA0AB3B}"/>
              </a:ext>
            </a:extLst>
          </p:cNvPr>
          <p:cNvSpPr>
            <a:spLocks xmlns:a="http://schemas.openxmlformats.org/drawingml/2006/main" noGrp="1"/>
          </p:cNvSpPr>
          <p:nvPr/>
        </p:nvSpPr>
        <p:spPr>
          <a:xfrm xmlns:a="http://schemas.openxmlformats.org/drawingml/2006/main">
            <a:off x="762000" y="5019675"/>
            <a:ext cx="2266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14213D"/>
                </a:solidFill>
                <a:latin typeface="Aptos"/>
                <a:ea typeface="Aptos"/>
                <a:cs typeface="Aptos"/>
              </a:defRPr>
            </a:pPr>
            <a:r>
              <a:rPr sz="1125" b="1">
                <a:solidFill>
                  <a:srgbClr val="14213D"/>
                </a:solidFill>
                <a:latin typeface="Aptos"/>
                <a:ea typeface="Aptos"/>
                <a:cs typeface="Aptos"/>
              </a:rPr>
              <a:t>Governance</a:t>
            </a:r>
          </a:p>
        </p:txBody>
      </p:sp>
      <p:sp>
        <p:nvSpPr>
          <p:cNvPr id="20" name="input-4-body">
            <a:extLst xmlns:a="http://schemas.openxmlformats.org/drawingml/2006/main">
              <a:ext uri="{FF2B5EF4-FFF2-40B4-BE49-F238E27FC236}">
                <a16:creationId xmlns:a16="http://schemas.microsoft.com/office/drawing/2014/main" id="{4AB990D6-9548-40DB-A356-B9D1CE6EEC06}"/>
              </a:ext>
            </a:extLst>
          </p:cNvPr>
          <p:cNvSpPr>
            <a:spLocks xmlns:a="http://schemas.openxmlformats.org/drawingml/2006/main" noGrp="1"/>
          </p:cNvSpPr>
          <p:nvPr/>
        </p:nvSpPr>
        <p:spPr>
          <a:xfrm xmlns:a="http://schemas.openxmlformats.org/drawingml/2006/main">
            <a:off x="762000" y="5295900"/>
            <a:ext cx="2266950" cy="-57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C6670"/>
                </a:solidFill>
                <a:latin typeface="Aptos"/>
                <a:ea typeface="Aptos"/>
                <a:cs typeface="Aptos"/>
              </a:defRPr>
            </a:pPr>
            <a:r>
              <a:rPr sz="975" b="0">
                <a:solidFill>
                  <a:srgbClr val="5C6670"/>
                </a:solidFill>
                <a:latin typeface="Aptos"/>
                <a:ea typeface="Aptos"/>
                <a:cs typeface="Aptos"/>
              </a:rPr>
              <a:t>Policies, judges, guardrails, audit traces</a:t>
            </a:r>
          </a:p>
        </p:txBody>
      </p:sp>
      <p:sp>
        <p:nvSpPr>
          <p:cNvPr id="21" name="">
            <a:extLst xmlns:a="http://schemas.openxmlformats.org/drawingml/2006/main">
              <a:ext uri="{FF2B5EF4-FFF2-40B4-BE49-F238E27FC236}">
                <a16:creationId xmlns:a16="http://schemas.microsoft.com/office/drawing/2014/main" id="{29EA85F3-5F39-49D6-9D19-2C9065FBB05F}"/>
              </a:ext>
            </a:extLst>
          </p:cNvPr>
          <p:cNvSpPr>
            <a:spLocks xmlns:a="http://schemas.openxmlformats.org/drawingml/2006/main" noGrp="1"/>
          </p:cNvSpPr>
          <p:nvPr/>
        </p:nvSpPr>
        <p:spPr>
          <a:xfrm xmlns:a="http://schemas.openxmlformats.org/drawingml/2006/main">
            <a:off x="4076700" y="2381250"/>
            <a:ext cx="2343150" cy="2857500"/>
          </a:xfrm>
          <a:prstGeom xmlns:a="http://schemas.openxmlformats.org/drawingml/2006/main" prst="rect">
            <a:avLst/>
          </a:prstGeom>
          <a:solidFill xmlns:a="http://schemas.openxmlformats.org/drawingml/2006/main">
            <a:srgbClr val="14213D"/>
          </a:solidFill>
          <a:ln xmlns:a="http://schemas.openxmlformats.org/drawingml/2006/main" w="0">
            <a:solidFill>
              <a:srgbClr val="14213D"/>
            </a:solidFill>
            <a:prstDash val="solid"/>
          </a:ln>
        </p:spPr>
      </p:sp>
      <p:sp>
        <p:nvSpPr>
          <p:cNvPr id="22" name="">
            <a:extLst xmlns:a="http://schemas.openxmlformats.org/drawingml/2006/main">
              <a:ext uri="{FF2B5EF4-FFF2-40B4-BE49-F238E27FC236}">
                <a16:creationId xmlns:a16="http://schemas.microsoft.com/office/drawing/2014/main" id="{1979FBCA-090C-4186-BE54-6F98E9480A76}"/>
              </a:ext>
            </a:extLst>
          </p:cNvPr>
          <p:cNvSpPr>
            <a:spLocks xmlns:a="http://schemas.openxmlformats.org/drawingml/2006/main" noGrp="1"/>
          </p:cNvSpPr>
          <p:nvPr/>
        </p:nvSpPr>
        <p:spPr>
          <a:xfrm xmlns:a="http://schemas.openxmlformats.org/drawingml/2006/main">
            <a:off x="4362450" y="2686050"/>
            <a:ext cx="177165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CONTROLLED</a:t>
            </a:r>
          </a:p>
          <a:p xmlns:a="http://schemas.openxmlformats.org/drawingml/2006/main">
            <a:pPr algn="ctr">
              <a:defRPr sz="1800" b="1">
                <a:solidFill>
                  <a:srgbClr val="FFFFFF"/>
                </a:solidFill>
                <a:latin typeface="Aptos Display"/>
                <a:ea typeface="Aptos Display"/>
                <a:cs typeface="Aptos Display"/>
              </a:defRPr>
            </a:pPr>
            <a:r>
              <a:rPr sz="1800" b="1">
                <a:solidFill>
                  <a:srgbClr val="FFFFFF"/>
                </a:solidFill>
                <a:latin typeface="Aptos Display"/>
                <a:ea typeface="Aptos Display"/>
                <a:cs typeface="Aptos Display"/>
              </a:rPr>
              <a:t>ORCHESTRATION</a:t>
            </a:r>
          </a:p>
        </p:txBody>
      </p:sp>
      <p:sp>
        <p:nvSpPr>
          <p:cNvPr id="23" name="">
            <a:extLst xmlns:a="http://schemas.openxmlformats.org/drawingml/2006/main">
              <a:ext uri="{FF2B5EF4-FFF2-40B4-BE49-F238E27FC236}">
                <a16:creationId xmlns:a16="http://schemas.microsoft.com/office/drawing/2014/main" id="{4E993498-0217-404A-845D-EA0B4F5DD739}"/>
              </a:ext>
            </a:extLst>
          </p:cNvPr>
          <p:cNvSpPr>
            <a:spLocks xmlns:a="http://schemas.openxmlformats.org/drawingml/2006/main" noGrp="1"/>
          </p:cNvSpPr>
          <p:nvPr/>
        </p:nvSpPr>
        <p:spPr>
          <a:xfrm xmlns:a="http://schemas.openxmlformats.org/drawingml/2006/main">
            <a:off x="4457700" y="3543300"/>
            <a:ext cx="1581150" cy="19050"/>
          </a:xfrm>
          <a:prstGeom xmlns:a="http://schemas.openxmlformats.org/drawingml/2006/main" prst="rect">
            <a:avLst/>
          </a:prstGeom>
          <a:solidFill xmlns:a="http://schemas.openxmlformats.org/drawingml/2006/main">
            <a:srgbClr val="F5B642"/>
          </a:solidFill>
          <a:ln xmlns:a="http://schemas.openxmlformats.org/drawingml/2006/main" w="0">
            <a:solidFill>
              <a:srgbClr val="F5B642"/>
            </a:solidFill>
            <a:prstDash val="solid"/>
          </a:ln>
        </p:spPr>
      </p:sp>
      <p:sp>
        <p:nvSpPr>
          <p:cNvPr id="24" name="">
            <a:extLst xmlns:a="http://schemas.openxmlformats.org/drawingml/2006/main">
              <a:ext uri="{FF2B5EF4-FFF2-40B4-BE49-F238E27FC236}">
                <a16:creationId xmlns:a16="http://schemas.microsoft.com/office/drawing/2014/main" id="{AD6CCCEC-0A06-44F1-8A0E-8FCFBF0BF0FC}"/>
              </a:ext>
            </a:extLst>
          </p:cNvPr>
          <p:cNvSpPr>
            <a:spLocks xmlns:a="http://schemas.openxmlformats.org/drawingml/2006/main" noGrp="1"/>
          </p:cNvSpPr>
          <p:nvPr/>
        </p:nvSpPr>
        <p:spPr>
          <a:xfrm xmlns:a="http://schemas.openxmlformats.org/drawingml/2006/main">
            <a:off x="4476750" y="3829050"/>
            <a:ext cx="1619250" cy="1162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E7EDF6"/>
                </a:solidFill>
                <a:latin typeface="Aptos"/>
                <a:ea typeface="Aptos"/>
                <a:cs typeface="Aptos"/>
              </a:defRPr>
            </a:pPr>
            <a:r>
              <a:rPr sz="1200" b="0">
                <a:solidFill>
                  <a:srgbClr val="E7EDF6"/>
                </a:solidFill>
                <a:latin typeface="Aptos"/>
                <a:ea typeface="Aptos"/>
                <a:cs typeface="Aptos"/>
              </a:rPr>
              <a:t>Input policy</a:t>
            </a:r>
          </a:p>
          <a:p xmlns:a="http://schemas.openxmlformats.org/drawingml/2006/main">
            <a:pPr algn="ctr">
              <a:defRPr sz="1200" b="0">
                <a:solidFill>
                  <a:srgbClr val="E7EDF6"/>
                </a:solidFill>
                <a:latin typeface="Aptos"/>
                <a:ea typeface="Aptos"/>
                <a:cs typeface="Aptos"/>
              </a:defRPr>
            </a:pPr>
            <a:r>
              <a:rPr sz="1200" b="0">
                <a:solidFill>
                  <a:srgbClr val="E7EDF6"/>
                </a:solidFill>
                <a:latin typeface="Aptos"/>
                <a:ea typeface="Aptos"/>
                <a:cs typeface="Aptos"/>
              </a:rPr>
              <a:t>Role-aware routing</a:t>
            </a:r>
          </a:p>
          <a:p xmlns:a="http://schemas.openxmlformats.org/drawingml/2006/main">
            <a:pPr algn="ctr">
              <a:defRPr sz="1200" b="0">
                <a:solidFill>
                  <a:srgbClr val="E7EDF6"/>
                </a:solidFill>
                <a:latin typeface="Aptos"/>
                <a:ea typeface="Aptos"/>
                <a:cs typeface="Aptos"/>
              </a:defRPr>
            </a:pPr>
            <a:r>
              <a:rPr sz="1200" b="0">
                <a:solidFill>
                  <a:srgbClr val="E7EDF6"/>
                </a:solidFill>
                <a:latin typeface="Aptos"/>
                <a:ea typeface="Aptos"/>
                <a:cs typeface="Aptos"/>
              </a:rPr>
              <a:t>Selected agent graph</a:t>
            </a:r>
          </a:p>
          <a:p xmlns:a="http://schemas.openxmlformats.org/drawingml/2006/main">
            <a:pPr algn="ctr">
              <a:defRPr sz="1200" b="0">
                <a:solidFill>
                  <a:srgbClr val="E7EDF6"/>
                </a:solidFill>
                <a:latin typeface="Aptos"/>
                <a:ea typeface="Aptos"/>
                <a:cs typeface="Aptos"/>
              </a:defRPr>
            </a:pPr>
            <a:r>
              <a:rPr sz="1200" b="0">
                <a:solidFill>
                  <a:srgbClr val="E7EDF6"/>
                </a:solidFill>
                <a:latin typeface="Aptos"/>
                <a:ea typeface="Aptos"/>
                <a:cs typeface="Aptos"/>
              </a:rPr>
              <a:t>Evidence assembly</a:t>
            </a:r>
          </a:p>
          <a:p xmlns:a="http://schemas.openxmlformats.org/drawingml/2006/main">
            <a:pPr algn="ctr">
              <a:defRPr sz="1200" b="0">
                <a:solidFill>
                  <a:srgbClr val="E7EDF6"/>
                </a:solidFill>
                <a:latin typeface="Aptos"/>
                <a:ea typeface="Aptos"/>
                <a:cs typeface="Aptos"/>
              </a:defRPr>
            </a:pPr>
            <a:r>
              <a:rPr sz="1200" b="0">
                <a:solidFill>
                  <a:srgbClr val="E7EDF6"/>
                </a:solidFill>
                <a:latin typeface="Aptos"/>
                <a:ea typeface="Aptos"/>
                <a:cs typeface="Aptos"/>
              </a:rPr>
              <a:t>Judge panel</a:t>
            </a:r>
          </a:p>
          <a:p xmlns:a="http://schemas.openxmlformats.org/drawingml/2006/main">
            <a:pPr algn="ctr">
              <a:defRPr sz="1200" b="0">
                <a:solidFill>
                  <a:srgbClr val="E7EDF6"/>
                </a:solidFill>
                <a:latin typeface="Aptos"/>
                <a:ea typeface="Aptos"/>
                <a:cs typeface="Aptos"/>
              </a:defRPr>
            </a:pPr>
            <a:r>
              <a:rPr sz="1200" b="0">
                <a:solidFill>
                  <a:srgbClr val="E7EDF6"/>
                </a:solidFill>
                <a:latin typeface="Aptos"/>
                <a:ea typeface="Aptos"/>
                <a:cs typeface="Aptos"/>
              </a:rPr>
              <a:t>Output guardrails</a:t>
            </a:r>
          </a:p>
        </p:txBody>
      </p:sp>
      <p:sp>
        <p:nvSpPr>
          <p:cNvPr id="25" name="">
            <a:extLst xmlns:a="http://schemas.openxmlformats.org/drawingml/2006/main">
              <a:ext uri="{FF2B5EF4-FFF2-40B4-BE49-F238E27FC236}">
                <a16:creationId xmlns:a16="http://schemas.microsoft.com/office/drawing/2014/main" id="{6E6B172B-FF85-4E1D-A322-42E4F43A1ECF}"/>
              </a:ext>
            </a:extLst>
          </p:cNvPr>
          <p:cNvSpPr>
            <a:spLocks xmlns:a="http://schemas.openxmlformats.org/drawingml/2006/main" noGrp="1"/>
          </p:cNvSpPr>
          <p:nvPr/>
        </p:nvSpPr>
        <p:spPr>
          <a:xfrm xmlns:a="http://schemas.openxmlformats.org/drawingml/2006/main">
            <a:off x="3562350" y="3619500"/>
            <a:ext cx="228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D71920"/>
                </a:solidFill>
                <a:latin typeface="Aptos"/>
                <a:ea typeface="Aptos"/>
                <a:cs typeface="Aptos"/>
              </a:defRPr>
            </a:pPr>
            <a:r>
              <a:rPr sz="1650" b="1">
                <a:solidFill>
                  <a:srgbClr val="D71920"/>
                </a:solidFill>
                <a:latin typeface="Aptos"/>
                <a:ea typeface="Aptos"/>
                <a:cs typeface="Aptos"/>
              </a:rPr>
              <a:t>&gt;</a:t>
            </a:r>
          </a:p>
        </p:txBody>
      </p:sp>
      <p:sp>
        <p:nvSpPr>
          <p:cNvPr id="26" name="">
            <a:extLst xmlns:a="http://schemas.openxmlformats.org/drawingml/2006/main">
              <a:ext uri="{FF2B5EF4-FFF2-40B4-BE49-F238E27FC236}">
                <a16:creationId xmlns:a16="http://schemas.microsoft.com/office/drawing/2014/main" id="{48C28773-E81A-4C4C-82A9-2A64D2F725A8}"/>
              </a:ext>
            </a:extLst>
          </p:cNvPr>
          <p:cNvSpPr>
            <a:spLocks xmlns:a="http://schemas.openxmlformats.org/drawingml/2006/main" noGrp="1"/>
          </p:cNvSpPr>
          <p:nvPr/>
        </p:nvSpPr>
        <p:spPr>
          <a:xfrm xmlns:a="http://schemas.openxmlformats.org/drawingml/2006/main">
            <a:off x="6705600" y="3619500"/>
            <a:ext cx="228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D71920"/>
                </a:solidFill>
                <a:latin typeface="Aptos"/>
                <a:ea typeface="Aptos"/>
                <a:cs typeface="Aptos"/>
              </a:defRPr>
            </a:pPr>
            <a:r>
              <a:rPr sz="1650" b="1">
                <a:solidFill>
                  <a:srgbClr val="D71920"/>
                </a:solidFill>
                <a:latin typeface="Aptos"/>
                <a:ea typeface="Aptos"/>
                <a:cs typeface="Aptos"/>
              </a:rPr>
              <a:t>&gt;</a:t>
            </a:r>
          </a:p>
        </p:txBody>
      </p:sp>
      <p:sp>
        <p:nvSpPr>
          <p:cNvPr id="27" name="package-box">
            <a:extLst xmlns:a="http://schemas.openxmlformats.org/drawingml/2006/main">
              <a:ext uri="{FF2B5EF4-FFF2-40B4-BE49-F238E27FC236}">
                <a16:creationId xmlns:a16="http://schemas.microsoft.com/office/drawing/2014/main" id="{D0F54E91-E710-41B3-A02E-A4DE6ACE56B6}"/>
              </a:ext>
            </a:extLst>
          </p:cNvPr>
          <p:cNvSpPr>
            <a:spLocks xmlns:a="http://schemas.openxmlformats.org/drawingml/2006/main" noGrp="1"/>
          </p:cNvSpPr>
          <p:nvPr/>
        </p:nvSpPr>
        <p:spPr>
          <a:xfrm xmlns:a="http://schemas.openxmlformats.org/drawingml/2006/main">
            <a:off x="7296150" y="2381250"/>
            <a:ext cx="3886200" cy="1962150"/>
          </a:xfrm>
          <a:prstGeom xmlns:a="http://schemas.openxmlformats.org/drawingml/2006/main" prst="rect">
            <a:avLst/>
          </a:prstGeom>
          <a:solidFill xmlns:a="http://schemas.openxmlformats.org/drawingml/2006/main">
            <a:srgbClr val="FFFFFF"/>
          </a:solidFill>
          <a:ln xmlns:a="http://schemas.openxmlformats.org/drawingml/2006/main" w="9525">
            <a:solidFill>
              <a:srgbClr val="F5B642"/>
            </a:solidFill>
            <a:prstDash val="solid"/>
          </a:ln>
        </p:spPr>
      </p:sp>
      <p:sp>
        <p:nvSpPr>
          <p:cNvPr id="28" name="package-label">
            <a:extLst xmlns:a="http://schemas.openxmlformats.org/drawingml/2006/main">
              <a:ext uri="{FF2B5EF4-FFF2-40B4-BE49-F238E27FC236}">
                <a16:creationId xmlns:a16="http://schemas.microsoft.com/office/drawing/2014/main" id="{F31A519E-DB1B-4744-8DD0-2BA004877772}"/>
              </a:ext>
            </a:extLst>
          </p:cNvPr>
          <p:cNvSpPr>
            <a:spLocks xmlns:a="http://schemas.openxmlformats.org/drawingml/2006/main" noGrp="1"/>
          </p:cNvSpPr>
          <p:nvPr/>
        </p:nvSpPr>
        <p:spPr>
          <a:xfrm xmlns:a="http://schemas.openxmlformats.org/drawingml/2006/main">
            <a:off x="7448550" y="2505075"/>
            <a:ext cx="3581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14213D"/>
                </a:solidFill>
                <a:latin typeface="Aptos"/>
                <a:ea typeface="Aptos"/>
                <a:cs typeface="Aptos"/>
              </a:defRPr>
            </a:pPr>
            <a:r>
              <a:rPr sz="1125" b="1">
                <a:solidFill>
                  <a:srgbClr val="14213D"/>
                </a:solidFill>
                <a:latin typeface="Aptos"/>
                <a:ea typeface="Aptos"/>
                <a:cs typeface="Aptos"/>
              </a:rPr>
              <a:t>Role-specific AML intelligence package</a:t>
            </a:r>
          </a:p>
        </p:txBody>
      </p:sp>
      <p:sp>
        <p:nvSpPr>
          <p:cNvPr id="29" name="package-body">
            <a:extLst xmlns:a="http://schemas.openxmlformats.org/drawingml/2006/main">
              <a:ext uri="{FF2B5EF4-FFF2-40B4-BE49-F238E27FC236}">
                <a16:creationId xmlns:a16="http://schemas.microsoft.com/office/drawing/2014/main" id="{6CAAFA6E-D25C-49C1-A954-0987D3AEF207}"/>
              </a:ext>
            </a:extLst>
          </p:cNvPr>
          <p:cNvSpPr>
            <a:spLocks xmlns:a="http://schemas.openxmlformats.org/drawingml/2006/main" noGrp="1"/>
          </p:cNvSpPr>
          <p:nvPr/>
        </p:nvSpPr>
        <p:spPr>
          <a:xfrm xmlns:a="http://schemas.openxmlformats.org/drawingml/2006/main">
            <a:off x="7448550" y="2781300"/>
            <a:ext cx="3581400" cy="1447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Markdown report</a:t>
            </a:r>
          </a:p>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Structured agent outputs</a:t>
            </a:r>
          </a:p>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Evidence table</a:t>
            </a:r>
          </a:p>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Citations and missing evidence</a:t>
            </a:r>
          </a:p>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Judge scores</a:t>
            </a:r>
          </a:p>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Guardrail status</a:t>
            </a:r>
          </a:p>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Route explanation and audit trace</a:t>
            </a:r>
          </a:p>
        </p:txBody>
      </p:sp>
      <p:sp>
        <p:nvSpPr>
          <p:cNvPr id="30" name="boundary-box">
            <a:extLst xmlns:a="http://schemas.openxmlformats.org/drawingml/2006/main">
              <a:ext uri="{FF2B5EF4-FFF2-40B4-BE49-F238E27FC236}">
                <a16:creationId xmlns:a16="http://schemas.microsoft.com/office/drawing/2014/main" id="{C16776F6-B1B1-4634-BCD5-8DFB71FDBDFA}"/>
              </a:ext>
            </a:extLst>
          </p:cNvPr>
          <p:cNvSpPr>
            <a:spLocks xmlns:a="http://schemas.openxmlformats.org/drawingml/2006/main" noGrp="1"/>
          </p:cNvSpPr>
          <p:nvPr/>
        </p:nvSpPr>
        <p:spPr>
          <a:xfrm xmlns:a="http://schemas.openxmlformats.org/drawingml/2006/main">
            <a:off x="7296150" y="4648200"/>
            <a:ext cx="3886200" cy="590550"/>
          </a:xfrm>
          <a:prstGeom xmlns:a="http://schemas.openxmlformats.org/drawingml/2006/main" prst="rect">
            <a:avLst/>
          </a:prstGeom>
          <a:solidFill xmlns:a="http://schemas.openxmlformats.org/drawingml/2006/main">
            <a:srgbClr val="EFE8DC"/>
          </a:solidFill>
          <a:ln xmlns:a="http://schemas.openxmlformats.org/drawingml/2006/main" w="9525">
            <a:solidFill>
              <a:srgbClr val="D8D0C3"/>
            </a:solidFill>
            <a:prstDash val="solid"/>
          </a:ln>
        </p:spPr>
      </p:sp>
      <p:sp>
        <p:nvSpPr>
          <p:cNvPr id="31" name="boundary-label">
            <a:extLst xmlns:a="http://schemas.openxmlformats.org/drawingml/2006/main">
              <a:ext uri="{FF2B5EF4-FFF2-40B4-BE49-F238E27FC236}">
                <a16:creationId xmlns:a16="http://schemas.microsoft.com/office/drawing/2014/main" id="{D13340A9-567A-4C39-B7A2-65BC3B383B95}"/>
              </a:ext>
            </a:extLst>
          </p:cNvPr>
          <p:cNvSpPr>
            <a:spLocks xmlns:a="http://schemas.openxmlformats.org/drawingml/2006/main" noGrp="1"/>
          </p:cNvSpPr>
          <p:nvPr/>
        </p:nvSpPr>
        <p:spPr>
          <a:xfrm xmlns:a="http://schemas.openxmlformats.org/drawingml/2006/main">
            <a:off x="7448550" y="4772025"/>
            <a:ext cx="3581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D71920"/>
                </a:solidFill>
                <a:latin typeface="Aptos"/>
                <a:ea typeface="Aptos"/>
                <a:cs typeface="Aptos"/>
              </a:defRPr>
            </a:pPr>
            <a:r>
              <a:rPr sz="1125" b="1">
                <a:solidFill>
                  <a:srgbClr val="D71920"/>
                </a:solidFill>
                <a:latin typeface="Aptos"/>
                <a:ea typeface="Aptos"/>
                <a:cs typeface="Aptos"/>
              </a:rPr>
              <a:t>Important boundary</a:t>
            </a:r>
          </a:p>
        </p:txBody>
      </p:sp>
      <p:sp>
        <p:nvSpPr>
          <p:cNvPr id="32" name="boundary-body">
            <a:extLst xmlns:a="http://schemas.openxmlformats.org/drawingml/2006/main">
              <a:ext uri="{FF2B5EF4-FFF2-40B4-BE49-F238E27FC236}">
                <a16:creationId xmlns:a16="http://schemas.microsoft.com/office/drawing/2014/main" id="{2F58275D-30BC-4FF8-BD11-65E56F6292F9}"/>
              </a:ext>
            </a:extLst>
          </p:cNvPr>
          <p:cNvSpPr>
            <a:spLocks xmlns:a="http://schemas.openxmlformats.org/drawingml/2006/main" noGrp="1"/>
          </p:cNvSpPr>
          <p:nvPr/>
        </p:nvSpPr>
        <p:spPr>
          <a:xfrm xmlns:a="http://schemas.openxmlformats.org/drawingml/2006/main">
            <a:off x="7448550" y="5048250"/>
            <a:ext cx="3581400" cy="76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Supports analysis and governance review; does not confirm suspicious activity or direct filings.</a:t>
            </a:r>
          </a:p>
        </p:txBody>
      </p:sp>
      <p:sp>
        <p:nvSpPr>
          <p:cNvPr id="33" name="footer-source">
            <a:extLst xmlns:a="http://schemas.openxmlformats.org/drawingml/2006/main">
              <a:ext uri="{FF2B5EF4-FFF2-40B4-BE49-F238E27FC236}">
                <a16:creationId xmlns:a16="http://schemas.microsoft.com/office/drawing/2014/main" id="{708D9248-CC55-4C2B-80B4-8D92CA5B8941}"/>
              </a:ext>
            </a:extLst>
          </p:cNvPr>
          <p:cNvSpPr>
            <a:spLocks xmlns:a="http://schemas.openxmlformats.org/drawingml/2006/main" noGrp="1"/>
          </p:cNvSpPr>
          <p:nvPr/>
        </p:nvSpPr>
        <p:spPr>
          <a:xfrm xmlns:a="http://schemas.openxmlformats.org/drawingml/2006/main">
            <a:off x="514350" y="6496050"/>
            <a:ext cx="6858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C6670"/>
                </a:solidFill>
                <a:latin typeface="Aptos"/>
                <a:ea typeface="Aptos"/>
                <a:cs typeface="Aptos"/>
              </a:defRPr>
            </a:pPr>
            <a:r>
              <a:rPr sz="750" b="0">
                <a:solidFill>
                  <a:srgbClr val="5C6670"/>
                </a:solidFill>
                <a:latin typeface="Aptos"/>
                <a:ea typeface="Aptos"/>
                <a:cs typeface="Aptos"/>
              </a:rPr>
              <a:t>Source: docs/README_SYSTEM_OVERVIEW.md</a:t>
            </a:r>
          </a:p>
        </p:txBody>
      </p:sp>
      <p:sp>
        <p:nvSpPr>
          <p:cNvPr id="34" name="footer-page">
            <a:extLst xmlns:a="http://schemas.openxmlformats.org/drawingml/2006/main">
              <a:ext uri="{FF2B5EF4-FFF2-40B4-BE49-F238E27FC236}">
                <a16:creationId xmlns:a16="http://schemas.microsoft.com/office/drawing/2014/main" id="{25BB9192-FC40-422E-A874-2B25EDDB3254}"/>
              </a:ext>
            </a:extLst>
          </p:cNvPr>
          <p:cNvSpPr>
            <a:spLocks xmlns:a="http://schemas.openxmlformats.org/drawingml/2006/main" noGrp="1"/>
          </p:cNvSpPr>
          <p:nvPr/>
        </p:nvSpPr>
        <p:spPr>
          <a:xfrm xmlns:a="http://schemas.openxmlformats.org/drawingml/2006/main">
            <a:off x="11239500" y="6438900"/>
            <a:ext cx="438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5C6670"/>
                </a:solidFill>
                <a:latin typeface="Aptos Mono"/>
                <a:ea typeface="Aptos Mono"/>
                <a:cs typeface="Aptos Mono"/>
              </a:defRPr>
            </a:pPr>
            <a:r>
              <a:rPr sz="825" b="0">
                <a:solidFill>
                  <a:srgbClr val="5C6670"/>
                </a:solidFill>
                <a:latin typeface="Aptos Mono"/>
                <a:ea typeface="Aptos Mono"/>
                <a:cs typeface="Aptos Mono"/>
              </a:rPr>
              <a:t>02</a:t>
            </a:r>
          </a:p>
        </p:txBody>
      </p:sp>
    </p:spTree>
    <p:extLst>
      <p:ext uri="{BB962C8B-B14F-4D97-AF65-F5344CB8AC3E}">
        <p14:creationId xmlns:p14="http://schemas.microsoft.com/office/powerpoint/2010/main" val="756325070"/>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19B3F64-FCCF-40A6-822D-6AD16EC460C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F7F3EA"/>
            </a:solidFill>
            <a:prstDash val="solid"/>
          </a:ln>
        </p:spPr>
      </p:sp>
      <p:sp>
        <p:nvSpPr>
          <p:cNvPr id="2" name="kicker-marker">
            <a:extLst xmlns:a="http://schemas.openxmlformats.org/drawingml/2006/main">
              <a:ext uri="{FF2B5EF4-FFF2-40B4-BE49-F238E27FC236}">
                <a16:creationId xmlns:a16="http://schemas.microsoft.com/office/drawing/2014/main" id="{0872AEB6-CEE1-4178-8B20-5043BC78052F}"/>
              </a:ext>
            </a:extLst>
          </p:cNvPr>
          <p:cNvSpPr>
            <a:spLocks xmlns:a="http://schemas.openxmlformats.org/drawingml/2006/main" noGrp="1"/>
          </p:cNvSpPr>
          <p:nvPr/>
        </p:nvSpPr>
        <p:spPr>
          <a:xfrm xmlns:a="http://schemas.openxmlformats.org/drawingml/2006/main">
            <a:off x="533400" y="476250"/>
            <a:ext cx="171450" cy="38100"/>
          </a:xfrm>
          <a:prstGeom xmlns:a="http://schemas.openxmlformats.org/drawingml/2006/main" prst="rect">
            <a:avLst/>
          </a:prstGeom>
          <a:solidFill xmlns:a="http://schemas.openxmlformats.org/drawingml/2006/main">
            <a:srgbClr val="D71920"/>
          </a:solidFill>
          <a:ln xmlns:a="http://schemas.openxmlformats.org/drawingml/2006/main" w="0">
            <a:solidFill>
              <a:srgbClr val="D71920"/>
            </a:solidFill>
            <a:prstDash val="solid"/>
          </a:ln>
        </p:spPr>
      </p:sp>
      <p:sp>
        <p:nvSpPr>
          <p:cNvPr id="3" name="kicker-label">
            <a:extLst xmlns:a="http://schemas.openxmlformats.org/drawingml/2006/main">
              <a:ext uri="{FF2B5EF4-FFF2-40B4-BE49-F238E27FC236}">
                <a16:creationId xmlns:a16="http://schemas.microsoft.com/office/drawing/2014/main" id="{D1058618-D1CF-4F45-9C0D-FB9B23BB8879}"/>
              </a:ext>
            </a:extLst>
          </p:cNvPr>
          <p:cNvSpPr>
            <a:spLocks xmlns:a="http://schemas.openxmlformats.org/drawingml/2006/main" noGrp="1"/>
          </p:cNvSpPr>
          <p:nvPr/>
        </p:nvSpPr>
        <p:spPr>
          <a:xfrm xmlns:a="http://schemas.openxmlformats.org/drawingml/2006/main">
            <a:off x="800100" y="400050"/>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D71920"/>
                </a:solidFill>
                <a:latin typeface="Aptos"/>
                <a:ea typeface="Aptos"/>
                <a:cs typeface="Aptos"/>
              </a:defRPr>
            </a:pPr>
            <a:r>
              <a:rPr sz="900" b="1">
                <a:solidFill>
                  <a:srgbClr val="D71920"/>
                </a:solidFill>
                <a:latin typeface="Aptos"/>
                <a:ea typeface="Aptos"/>
                <a:cs typeface="Aptos"/>
              </a:rPr>
              <a:t>ROLE-AWARE ROUTING</a:t>
            </a:r>
          </a:p>
        </p:txBody>
      </p:sp>
      <p:sp>
        <p:nvSpPr>
          <p:cNvPr id="4" name="claim-title">
            <a:extLst xmlns:a="http://schemas.openxmlformats.org/drawingml/2006/main">
              <a:ext uri="{FF2B5EF4-FFF2-40B4-BE49-F238E27FC236}">
                <a16:creationId xmlns:a16="http://schemas.microsoft.com/office/drawing/2014/main" id="{5F23112F-5DD8-4807-9A26-554AEE9AEB5F}"/>
              </a:ext>
            </a:extLst>
          </p:cNvPr>
          <p:cNvSpPr>
            <a:spLocks xmlns:a="http://schemas.openxmlformats.org/drawingml/2006/main" noGrp="1"/>
          </p:cNvSpPr>
          <p:nvPr/>
        </p:nvSpPr>
        <p:spPr>
          <a:xfrm xmlns:a="http://schemas.openxmlformats.org/drawingml/2006/main">
            <a:off x="514350" y="742950"/>
            <a:ext cx="81915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4213D"/>
                </a:solidFill>
                <a:latin typeface="Aptos Display"/>
                <a:ea typeface="Aptos Display"/>
                <a:cs typeface="Aptos Display"/>
              </a:defRPr>
            </a:pPr>
            <a:r>
              <a:rPr sz="2550" b="1">
                <a:solidFill>
                  <a:srgbClr val="14213D"/>
                </a:solidFill>
                <a:latin typeface="Aptos Display"/>
                <a:ea typeface="Aptos Display"/>
                <a:cs typeface="Aptos Display"/>
              </a:rPr>
              <a:t>Each role gets the smallest authorized agent path needed for the task.</a:t>
            </a:r>
          </a:p>
        </p:txBody>
      </p:sp>
      <p:sp>
        <p:nvSpPr>
          <p:cNvPr id="5" name="">
            <a:extLst xmlns:a="http://schemas.openxmlformats.org/drawingml/2006/main">
              <a:ext uri="{FF2B5EF4-FFF2-40B4-BE49-F238E27FC236}">
                <a16:creationId xmlns:a16="http://schemas.microsoft.com/office/drawing/2014/main" id="{4540B13F-8AC6-4832-B5D4-6ECB6D04AC6C}"/>
              </a:ext>
            </a:extLst>
          </p:cNvPr>
          <p:cNvSpPr>
            <a:spLocks xmlns:a="http://schemas.openxmlformats.org/drawingml/2006/main" noGrp="1"/>
          </p:cNvSpPr>
          <p:nvPr/>
        </p:nvSpPr>
        <p:spPr>
          <a:xfrm xmlns:a="http://schemas.openxmlformats.org/drawingml/2006/main">
            <a:off x="533400" y="1562100"/>
            <a:ext cx="7239000" cy="3810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76200" bIns="0" anchor="t"/>
          <a:lstStyle xmlns:a="http://schemas.openxmlformats.org/drawingml/2006/main"/>
          <a:p xmlns:a="http://schemas.openxmlformats.org/drawingml/2006/main">
            <a:pPr algn="l">
              <a:defRPr sz="1275" b="0">
                <a:solidFill>
                  <a:srgbClr val="374151"/>
                </a:solidFill>
                <a:latin typeface="Aptos"/>
                <a:ea typeface="Aptos"/>
                <a:cs typeface="Aptos"/>
              </a:defRPr>
            </a:pPr>
            <a:r>
              <a:rPr sz="1275" b="0">
                <a:solidFill>
                  <a:srgbClr val="374151"/>
                </a:solidFill>
                <a:latin typeface="Aptos"/>
                <a:ea typeface="Aptos"/>
                <a:cs typeface="Aptos"/>
              </a:rPr>
              <a:t>The router validates role permissions, task type, optional selected agents, and always appends final guardrail review.</a:t>
            </a:r>
          </a:p>
        </p:txBody>
      </p:sp>
      <p:sp>
        <p:nvSpPr>
          <p:cNvPr id="6" name="">
            <a:extLst xmlns:a="http://schemas.openxmlformats.org/drawingml/2006/main">
              <a:ext uri="{FF2B5EF4-FFF2-40B4-BE49-F238E27FC236}">
                <a16:creationId xmlns:a16="http://schemas.microsoft.com/office/drawing/2014/main" id="{76A56B6A-91F8-4464-A019-5C531CE39FCB}"/>
              </a:ext>
            </a:extLst>
          </p:cNvPr>
          <p:cNvSpPr>
            <a:spLocks xmlns:a="http://schemas.openxmlformats.org/drawingml/2006/main" noGrp="1"/>
          </p:cNvSpPr>
          <p:nvPr/>
        </p:nvSpPr>
        <p:spPr>
          <a:xfrm xmlns:a="http://schemas.openxmlformats.org/drawingml/2006/main">
            <a:off x="8096250" y="1352550"/>
            <a:ext cx="2952750" cy="590550"/>
          </a:xfrm>
          <a:prstGeom xmlns:a="http://schemas.openxmlformats.org/drawingml/2006/main" prst="rect">
            <a:avLst/>
          </a:prstGeom>
          <a:solidFill xmlns:a="http://schemas.openxmlformats.org/drawingml/2006/main">
            <a:srgbClr val="14213D"/>
          </a:solidFill>
          <a:ln xmlns:a="http://schemas.openxmlformats.org/drawingml/2006/main" w="0">
            <a:solidFill>
              <a:srgbClr val="14213D"/>
            </a:solidFill>
            <a:prstDash val="solid"/>
          </a:ln>
        </p:spPr>
      </p:sp>
      <p:sp>
        <p:nvSpPr>
          <p:cNvPr id="7" name="">
            <a:extLst xmlns:a="http://schemas.openxmlformats.org/drawingml/2006/main">
              <a:ext uri="{FF2B5EF4-FFF2-40B4-BE49-F238E27FC236}">
                <a16:creationId xmlns:a16="http://schemas.microsoft.com/office/drawing/2014/main" id="{2CD47BB1-C98B-44A2-A624-3F0883690CE5}"/>
              </a:ext>
            </a:extLst>
          </p:cNvPr>
          <p:cNvSpPr>
            <a:spLocks xmlns:a="http://schemas.openxmlformats.org/drawingml/2006/main" noGrp="1"/>
          </p:cNvSpPr>
          <p:nvPr/>
        </p:nvSpPr>
        <p:spPr>
          <a:xfrm xmlns:a="http://schemas.openxmlformats.org/drawingml/2006/main">
            <a:off x="8248650" y="1466850"/>
            <a:ext cx="26479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DCE6F2"/>
                </a:solidFill>
                <a:latin typeface="Aptos"/>
                <a:ea typeface="Aptos"/>
                <a:cs typeface="Aptos"/>
              </a:defRPr>
            </a:pPr>
            <a:r>
              <a:rPr sz="900" b="0">
                <a:solidFill>
                  <a:srgbClr val="DCE6F2"/>
                </a:solidFill>
                <a:latin typeface="Aptos"/>
                <a:ea typeface="Aptos"/>
                <a:cs typeface="Aptos"/>
              </a:rPr>
              <a:t>Technical detail: manual selected_agents can narrow the route; final guardrail review remains mandatory.</a:t>
            </a:r>
          </a:p>
        </p:txBody>
      </p:sp>
      <p:sp>
        <p:nvSpPr>
          <p:cNvPr id="8" name="">
            <a:extLst xmlns:a="http://schemas.openxmlformats.org/drawingml/2006/main">
              <a:ext uri="{FF2B5EF4-FFF2-40B4-BE49-F238E27FC236}">
                <a16:creationId xmlns:a16="http://schemas.microsoft.com/office/drawing/2014/main" id="{B46CCD80-5DF6-4557-A844-F610DFEE9D0B}"/>
              </a:ext>
            </a:extLst>
          </p:cNvPr>
          <p:cNvSpPr>
            <a:spLocks xmlns:a="http://schemas.openxmlformats.org/drawingml/2006/main" noGrp="1"/>
          </p:cNvSpPr>
          <p:nvPr/>
        </p:nvSpPr>
        <p:spPr>
          <a:xfrm xmlns:a="http://schemas.openxmlformats.org/drawingml/2006/main">
            <a:off x="3409950" y="2209800"/>
            <a:ext cx="895350" cy="285750"/>
          </a:xfrm>
          <a:prstGeom xmlns:a="http://schemas.openxmlformats.org/drawingml/2006/main" prst="rect">
            <a:avLst/>
          </a:prstGeom>
          <a:solidFill xmlns:a="http://schemas.openxmlformats.org/drawingml/2006/main">
            <a:srgbClr val="14213D"/>
          </a:solidFill>
          <a:ln xmlns:a="http://schemas.openxmlformats.org/drawingml/2006/main" w="0">
            <a:solidFill>
              <a:srgbClr val="14213D"/>
            </a:solidFill>
            <a:prstDash val="solid"/>
          </a:ln>
        </p:spPr>
      </p:sp>
      <p:sp>
        <p:nvSpPr>
          <p:cNvPr id="9" name="">
            <a:extLst xmlns:a="http://schemas.openxmlformats.org/drawingml/2006/main">
              <a:ext uri="{FF2B5EF4-FFF2-40B4-BE49-F238E27FC236}">
                <a16:creationId xmlns:a16="http://schemas.microsoft.com/office/drawing/2014/main" id="{D66EAA7E-FC1D-4FEA-9AED-05BCDCBF94AF}"/>
              </a:ext>
            </a:extLst>
          </p:cNvPr>
          <p:cNvSpPr>
            <a:spLocks xmlns:a="http://schemas.openxmlformats.org/drawingml/2006/main" noGrp="1"/>
          </p:cNvSpPr>
          <p:nvPr/>
        </p:nvSpPr>
        <p:spPr>
          <a:xfrm xmlns:a="http://schemas.openxmlformats.org/drawingml/2006/main">
            <a:off x="3505200" y="2257425"/>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transaction</a:t>
            </a:r>
          </a:p>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behaviour</a:t>
            </a:r>
          </a:p>
        </p:txBody>
      </p:sp>
      <p:sp>
        <p:nvSpPr>
          <p:cNvPr id="10" name="">
            <a:extLst xmlns:a="http://schemas.openxmlformats.org/drawingml/2006/main">
              <a:ext uri="{FF2B5EF4-FFF2-40B4-BE49-F238E27FC236}">
                <a16:creationId xmlns:a16="http://schemas.microsoft.com/office/drawing/2014/main" id="{36D1C682-5288-49EB-9D56-7DEFE16508C7}"/>
              </a:ext>
            </a:extLst>
          </p:cNvPr>
          <p:cNvSpPr>
            <a:spLocks xmlns:a="http://schemas.openxmlformats.org/drawingml/2006/main" noGrp="1"/>
          </p:cNvSpPr>
          <p:nvPr/>
        </p:nvSpPr>
        <p:spPr>
          <a:xfrm xmlns:a="http://schemas.openxmlformats.org/drawingml/2006/main">
            <a:off x="4476750" y="2209800"/>
            <a:ext cx="895350" cy="285750"/>
          </a:xfrm>
          <a:prstGeom xmlns:a="http://schemas.openxmlformats.org/drawingml/2006/main" prst="rect">
            <a:avLst/>
          </a:prstGeom>
          <a:solidFill xmlns:a="http://schemas.openxmlformats.org/drawingml/2006/main">
            <a:srgbClr val="14213D"/>
          </a:solidFill>
          <a:ln xmlns:a="http://schemas.openxmlformats.org/drawingml/2006/main" w="0">
            <a:solidFill>
              <a:srgbClr val="14213D"/>
            </a:solidFill>
            <a:prstDash val="solid"/>
          </a:ln>
        </p:spPr>
      </p:sp>
      <p:sp>
        <p:nvSpPr>
          <p:cNvPr id="11" name="">
            <a:extLst xmlns:a="http://schemas.openxmlformats.org/drawingml/2006/main">
              <a:ext uri="{FF2B5EF4-FFF2-40B4-BE49-F238E27FC236}">
                <a16:creationId xmlns:a16="http://schemas.microsoft.com/office/drawing/2014/main" id="{1D483D18-6C1C-4AA5-A92A-5309006DE8CF}"/>
              </a:ext>
            </a:extLst>
          </p:cNvPr>
          <p:cNvSpPr>
            <a:spLocks xmlns:a="http://schemas.openxmlformats.org/drawingml/2006/main" noGrp="1"/>
          </p:cNvSpPr>
          <p:nvPr/>
        </p:nvSpPr>
        <p:spPr>
          <a:xfrm xmlns:a="http://schemas.openxmlformats.org/drawingml/2006/main">
            <a:off x="4572000" y="2257425"/>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model</a:t>
            </a:r>
          </a:p>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explanation</a:t>
            </a:r>
          </a:p>
        </p:txBody>
      </p:sp>
      <p:sp>
        <p:nvSpPr>
          <p:cNvPr id="12" name="">
            <a:extLst xmlns:a="http://schemas.openxmlformats.org/drawingml/2006/main">
              <a:ext uri="{FF2B5EF4-FFF2-40B4-BE49-F238E27FC236}">
                <a16:creationId xmlns:a16="http://schemas.microsoft.com/office/drawing/2014/main" id="{A3760F21-5ED6-45BA-BAD9-3EF8A8794FDA}"/>
              </a:ext>
            </a:extLst>
          </p:cNvPr>
          <p:cNvSpPr>
            <a:spLocks xmlns:a="http://schemas.openxmlformats.org/drawingml/2006/main" noGrp="1"/>
          </p:cNvSpPr>
          <p:nvPr/>
        </p:nvSpPr>
        <p:spPr>
          <a:xfrm xmlns:a="http://schemas.openxmlformats.org/drawingml/2006/main">
            <a:off x="5543550" y="2209800"/>
            <a:ext cx="895350" cy="285750"/>
          </a:xfrm>
          <a:prstGeom xmlns:a="http://schemas.openxmlformats.org/drawingml/2006/main" prst="rect">
            <a:avLst/>
          </a:prstGeom>
          <a:solidFill xmlns:a="http://schemas.openxmlformats.org/drawingml/2006/main">
            <a:srgbClr val="14213D"/>
          </a:solidFill>
          <a:ln xmlns:a="http://schemas.openxmlformats.org/drawingml/2006/main" w="0">
            <a:solidFill>
              <a:srgbClr val="14213D"/>
            </a:solidFill>
            <a:prstDash val="solid"/>
          </a:ln>
        </p:spPr>
      </p:sp>
      <p:sp>
        <p:nvSpPr>
          <p:cNvPr id="13" name="">
            <a:extLst xmlns:a="http://schemas.openxmlformats.org/drawingml/2006/main">
              <a:ext uri="{FF2B5EF4-FFF2-40B4-BE49-F238E27FC236}">
                <a16:creationId xmlns:a16="http://schemas.microsoft.com/office/drawing/2014/main" id="{629EACEB-A9B9-4254-8173-15FFDF347083}"/>
              </a:ext>
            </a:extLst>
          </p:cNvPr>
          <p:cNvSpPr>
            <a:spLocks xmlns:a="http://schemas.openxmlformats.org/drawingml/2006/main" noGrp="1"/>
          </p:cNvSpPr>
          <p:nvPr/>
        </p:nvSpPr>
        <p:spPr>
          <a:xfrm xmlns:a="http://schemas.openxmlformats.org/drawingml/2006/main">
            <a:off x="5638800" y="2257425"/>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typology</a:t>
            </a:r>
          </a:p>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mapping</a:t>
            </a:r>
          </a:p>
        </p:txBody>
      </p:sp>
      <p:sp>
        <p:nvSpPr>
          <p:cNvPr id="14" name="">
            <a:extLst xmlns:a="http://schemas.openxmlformats.org/drawingml/2006/main">
              <a:ext uri="{FF2B5EF4-FFF2-40B4-BE49-F238E27FC236}">
                <a16:creationId xmlns:a16="http://schemas.microsoft.com/office/drawing/2014/main" id="{365E4CCF-8646-4648-841C-91577F47C93E}"/>
              </a:ext>
            </a:extLst>
          </p:cNvPr>
          <p:cNvSpPr>
            <a:spLocks xmlns:a="http://schemas.openxmlformats.org/drawingml/2006/main" noGrp="1"/>
          </p:cNvSpPr>
          <p:nvPr/>
        </p:nvSpPr>
        <p:spPr>
          <a:xfrm xmlns:a="http://schemas.openxmlformats.org/drawingml/2006/main">
            <a:off x="6610350" y="2209800"/>
            <a:ext cx="895350" cy="285750"/>
          </a:xfrm>
          <a:prstGeom xmlns:a="http://schemas.openxmlformats.org/drawingml/2006/main" prst="rect">
            <a:avLst/>
          </a:prstGeom>
          <a:solidFill xmlns:a="http://schemas.openxmlformats.org/drawingml/2006/main">
            <a:srgbClr val="14213D"/>
          </a:solidFill>
          <a:ln xmlns:a="http://schemas.openxmlformats.org/drawingml/2006/main" w="0">
            <a:solidFill>
              <a:srgbClr val="14213D"/>
            </a:solidFill>
            <a:prstDash val="solid"/>
          </a:ln>
        </p:spPr>
      </p:sp>
      <p:sp>
        <p:nvSpPr>
          <p:cNvPr id="15" name="">
            <a:extLst xmlns:a="http://schemas.openxmlformats.org/drawingml/2006/main">
              <a:ext uri="{FF2B5EF4-FFF2-40B4-BE49-F238E27FC236}">
                <a16:creationId xmlns:a16="http://schemas.microsoft.com/office/drawing/2014/main" id="{28F629AB-9540-4014-8232-010148C306F7}"/>
              </a:ext>
            </a:extLst>
          </p:cNvPr>
          <p:cNvSpPr>
            <a:spLocks xmlns:a="http://schemas.openxmlformats.org/drawingml/2006/main" noGrp="1"/>
          </p:cNvSpPr>
          <p:nvPr/>
        </p:nvSpPr>
        <p:spPr>
          <a:xfrm xmlns:a="http://schemas.openxmlformats.org/drawingml/2006/main">
            <a:off x="6705600" y="2257425"/>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feature</a:t>
            </a:r>
          </a:p>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critic</a:t>
            </a:r>
          </a:p>
        </p:txBody>
      </p:sp>
      <p:sp>
        <p:nvSpPr>
          <p:cNvPr id="16" name="">
            <a:extLst xmlns:a="http://schemas.openxmlformats.org/drawingml/2006/main">
              <a:ext uri="{FF2B5EF4-FFF2-40B4-BE49-F238E27FC236}">
                <a16:creationId xmlns:a16="http://schemas.microsoft.com/office/drawing/2014/main" id="{5128B31A-1BFD-41CD-A302-1E89A21AEBC8}"/>
              </a:ext>
            </a:extLst>
          </p:cNvPr>
          <p:cNvSpPr>
            <a:spLocks xmlns:a="http://schemas.openxmlformats.org/drawingml/2006/main" noGrp="1"/>
          </p:cNvSpPr>
          <p:nvPr/>
        </p:nvSpPr>
        <p:spPr>
          <a:xfrm xmlns:a="http://schemas.openxmlformats.org/drawingml/2006/main">
            <a:off x="7677150" y="2209800"/>
            <a:ext cx="895350" cy="285750"/>
          </a:xfrm>
          <a:prstGeom xmlns:a="http://schemas.openxmlformats.org/drawingml/2006/main" prst="rect">
            <a:avLst/>
          </a:prstGeom>
          <a:solidFill xmlns:a="http://schemas.openxmlformats.org/drawingml/2006/main">
            <a:srgbClr val="14213D"/>
          </a:solidFill>
          <a:ln xmlns:a="http://schemas.openxmlformats.org/drawingml/2006/main" w="0">
            <a:solidFill>
              <a:srgbClr val="14213D"/>
            </a:solidFill>
            <a:prstDash val="solid"/>
          </a:ln>
        </p:spPr>
      </p:sp>
      <p:sp>
        <p:nvSpPr>
          <p:cNvPr id="17" name="">
            <a:extLst xmlns:a="http://schemas.openxmlformats.org/drawingml/2006/main">
              <a:ext uri="{FF2B5EF4-FFF2-40B4-BE49-F238E27FC236}">
                <a16:creationId xmlns:a16="http://schemas.microsoft.com/office/drawing/2014/main" id="{8E9F02F8-1E8C-44C4-925B-4C9081D51AFA}"/>
              </a:ext>
            </a:extLst>
          </p:cNvPr>
          <p:cNvSpPr>
            <a:spLocks xmlns:a="http://schemas.openxmlformats.org/drawingml/2006/main" noGrp="1"/>
          </p:cNvSpPr>
          <p:nvPr/>
        </p:nvSpPr>
        <p:spPr>
          <a:xfrm xmlns:a="http://schemas.openxmlformats.org/drawingml/2006/main">
            <a:off x="7772400" y="2257425"/>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evidence</a:t>
            </a:r>
          </a:p>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assembly</a:t>
            </a:r>
          </a:p>
        </p:txBody>
      </p:sp>
      <p:sp>
        <p:nvSpPr>
          <p:cNvPr id="18" name="">
            <a:extLst xmlns:a="http://schemas.openxmlformats.org/drawingml/2006/main">
              <a:ext uri="{FF2B5EF4-FFF2-40B4-BE49-F238E27FC236}">
                <a16:creationId xmlns:a16="http://schemas.microsoft.com/office/drawing/2014/main" id="{EF686E70-38ED-4B76-B555-84E6ED297BB7}"/>
              </a:ext>
            </a:extLst>
          </p:cNvPr>
          <p:cNvSpPr>
            <a:spLocks xmlns:a="http://schemas.openxmlformats.org/drawingml/2006/main" noGrp="1"/>
          </p:cNvSpPr>
          <p:nvPr/>
        </p:nvSpPr>
        <p:spPr>
          <a:xfrm xmlns:a="http://schemas.openxmlformats.org/drawingml/2006/main">
            <a:off x="8743950" y="2209800"/>
            <a:ext cx="895350" cy="285750"/>
          </a:xfrm>
          <a:prstGeom xmlns:a="http://schemas.openxmlformats.org/drawingml/2006/main" prst="rect">
            <a:avLst/>
          </a:prstGeom>
          <a:solidFill xmlns:a="http://schemas.openxmlformats.org/drawingml/2006/main">
            <a:srgbClr val="14213D"/>
          </a:solidFill>
          <a:ln xmlns:a="http://schemas.openxmlformats.org/drawingml/2006/main" w="0">
            <a:solidFill>
              <a:srgbClr val="14213D"/>
            </a:solidFill>
            <a:prstDash val="solid"/>
          </a:ln>
        </p:spPr>
      </p:sp>
      <p:sp>
        <p:nvSpPr>
          <p:cNvPr id="19" name="">
            <a:extLst xmlns:a="http://schemas.openxmlformats.org/drawingml/2006/main">
              <a:ext uri="{FF2B5EF4-FFF2-40B4-BE49-F238E27FC236}">
                <a16:creationId xmlns:a16="http://schemas.microsoft.com/office/drawing/2014/main" id="{45CBF0EE-A534-4BD1-964F-E0B62934DEA7}"/>
              </a:ext>
            </a:extLst>
          </p:cNvPr>
          <p:cNvSpPr>
            <a:spLocks xmlns:a="http://schemas.openxmlformats.org/drawingml/2006/main" noGrp="1"/>
          </p:cNvSpPr>
          <p:nvPr/>
        </p:nvSpPr>
        <p:spPr>
          <a:xfrm xmlns:a="http://schemas.openxmlformats.org/drawingml/2006/main">
            <a:off x="8839200" y="2257425"/>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judge</a:t>
            </a:r>
          </a:p>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panel</a:t>
            </a:r>
          </a:p>
        </p:txBody>
      </p:sp>
      <p:sp>
        <p:nvSpPr>
          <p:cNvPr id="20" name="">
            <a:extLst xmlns:a="http://schemas.openxmlformats.org/drawingml/2006/main">
              <a:ext uri="{FF2B5EF4-FFF2-40B4-BE49-F238E27FC236}">
                <a16:creationId xmlns:a16="http://schemas.microsoft.com/office/drawing/2014/main" id="{B8C25F39-7C3C-429A-BA9C-1FFD180DBCE7}"/>
              </a:ext>
            </a:extLst>
          </p:cNvPr>
          <p:cNvSpPr>
            <a:spLocks xmlns:a="http://schemas.openxmlformats.org/drawingml/2006/main" noGrp="1"/>
          </p:cNvSpPr>
          <p:nvPr/>
        </p:nvSpPr>
        <p:spPr>
          <a:xfrm xmlns:a="http://schemas.openxmlformats.org/drawingml/2006/main">
            <a:off x="9810750" y="2209800"/>
            <a:ext cx="895350" cy="285750"/>
          </a:xfrm>
          <a:prstGeom xmlns:a="http://schemas.openxmlformats.org/drawingml/2006/main" prst="rect">
            <a:avLst/>
          </a:prstGeom>
          <a:solidFill xmlns:a="http://schemas.openxmlformats.org/drawingml/2006/main">
            <a:srgbClr val="D71920"/>
          </a:solidFill>
          <a:ln xmlns:a="http://schemas.openxmlformats.org/drawingml/2006/main" w="0">
            <a:solidFill>
              <a:srgbClr val="D71920"/>
            </a:solidFill>
            <a:prstDash val="solid"/>
          </a:ln>
        </p:spPr>
      </p:sp>
      <p:sp>
        <p:nvSpPr>
          <p:cNvPr id="21" name="">
            <a:extLst xmlns:a="http://schemas.openxmlformats.org/drawingml/2006/main">
              <a:ext uri="{FF2B5EF4-FFF2-40B4-BE49-F238E27FC236}">
                <a16:creationId xmlns:a16="http://schemas.microsoft.com/office/drawing/2014/main" id="{7899FDB3-8E68-4541-B0A7-C73E52DB99C5}"/>
              </a:ext>
            </a:extLst>
          </p:cNvPr>
          <p:cNvSpPr>
            <a:spLocks xmlns:a="http://schemas.openxmlformats.org/drawingml/2006/main" noGrp="1"/>
          </p:cNvSpPr>
          <p:nvPr/>
        </p:nvSpPr>
        <p:spPr>
          <a:xfrm xmlns:a="http://schemas.openxmlformats.org/drawingml/2006/main">
            <a:off x="9906000" y="2257425"/>
            <a:ext cx="7048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900" b="1">
                <a:solidFill>
                  <a:srgbClr val="FFFFFF"/>
                </a:solidFill>
                <a:latin typeface="Aptos"/>
                <a:ea typeface="Aptos"/>
                <a:cs typeface="Aptos"/>
              </a:defRPr>
            </a:pPr>
            <a:r>
              <a:rPr sz="900" b="1">
                <a:solidFill>
                  <a:srgbClr val="FFFFFF"/>
                </a:solidFill>
                <a:latin typeface="Aptos"/>
                <a:ea typeface="Aptos"/>
                <a:cs typeface="Aptos"/>
              </a:rPr>
              <a:t>guardrail</a:t>
            </a:r>
          </a:p>
        </p:txBody>
      </p:sp>
      <p:sp>
        <p:nvSpPr>
          <p:cNvPr id="22" name="">
            <a:extLst xmlns:a="http://schemas.openxmlformats.org/drawingml/2006/main">
              <a:ext uri="{FF2B5EF4-FFF2-40B4-BE49-F238E27FC236}">
                <a16:creationId xmlns:a16="http://schemas.microsoft.com/office/drawing/2014/main" id="{6A280569-CC9E-498A-A267-0624B01DD1DD}"/>
              </a:ext>
            </a:extLst>
          </p:cNvPr>
          <p:cNvSpPr>
            <a:spLocks xmlns:a="http://schemas.openxmlformats.org/drawingml/2006/main" noGrp="1"/>
          </p:cNvSpPr>
          <p:nvPr/>
        </p:nvSpPr>
        <p:spPr>
          <a:xfrm xmlns:a="http://schemas.openxmlformats.org/drawingml/2006/main">
            <a:off x="628650" y="2952750"/>
            <a:ext cx="1714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4213D"/>
                </a:solidFill>
                <a:latin typeface="Aptos"/>
                <a:ea typeface="Aptos"/>
                <a:cs typeface="Aptos"/>
              </a:defRPr>
            </a:pPr>
            <a:r>
              <a:rPr sz="1200" b="1">
                <a:solidFill>
                  <a:srgbClr val="14213D"/>
                </a:solidFill>
                <a:latin typeface="Aptos"/>
                <a:ea typeface="Aptos"/>
                <a:cs typeface="Aptos"/>
              </a:rPr>
              <a:t>Data scientist</a:t>
            </a:r>
          </a:p>
        </p:txBody>
      </p:sp>
      <p:sp>
        <p:nvSpPr>
          <p:cNvPr id="23" name="">
            <a:extLst xmlns:a="http://schemas.openxmlformats.org/drawingml/2006/main">
              <a:ext uri="{FF2B5EF4-FFF2-40B4-BE49-F238E27FC236}">
                <a16:creationId xmlns:a16="http://schemas.microsoft.com/office/drawing/2014/main" id="{A19A47CE-F4E3-4D92-B92C-B5598E13B5B8}"/>
              </a:ext>
            </a:extLst>
          </p:cNvPr>
          <p:cNvSpPr>
            <a:spLocks xmlns:a="http://schemas.openxmlformats.org/drawingml/2006/main" noGrp="1"/>
          </p:cNvSpPr>
          <p:nvPr/>
        </p:nvSpPr>
        <p:spPr>
          <a:xfrm xmlns:a="http://schemas.openxmlformats.org/drawingml/2006/main">
            <a:off x="628650" y="3200400"/>
            <a:ext cx="2286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6670"/>
                </a:solidFill>
                <a:latin typeface="Aptos"/>
                <a:ea typeface="Aptos"/>
                <a:cs typeface="Aptos"/>
              </a:defRPr>
            </a:pPr>
            <a:r>
              <a:rPr sz="900" b="0">
                <a:solidFill>
                  <a:srgbClr val="5C6670"/>
                </a:solidFill>
                <a:latin typeface="Aptos"/>
                <a:ea typeface="Aptos"/>
                <a:cs typeface="Aptos"/>
              </a:rPr>
              <a:t>Feature quality and model behaviour</a:t>
            </a:r>
          </a:p>
        </p:txBody>
      </p:sp>
      <p:sp>
        <p:nvSpPr>
          <p:cNvPr id="24" name="">
            <a:extLst xmlns:a="http://schemas.openxmlformats.org/drawingml/2006/main">
              <a:ext uri="{FF2B5EF4-FFF2-40B4-BE49-F238E27FC236}">
                <a16:creationId xmlns:a16="http://schemas.microsoft.com/office/drawing/2014/main" id="{CBEF291D-1F4C-44BE-B32B-FE3DFC7A73D0}"/>
              </a:ext>
            </a:extLst>
          </p:cNvPr>
          <p:cNvSpPr>
            <a:spLocks xmlns:a="http://schemas.openxmlformats.org/drawingml/2006/main" noGrp="1"/>
          </p:cNvSpPr>
          <p:nvPr/>
        </p:nvSpPr>
        <p:spPr>
          <a:xfrm xmlns:a="http://schemas.openxmlformats.org/drawingml/2006/main">
            <a:off x="3762375" y="3038475"/>
            <a:ext cx="190500" cy="190500"/>
          </a:xfrm>
          <a:prstGeom xmlns:a="http://schemas.openxmlformats.org/drawingml/2006/main" prst="rect">
            <a:avLst/>
          </a:prstGeom>
          <a:solidFill xmlns:a="http://schemas.openxmlformats.org/drawingml/2006/main">
            <a:srgbClr val="1F8A70"/>
          </a:solidFill>
          <a:ln xmlns:a="http://schemas.openxmlformats.org/drawingml/2006/main" w="9525">
            <a:solidFill>
              <a:srgbClr val="FFFFFF"/>
            </a:solidFill>
            <a:prstDash val="solid"/>
          </a:ln>
        </p:spPr>
      </p:sp>
      <p:sp>
        <p:nvSpPr>
          <p:cNvPr id="25" name="">
            <a:extLst xmlns:a="http://schemas.openxmlformats.org/drawingml/2006/main">
              <a:ext uri="{FF2B5EF4-FFF2-40B4-BE49-F238E27FC236}">
                <a16:creationId xmlns:a16="http://schemas.microsoft.com/office/drawing/2014/main" id="{748BA9E7-9A4B-4567-A719-9546122F2BC2}"/>
              </a:ext>
            </a:extLst>
          </p:cNvPr>
          <p:cNvSpPr>
            <a:spLocks xmlns:a="http://schemas.openxmlformats.org/drawingml/2006/main" noGrp="1"/>
          </p:cNvSpPr>
          <p:nvPr/>
        </p:nvSpPr>
        <p:spPr>
          <a:xfrm xmlns:a="http://schemas.openxmlformats.org/drawingml/2006/main">
            <a:off x="4829175" y="3038475"/>
            <a:ext cx="190500" cy="190500"/>
          </a:xfrm>
          <a:prstGeom xmlns:a="http://schemas.openxmlformats.org/drawingml/2006/main" prst="rect">
            <a:avLst/>
          </a:prstGeom>
          <a:solidFill xmlns:a="http://schemas.openxmlformats.org/drawingml/2006/main">
            <a:srgbClr val="1F8A70"/>
          </a:solidFill>
          <a:ln xmlns:a="http://schemas.openxmlformats.org/drawingml/2006/main" w="9525">
            <a:solidFill>
              <a:srgbClr val="FFFFFF"/>
            </a:solidFill>
            <a:prstDash val="solid"/>
          </a:ln>
        </p:spPr>
      </p:sp>
      <p:sp>
        <p:nvSpPr>
          <p:cNvPr id="26" name="">
            <a:extLst xmlns:a="http://schemas.openxmlformats.org/drawingml/2006/main">
              <a:ext uri="{FF2B5EF4-FFF2-40B4-BE49-F238E27FC236}">
                <a16:creationId xmlns:a16="http://schemas.microsoft.com/office/drawing/2014/main" id="{D6138D43-3D8D-47CC-BFC6-87096576EE06}"/>
              </a:ext>
            </a:extLst>
          </p:cNvPr>
          <p:cNvSpPr>
            <a:spLocks xmlns:a="http://schemas.openxmlformats.org/drawingml/2006/main" noGrp="1"/>
          </p:cNvSpPr>
          <p:nvPr/>
        </p:nvSpPr>
        <p:spPr>
          <a:xfrm xmlns:a="http://schemas.openxmlformats.org/drawingml/2006/main">
            <a:off x="5895975" y="3038475"/>
            <a:ext cx="190500" cy="190500"/>
          </a:xfrm>
          <a:prstGeom xmlns:a="http://schemas.openxmlformats.org/drawingml/2006/main" prst="rect">
            <a:avLst/>
          </a:prstGeom>
          <a:solidFill xmlns:a="http://schemas.openxmlformats.org/drawingml/2006/main">
            <a:srgbClr val="EFE8DC"/>
          </a:solidFill>
          <a:ln xmlns:a="http://schemas.openxmlformats.org/drawingml/2006/main" w="9525">
            <a:solidFill>
              <a:srgbClr val="D8D0C3"/>
            </a:solidFill>
            <a:prstDash val="solid"/>
          </a:ln>
        </p:spPr>
      </p:sp>
      <p:sp>
        <p:nvSpPr>
          <p:cNvPr id="27" name="">
            <a:extLst xmlns:a="http://schemas.openxmlformats.org/drawingml/2006/main">
              <a:ext uri="{FF2B5EF4-FFF2-40B4-BE49-F238E27FC236}">
                <a16:creationId xmlns:a16="http://schemas.microsoft.com/office/drawing/2014/main" id="{99DB20C1-1353-407B-AAE8-277771AFD244}"/>
              </a:ext>
            </a:extLst>
          </p:cNvPr>
          <p:cNvSpPr>
            <a:spLocks xmlns:a="http://schemas.openxmlformats.org/drawingml/2006/main" noGrp="1"/>
          </p:cNvSpPr>
          <p:nvPr/>
        </p:nvSpPr>
        <p:spPr>
          <a:xfrm xmlns:a="http://schemas.openxmlformats.org/drawingml/2006/main">
            <a:off x="6962775" y="3038475"/>
            <a:ext cx="190500" cy="190500"/>
          </a:xfrm>
          <a:prstGeom xmlns:a="http://schemas.openxmlformats.org/drawingml/2006/main" prst="rect">
            <a:avLst/>
          </a:prstGeom>
          <a:solidFill xmlns:a="http://schemas.openxmlformats.org/drawingml/2006/main">
            <a:srgbClr val="1F8A70"/>
          </a:solidFill>
          <a:ln xmlns:a="http://schemas.openxmlformats.org/drawingml/2006/main" w="9525">
            <a:solidFill>
              <a:srgbClr val="FFFFFF"/>
            </a:solidFill>
            <a:prstDash val="solid"/>
          </a:ln>
        </p:spPr>
      </p:sp>
      <p:sp>
        <p:nvSpPr>
          <p:cNvPr id="28" name="">
            <a:extLst xmlns:a="http://schemas.openxmlformats.org/drawingml/2006/main">
              <a:ext uri="{FF2B5EF4-FFF2-40B4-BE49-F238E27FC236}">
                <a16:creationId xmlns:a16="http://schemas.microsoft.com/office/drawing/2014/main" id="{8F122B6D-E7C6-4E9E-9B47-A2C1309D56B9}"/>
              </a:ext>
            </a:extLst>
          </p:cNvPr>
          <p:cNvSpPr>
            <a:spLocks xmlns:a="http://schemas.openxmlformats.org/drawingml/2006/main" noGrp="1"/>
          </p:cNvSpPr>
          <p:nvPr/>
        </p:nvSpPr>
        <p:spPr>
          <a:xfrm xmlns:a="http://schemas.openxmlformats.org/drawingml/2006/main">
            <a:off x="8029575" y="3038475"/>
            <a:ext cx="190500" cy="190500"/>
          </a:xfrm>
          <a:prstGeom xmlns:a="http://schemas.openxmlformats.org/drawingml/2006/main" prst="rect">
            <a:avLst/>
          </a:prstGeom>
          <a:solidFill xmlns:a="http://schemas.openxmlformats.org/drawingml/2006/main">
            <a:srgbClr val="1F8A70"/>
          </a:solidFill>
          <a:ln xmlns:a="http://schemas.openxmlformats.org/drawingml/2006/main" w="9525">
            <a:solidFill>
              <a:srgbClr val="FFFFFF"/>
            </a:solidFill>
            <a:prstDash val="solid"/>
          </a:ln>
        </p:spPr>
      </p:sp>
      <p:sp>
        <p:nvSpPr>
          <p:cNvPr id="29" name="">
            <a:extLst xmlns:a="http://schemas.openxmlformats.org/drawingml/2006/main">
              <a:ext uri="{FF2B5EF4-FFF2-40B4-BE49-F238E27FC236}">
                <a16:creationId xmlns:a16="http://schemas.microsoft.com/office/drawing/2014/main" id="{1892166E-8981-454B-8B8D-C7AA65150209}"/>
              </a:ext>
            </a:extLst>
          </p:cNvPr>
          <p:cNvSpPr>
            <a:spLocks xmlns:a="http://schemas.openxmlformats.org/drawingml/2006/main" noGrp="1"/>
          </p:cNvSpPr>
          <p:nvPr/>
        </p:nvSpPr>
        <p:spPr>
          <a:xfrm xmlns:a="http://schemas.openxmlformats.org/drawingml/2006/main">
            <a:off x="9096375" y="3038475"/>
            <a:ext cx="190500" cy="190500"/>
          </a:xfrm>
          <a:prstGeom xmlns:a="http://schemas.openxmlformats.org/drawingml/2006/main" prst="rect">
            <a:avLst/>
          </a:prstGeom>
          <a:solidFill xmlns:a="http://schemas.openxmlformats.org/drawingml/2006/main">
            <a:srgbClr val="1F8A70"/>
          </a:solidFill>
          <a:ln xmlns:a="http://schemas.openxmlformats.org/drawingml/2006/main" w="9525">
            <a:solidFill>
              <a:srgbClr val="FFFFFF"/>
            </a:solidFill>
            <a:prstDash val="solid"/>
          </a:ln>
        </p:spPr>
      </p:sp>
      <p:sp>
        <p:nvSpPr>
          <p:cNvPr id="30" name="">
            <a:extLst xmlns:a="http://schemas.openxmlformats.org/drawingml/2006/main">
              <a:ext uri="{FF2B5EF4-FFF2-40B4-BE49-F238E27FC236}">
                <a16:creationId xmlns:a16="http://schemas.microsoft.com/office/drawing/2014/main" id="{A74FE13F-7370-4F18-BB3C-3D417A9AD30A}"/>
              </a:ext>
            </a:extLst>
          </p:cNvPr>
          <p:cNvSpPr>
            <a:spLocks xmlns:a="http://schemas.openxmlformats.org/drawingml/2006/main" noGrp="1"/>
          </p:cNvSpPr>
          <p:nvPr/>
        </p:nvSpPr>
        <p:spPr>
          <a:xfrm xmlns:a="http://schemas.openxmlformats.org/drawingml/2006/main">
            <a:off x="10163175" y="3038475"/>
            <a:ext cx="190500" cy="190500"/>
          </a:xfrm>
          <a:prstGeom xmlns:a="http://schemas.openxmlformats.org/drawingml/2006/main" prst="rect">
            <a:avLst/>
          </a:prstGeom>
          <a:solidFill xmlns:a="http://schemas.openxmlformats.org/drawingml/2006/main">
            <a:srgbClr val="D71920"/>
          </a:solidFill>
          <a:ln xmlns:a="http://schemas.openxmlformats.org/drawingml/2006/main" w="9525">
            <a:solidFill>
              <a:srgbClr val="FFFFFF"/>
            </a:solidFill>
            <a:prstDash val="solid"/>
          </a:ln>
        </p:spPr>
      </p:sp>
      <p:sp>
        <p:nvSpPr>
          <p:cNvPr id="31" name="">
            <a:extLst xmlns:a="http://schemas.openxmlformats.org/drawingml/2006/main">
              <a:ext uri="{FF2B5EF4-FFF2-40B4-BE49-F238E27FC236}">
                <a16:creationId xmlns:a16="http://schemas.microsoft.com/office/drawing/2014/main" id="{57325CEF-A804-4F3E-A791-99D4C3AE5382}"/>
              </a:ext>
            </a:extLst>
          </p:cNvPr>
          <p:cNvSpPr>
            <a:spLocks xmlns:a="http://schemas.openxmlformats.org/drawingml/2006/main" noGrp="1"/>
          </p:cNvSpPr>
          <p:nvPr/>
        </p:nvSpPr>
        <p:spPr>
          <a:xfrm xmlns:a="http://schemas.openxmlformats.org/drawingml/2006/main">
            <a:off x="552450" y="3467100"/>
            <a:ext cx="10668000" cy="9525"/>
          </a:xfrm>
          <a:prstGeom xmlns:a="http://schemas.openxmlformats.org/drawingml/2006/main" prst="rect">
            <a:avLst/>
          </a:prstGeom>
          <a:solidFill xmlns:a="http://schemas.openxmlformats.org/drawingml/2006/main">
            <a:srgbClr val="D8D0C3"/>
          </a:solidFill>
          <a:ln xmlns:a="http://schemas.openxmlformats.org/drawingml/2006/main" w="0">
            <a:solidFill>
              <a:srgbClr val="D8D0C3"/>
            </a:solidFill>
            <a:prstDash val="solid"/>
          </a:ln>
        </p:spPr>
      </p:sp>
      <p:sp>
        <p:nvSpPr>
          <p:cNvPr id="32" name="">
            <a:extLst xmlns:a="http://schemas.openxmlformats.org/drawingml/2006/main">
              <a:ext uri="{FF2B5EF4-FFF2-40B4-BE49-F238E27FC236}">
                <a16:creationId xmlns:a16="http://schemas.microsoft.com/office/drawing/2014/main" id="{66DE0204-4D3C-4C1B-9DE5-F2A7A8F33DA5}"/>
              </a:ext>
            </a:extLst>
          </p:cNvPr>
          <p:cNvSpPr>
            <a:spLocks xmlns:a="http://schemas.openxmlformats.org/drawingml/2006/main" noGrp="1"/>
          </p:cNvSpPr>
          <p:nvPr/>
        </p:nvSpPr>
        <p:spPr>
          <a:xfrm xmlns:a="http://schemas.openxmlformats.org/drawingml/2006/main">
            <a:off x="628650" y="3657600"/>
            <a:ext cx="1714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4213D"/>
                </a:solidFill>
                <a:latin typeface="Aptos"/>
                <a:ea typeface="Aptos"/>
                <a:cs typeface="Aptos"/>
              </a:defRPr>
            </a:pPr>
            <a:r>
              <a:rPr sz="1200" b="1">
                <a:solidFill>
                  <a:srgbClr val="14213D"/>
                </a:solidFill>
                <a:latin typeface="Aptos"/>
                <a:ea typeface="Aptos"/>
                <a:cs typeface="Aptos"/>
              </a:rPr>
              <a:t>Investigator</a:t>
            </a:r>
          </a:p>
        </p:txBody>
      </p:sp>
      <p:sp>
        <p:nvSpPr>
          <p:cNvPr id="33" name="">
            <a:extLst xmlns:a="http://schemas.openxmlformats.org/drawingml/2006/main">
              <a:ext uri="{FF2B5EF4-FFF2-40B4-BE49-F238E27FC236}">
                <a16:creationId xmlns:a16="http://schemas.microsoft.com/office/drawing/2014/main" id="{3CEAFE5B-D7F9-4654-B307-F78338F6D25B}"/>
              </a:ext>
            </a:extLst>
          </p:cNvPr>
          <p:cNvSpPr>
            <a:spLocks xmlns:a="http://schemas.openxmlformats.org/drawingml/2006/main" noGrp="1"/>
          </p:cNvSpPr>
          <p:nvPr/>
        </p:nvSpPr>
        <p:spPr>
          <a:xfrm xmlns:a="http://schemas.openxmlformats.org/drawingml/2006/main">
            <a:off x="628650" y="3905250"/>
            <a:ext cx="2286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6670"/>
                </a:solidFill>
                <a:latin typeface="Aptos"/>
                <a:ea typeface="Aptos"/>
                <a:cs typeface="Aptos"/>
              </a:defRPr>
            </a:pPr>
            <a:r>
              <a:rPr sz="900" b="0">
                <a:solidFill>
                  <a:srgbClr val="5C6670"/>
                </a:solidFill>
                <a:latin typeface="Aptos"/>
                <a:ea typeface="Aptos"/>
                <a:cs typeface="Aptos"/>
              </a:rPr>
              <a:t>Evidence-grounded activity summary</a:t>
            </a:r>
          </a:p>
        </p:txBody>
      </p:sp>
      <p:sp>
        <p:nvSpPr>
          <p:cNvPr id="34" name="">
            <a:extLst xmlns:a="http://schemas.openxmlformats.org/drawingml/2006/main">
              <a:ext uri="{FF2B5EF4-FFF2-40B4-BE49-F238E27FC236}">
                <a16:creationId xmlns:a16="http://schemas.microsoft.com/office/drawing/2014/main" id="{1FB36C4E-7785-4673-8B1B-0CA19F2E2F01}"/>
              </a:ext>
            </a:extLst>
          </p:cNvPr>
          <p:cNvSpPr>
            <a:spLocks xmlns:a="http://schemas.openxmlformats.org/drawingml/2006/main" noGrp="1"/>
          </p:cNvSpPr>
          <p:nvPr/>
        </p:nvSpPr>
        <p:spPr>
          <a:xfrm xmlns:a="http://schemas.openxmlformats.org/drawingml/2006/main">
            <a:off x="3762375" y="3743325"/>
            <a:ext cx="190500" cy="190500"/>
          </a:xfrm>
          <a:prstGeom xmlns:a="http://schemas.openxmlformats.org/drawingml/2006/main" prst="rect">
            <a:avLst/>
          </a:prstGeom>
          <a:solidFill xmlns:a="http://schemas.openxmlformats.org/drawingml/2006/main">
            <a:srgbClr val="1F8A70"/>
          </a:solidFill>
          <a:ln xmlns:a="http://schemas.openxmlformats.org/drawingml/2006/main" w="9525">
            <a:solidFill>
              <a:srgbClr val="FFFFFF"/>
            </a:solidFill>
            <a:prstDash val="solid"/>
          </a:ln>
        </p:spPr>
      </p:sp>
      <p:sp>
        <p:nvSpPr>
          <p:cNvPr id="35" name="">
            <a:extLst xmlns:a="http://schemas.openxmlformats.org/drawingml/2006/main">
              <a:ext uri="{FF2B5EF4-FFF2-40B4-BE49-F238E27FC236}">
                <a16:creationId xmlns:a16="http://schemas.microsoft.com/office/drawing/2014/main" id="{B5832655-CDAB-4DB1-84E4-A3A8F670AAC8}"/>
              </a:ext>
            </a:extLst>
          </p:cNvPr>
          <p:cNvSpPr>
            <a:spLocks xmlns:a="http://schemas.openxmlformats.org/drawingml/2006/main" noGrp="1"/>
          </p:cNvSpPr>
          <p:nvPr/>
        </p:nvSpPr>
        <p:spPr>
          <a:xfrm xmlns:a="http://schemas.openxmlformats.org/drawingml/2006/main">
            <a:off x="4829175" y="3743325"/>
            <a:ext cx="190500" cy="190500"/>
          </a:xfrm>
          <a:prstGeom xmlns:a="http://schemas.openxmlformats.org/drawingml/2006/main" prst="rect">
            <a:avLst/>
          </a:prstGeom>
          <a:solidFill xmlns:a="http://schemas.openxmlformats.org/drawingml/2006/main">
            <a:srgbClr val="EFE8DC"/>
          </a:solidFill>
          <a:ln xmlns:a="http://schemas.openxmlformats.org/drawingml/2006/main" w="9525">
            <a:solidFill>
              <a:srgbClr val="D8D0C3"/>
            </a:solidFill>
            <a:prstDash val="solid"/>
          </a:ln>
        </p:spPr>
      </p:sp>
      <p:sp>
        <p:nvSpPr>
          <p:cNvPr id="36" name="">
            <a:extLst xmlns:a="http://schemas.openxmlformats.org/drawingml/2006/main">
              <a:ext uri="{FF2B5EF4-FFF2-40B4-BE49-F238E27FC236}">
                <a16:creationId xmlns:a16="http://schemas.microsoft.com/office/drawing/2014/main" id="{6C65AC27-9342-4D9B-90E1-601B5103C207}"/>
              </a:ext>
            </a:extLst>
          </p:cNvPr>
          <p:cNvSpPr>
            <a:spLocks xmlns:a="http://schemas.openxmlformats.org/drawingml/2006/main" noGrp="1"/>
          </p:cNvSpPr>
          <p:nvPr/>
        </p:nvSpPr>
        <p:spPr>
          <a:xfrm xmlns:a="http://schemas.openxmlformats.org/drawingml/2006/main">
            <a:off x="5895975" y="3743325"/>
            <a:ext cx="190500" cy="190500"/>
          </a:xfrm>
          <a:prstGeom xmlns:a="http://schemas.openxmlformats.org/drawingml/2006/main" prst="rect">
            <a:avLst/>
          </a:prstGeom>
          <a:solidFill xmlns:a="http://schemas.openxmlformats.org/drawingml/2006/main">
            <a:srgbClr val="1F8A70"/>
          </a:solidFill>
          <a:ln xmlns:a="http://schemas.openxmlformats.org/drawingml/2006/main" w="9525">
            <a:solidFill>
              <a:srgbClr val="FFFFFF"/>
            </a:solidFill>
            <a:prstDash val="solid"/>
          </a:ln>
        </p:spPr>
      </p:sp>
      <p:sp>
        <p:nvSpPr>
          <p:cNvPr id="37" name="">
            <a:extLst xmlns:a="http://schemas.openxmlformats.org/drawingml/2006/main">
              <a:ext uri="{FF2B5EF4-FFF2-40B4-BE49-F238E27FC236}">
                <a16:creationId xmlns:a16="http://schemas.microsoft.com/office/drawing/2014/main" id="{4A9AF1C6-9295-41EC-B478-B2D99E3856E9}"/>
              </a:ext>
            </a:extLst>
          </p:cNvPr>
          <p:cNvSpPr>
            <a:spLocks xmlns:a="http://schemas.openxmlformats.org/drawingml/2006/main" noGrp="1"/>
          </p:cNvSpPr>
          <p:nvPr/>
        </p:nvSpPr>
        <p:spPr>
          <a:xfrm xmlns:a="http://schemas.openxmlformats.org/drawingml/2006/main">
            <a:off x="6962775" y="3743325"/>
            <a:ext cx="190500" cy="190500"/>
          </a:xfrm>
          <a:prstGeom xmlns:a="http://schemas.openxmlformats.org/drawingml/2006/main" prst="rect">
            <a:avLst/>
          </a:prstGeom>
          <a:solidFill xmlns:a="http://schemas.openxmlformats.org/drawingml/2006/main">
            <a:srgbClr val="EFE8DC"/>
          </a:solidFill>
          <a:ln xmlns:a="http://schemas.openxmlformats.org/drawingml/2006/main" w="9525">
            <a:solidFill>
              <a:srgbClr val="D8D0C3"/>
            </a:solidFill>
            <a:prstDash val="solid"/>
          </a:ln>
        </p:spPr>
      </p:sp>
      <p:sp>
        <p:nvSpPr>
          <p:cNvPr id="38" name="">
            <a:extLst xmlns:a="http://schemas.openxmlformats.org/drawingml/2006/main">
              <a:ext uri="{FF2B5EF4-FFF2-40B4-BE49-F238E27FC236}">
                <a16:creationId xmlns:a16="http://schemas.microsoft.com/office/drawing/2014/main" id="{467F405E-D785-4E8A-8DF8-238B149FD853}"/>
              </a:ext>
            </a:extLst>
          </p:cNvPr>
          <p:cNvSpPr>
            <a:spLocks xmlns:a="http://schemas.openxmlformats.org/drawingml/2006/main" noGrp="1"/>
          </p:cNvSpPr>
          <p:nvPr/>
        </p:nvSpPr>
        <p:spPr>
          <a:xfrm xmlns:a="http://schemas.openxmlformats.org/drawingml/2006/main">
            <a:off x="8029575" y="3743325"/>
            <a:ext cx="190500" cy="190500"/>
          </a:xfrm>
          <a:prstGeom xmlns:a="http://schemas.openxmlformats.org/drawingml/2006/main" prst="rect">
            <a:avLst/>
          </a:prstGeom>
          <a:solidFill xmlns:a="http://schemas.openxmlformats.org/drawingml/2006/main">
            <a:srgbClr val="1F8A70"/>
          </a:solidFill>
          <a:ln xmlns:a="http://schemas.openxmlformats.org/drawingml/2006/main" w="9525">
            <a:solidFill>
              <a:srgbClr val="FFFFFF"/>
            </a:solidFill>
            <a:prstDash val="solid"/>
          </a:ln>
        </p:spPr>
      </p:sp>
      <p:sp>
        <p:nvSpPr>
          <p:cNvPr id="39" name="">
            <a:extLst xmlns:a="http://schemas.openxmlformats.org/drawingml/2006/main">
              <a:ext uri="{FF2B5EF4-FFF2-40B4-BE49-F238E27FC236}">
                <a16:creationId xmlns:a16="http://schemas.microsoft.com/office/drawing/2014/main" id="{CA4DAD15-6F42-4FB0-B5CB-D3CC76AFCBB9}"/>
              </a:ext>
            </a:extLst>
          </p:cNvPr>
          <p:cNvSpPr>
            <a:spLocks xmlns:a="http://schemas.openxmlformats.org/drawingml/2006/main" noGrp="1"/>
          </p:cNvSpPr>
          <p:nvPr/>
        </p:nvSpPr>
        <p:spPr>
          <a:xfrm xmlns:a="http://schemas.openxmlformats.org/drawingml/2006/main">
            <a:off x="9096375" y="3743325"/>
            <a:ext cx="190500" cy="190500"/>
          </a:xfrm>
          <a:prstGeom xmlns:a="http://schemas.openxmlformats.org/drawingml/2006/main" prst="rect">
            <a:avLst/>
          </a:prstGeom>
          <a:solidFill xmlns:a="http://schemas.openxmlformats.org/drawingml/2006/main">
            <a:srgbClr val="1F8A70"/>
          </a:solidFill>
          <a:ln xmlns:a="http://schemas.openxmlformats.org/drawingml/2006/main" w="9525">
            <a:solidFill>
              <a:srgbClr val="FFFFFF"/>
            </a:solidFill>
            <a:prstDash val="solid"/>
          </a:ln>
        </p:spPr>
      </p:sp>
      <p:sp>
        <p:nvSpPr>
          <p:cNvPr id="40" name="">
            <a:extLst xmlns:a="http://schemas.openxmlformats.org/drawingml/2006/main">
              <a:ext uri="{FF2B5EF4-FFF2-40B4-BE49-F238E27FC236}">
                <a16:creationId xmlns:a16="http://schemas.microsoft.com/office/drawing/2014/main" id="{9C8F9290-AA8E-4D59-B79F-B35C397306D6}"/>
              </a:ext>
            </a:extLst>
          </p:cNvPr>
          <p:cNvSpPr>
            <a:spLocks xmlns:a="http://schemas.openxmlformats.org/drawingml/2006/main" noGrp="1"/>
          </p:cNvSpPr>
          <p:nvPr/>
        </p:nvSpPr>
        <p:spPr>
          <a:xfrm xmlns:a="http://schemas.openxmlformats.org/drawingml/2006/main">
            <a:off x="10163175" y="3743325"/>
            <a:ext cx="190500" cy="190500"/>
          </a:xfrm>
          <a:prstGeom xmlns:a="http://schemas.openxmlformats.org/drawingml/2006/main" prst="rect">
            <a:avLst/>
          </a:prstGeom>
          <a:solidFill xmlns:a="http://schemas.openxmlformats.org/drawingml/2006/main">
            <a:srgbClr val="D71920"/>
          </a:solidFill>
          <a:ln xmlns:a="http://schemas.openxmlformats.org/drawingml/2006/main" w="9525">
            <a:solidFill>
              <a:srgbClr val="FFFFFF"/>
            </a:solidFill>
            <a:prstDash val="solid"/>
          </a:ln>
        </p:spPr>
      </p:sp>
      <p:sp>
        <p:nvSpPr>
          <p:cNvPr id="41" name="">
            <a:extLst xmlns:a="http://schemas.openxmlformats.org/drawingml/2006/main">
              <a:ext uri="{FF2B5EF4-FFF2-40B4-BE49-F238E27FC236}">
                <a16:creationId xmlns:a16="http://schemas.microsoft.com/office/drawing/2014/main" id="{9879B54E-2924-44C4-9A98-6FAE9FBDCD3B}"/>
              </a:ext>
            </a:extLst>
          </p:cNvPr>
          <p:cNvSpPr>
            <a:spLocks xmlns:a="http://schemas.openxmlformats.org/drawingml/2006/main" noGrp="1"/>
          </p:cNvSpPr>
          <p:nvPr/>
        </p:nvSpPr>
        <p:spPr>
          <a:xfrm xmlns:a="http://schemas.openxmlformats.org/drawingml/2006/main">
            <a:off x="552450" y="4171950"/>
            <a:ext cx="10668000" cy="9525"/>
          </a:xfrm>
          <a:prstGeom xmlns:a="http://schemas.openxmlformats.org/drawingml/2006/main" prst="rect">
            <a:avLst/>
          </a:prstGeom>
          <a:solidFill xmlns:a="http://schemas.openxmlformats.org/drawingml/2006/main">
            <a:srgbClr val="D8D0C3"/>
          </a:solidFill>
          <a:ln xmlns:a="http://schemas.openxmlformats.org/drawingml/2006/main" w="0">
            <a:solidFill>
              <a:srgbClr val="D8D0C3"/>
            </a:solidFill>
            <a:prstDash val="solid"/>
          </a:ln>
        </p:spPr>
      </p:sp>
      <p:sp>
        <p:nvSpPr>
          <p:cNvPr id="42" name="">
            <a:extLst xmlns:a="http://schemas.openxmlformats.org/drawingml/2006/main">
              <a:ext uri="{FF2B5EF4-FFF2-40B4-BE49-F238E27FC236}">
                <a16:creationId xmlns:a16="http://schemas.microsoft.com/office/drawing/2014/main" id="{541A45F5-69DA-46F7-B1B7-9E6E81AFDBBC}"/>
              </a:ext>
            </a:extLst>
          </p:cNvPr>
          <p:cNvSpPr>
            <a:spLocks xmlns:a="http://schemas.openxmlformats.org/drawingml/2006/main" noGrp="1"/>
          </p:cNvSpPr>
          <p:nvPr/>
        </p:nvSpPr>
        <p:spPr>
          <a:xfrm xmlns:a="http://schemas.openxmlformats.org/drawingml/2006/main">
            <a:off x="628650" y="4362450"/>
            <a:ext cx="1714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4213D"/>
                </a:solidFill>
                <a:latin typeface="Aptos"/>
                <a:ea typeface="Aptos"/>
                <a:cs typeface="Aptos"/>
              </a:defRPr>
            </a:pPr>
            <a:r>
              <a:rPr sz="1200" b="1">
                <a:solidFill>
                  <a:srgbClr val="14213D"/>
                </a:solidFill>
                <a:latin typeface="Aptos"/>
                <a:ea typeface="Aptos"/>
                <a:cs typeface="Aptos"/>
              </a:rPr>
              <a:t>Model validator</a:t>
            </a:r>
          </a:p>
        </p:txBody>
      </p:sp>
      <p:sp>
        <p:nvSpPr>
          <p:cNvPr id="43" name="">
            <a:extLst xmlns:a="http://schemas.openxmlformats.org/drawingml/2006/main">
              <a:ext uri="{FF2B5EF4-FFF2-40B4-BE49-F238E27FC236}">
                <a16:creationId xmlns:a16="http://schemas.microsoft.com/office/drawing/2014/main" id="{9CA5BF2C-D815-4C66-AA97-3CA45D7C2E82}"/>
              </a:ext>
            </a:extLst>
          </p:cNvPr>
          <p:cNvSpPr>
            <a:spLocks xmlns:a="http://schemas.openxmlformats.org/drawingml/2006/main" noGrp="1"/>
          </p:cNvSpPr>
          <p:nvPr/>
        </p:nvSpPr>
        <p:spPr>
          <a:xfrm xmlns:a="http://schemas.openxmlformats.org/drawingml/2006/main">
            <a:off x="628650" y="4610100"/>
            <a:ext cx="2286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6670"/>
                </a:solidFill>
                <a:latin typeface="Aptos"/>
                <a:ea typeface="Aptos"/>
                <a:cs typeface="Aptos"/>
              </a:defRPr>
            </a:pPr>
            <a:r>
              <a:rPr sz="900" b="0">
                <a:solidFill>
                  <a:srgbClr val="5C6670"/>
                </a:solidFill>
                <a:latin typeface="Aptos"/>
                <a:ea typeface="Aptos"/>
                <a:cs typeface="Aptos"/>
              </a:rPr>
              <a:t>Model caveats and validation concerns</a:t>
            </a:r>
          </a:p>
        </p:txBody>
      </p:sp>
      <p:sp>
        <p:nvSpPr>
          <p:cNvPr id="44" name="">
            <a:extLst xmlns:a="http://schemas.openxmlformats.org/drawingml/2006/main">
              <a:ext uri="{FF2B5EF4-FFF2-40B4-BE49-F238E27FC236}">
                <a16:creationId xmlns:a16="http://schemas.microsoft.com/office/drawing/2014/main" id="{853DCD86-A64B-42B5-992D-1AB742A6AA1E}"/>
              </a:ext>
            </a:extLst>
          </p:cNvPr>
          <p:cNvSpPr>
            <a:spLocks xmlns:a="http://schemas.openxmlformats.org/drawingml/2006/main" noGrp="1"/>
          </p:cNvSpPr>
          <p:nvPr/>
        </p:nvSpPr>
        <p:spPr>
          <a:xfrm xmlns:a="http://schemas.openxmlformats.org/drawingml/2006/main">
            <a:off x="3762375" y="4448175"/>
            <a:ext cx="190500" cy="190500"/>
          </a:xfrm>
          <a:prstGeom xmlns:a="http://schemas.openxmlformats.org/drawingml/2006/main" prst="rect">
            <a:avLst/>
          </a:prstGeom>
          <a:solidFill xmlns:a="http://schemas.openxmlformats.org/drawingml/2006/main">
            <a:srgbClr val="EFE8DC"/>
          </a:solidFill>
          <a:ln xmlns:a="http://schemas.openxmlformats.org/drawingml/2006/main" w="9525">
            <a:solidFill>
              <a:srgbClr val="D8D0C3"/>
            </a:solidFill>
            <a:prstDash val="solid"/>
          </a:ln>
        </p:spPr>
      </p:sp>
      <p:sp>
        <p:nvSpPr>
          <p:cNvPr id="45" name="">
            <a:extLst xmlns:a="http://schemas.openxmlformats.org/drawingml/2006/main">
              <a:ext uri="{FF2B5EF4-FFF2-40B4-BE49-F238E27FC236}">
                <a16:creationId xmlns:a16="http://schemas.microsoft.com/office/drawing/2014/main" id="{DC8A9B68-D888-4E0F-8921-F1083F58889A}"/>
              </a:ext>
            </a:extLst>
          </p:cNvPr>
          <p:cNvSpPr>
            <a:spLocks xmlns:a="http://schemas.openxmlformats.org/drawingml/2006/main" noGrp="1"/>
          </p:cNvSpPr>
          <p:nvPr/>
        </p:nvSpPr>
        <p:spPr>
          <a:xfrm xmlns:a="http://schemas.openxmlformats.org/drawingml/2006/main">
            <a:off x="4829175" y="4448175"/>
            <a:ext cx="190500" cy="190500"/>
          </a:xfrm>
          <a:prstGeom xmlns:a="http://schemas.openxmlformats.org/drawingml/2006/main" prst="rect">
            <a:avLst/>
          </a:prstGeom>
          <a:solidFill xmlns:a="http://schemas.openxmlformats.org/drawingml/2006/main">
            <a:srgbClr val="1F8A70"/>
          </a:solidFill>
          <a:ln xmlns:a="http://schemas.openxmlformats.org/drawingml/2006/main" w="9525">
            <a:solidFill>
              <a:srgbClr val="FFFFFF"/>
            </a:solidFill>
            <a:prstDash val="solid"/>
          </a:ln>
        </p:spPr>
      </p:sp>
      <p:sp>
        <p:nvSpPr>
          <p:cNvPr id="46" name="">
            <a:extLst xmlns:a="http://schemas.openxmlformats.org/drawingml/2006/main">
              <a:ext uri="{FF2B5EF4-FFF2-40B4-BE49-F238E27FC236}">
                <a16:creationId xmlns:a16="http://schemas.microsoft.com/office/drawing/2014/main" id="{0C1F1BD6-F5CA-4070-9E40-6E6838944744}"/>
              </a:ext>
            </a:extLst>
          </p:cNvPr>
          <p:cNvSpPr>
            <a:spLocks xmlns:a="http://schemas.openxmlformats.org/drawingml/2006/main" noGrp="1"/>
          </p:cNvSpPr>
          <p:nvPr/>
        </p:nvSpPr>
        <p:spPr>
          <a:xfrm xmlns:a="http://schemas.openxmlformats.org/drawingml/2006/main">
            <a:off x="5895975" y="4448175"/>
            <a:ext cx="190500" cy="190500"/>
          </a:xfrm>
          <a:prstGeom xmlns:a="http://schemas.openxmlformats.org/drawingml/2006/main" prst="rect">
            <a:avLst/>
          </a:prstGeom>
          <a:solidFill xmlns:a="http://schemas.openxmlformats.org/drawingml/2006/main">
            <a:srgbClr val="EFE8DC"/>
          </a:solidFill>
          <a:ln xmlns:a="http://schemas.openxmlformats.org/drawingml/2006/main" w="9525">
            <a:solidFill>
              <a:srgbClr val="D8D0C3"/>
            </a:solidFill>
            <a:prstDash val="solid"/>
          </a:ln>
        </p:spPr>
      </p:sp>
      <p:sp>
        <p:nvSpPr>
          <p:cNvPr id="47" name="">
            <a:extLst xmlns:a="http://schemas.openxmlformats.org/drawingml/2006/main">
              <a:ext uri="{FF2B5EF4-FFF2-40B4-BE49-F238E27FC236}">
                <a16:creationId xmlns:a16="http://schemas.microsoft.com/office/drawing/2014/main" id="{88976383-48F6-454A-86E0-34707584D78D}"/>
              </a:ext>
            </a:extLst>
          </p:cNvPr>
          <p:cNvSpPr>
            <a:spLocks xmlns:a="http://schemas.openxmlformats.org/drawingml/2006/main" noGrp="1"/>
          </p:cNvSpPr>
          <p:nvPr/>
        </p:nvSpPr>
        <p:spPr>
          <a:xfrm xmlns:a="http://schemas.openxmlformats.org/drawingml/2006/main">
            <a:off x="6962775" y="4448175"/>
            <a:ext cx="190500" cy="190500"/>
          </a:xfrm>
          <a:prstGeom xmlns:a="http://schemas.openxmlformats.org/drawingml/2006/main" prst="rect">
            <a:avLst/>
          </a:prstGeom>
          <a:solidFill xmlns:a="http://schemas.openxmlformats.org/drawingml/2006/main">
            <a:srgbClr val="1F8A70"/>
          </a:solidFill>
          <a:ln xmlns:a="http://schemas.openxmlformats.org/drawingml/2006/main" w="9525">
            <a:solidFill>
              <a:srgbClr val="FFFFFF"/>
            </a:solidFill>
            <a:prstDash val="solid"/>
          </a:ln>
        </p:spPr>
      </p:sp>
      <p:sp>
        <p:nvSpPr>
          <p:cNvPr id="48" name="">
            <a:extLst xmlns:a="http://schemas.openxmlformats.org/drawingml/2006/main">
              <a:ext uri="{FF2B5EF4-FFF2-40B4-BE49-F238E27FC236}">
                <a16:creationId xmlns:a16="http://schemas.microsoft.com/office/drawing/2014/main" id="{68872F24-550D-4CAF-BBB9-3F3B3925A2C4}"/>
              </a:ext>
            </a:extLst>
          </p:cNvPr>
          <p:cNvSpPr>
            <a:spLocks xmlns:a="http://schemas.openxmlformats.org/drawingml/2006/main" noGrp="1"/>
          </p:cNvSpPr>
          <p:nvPr/>
        </p:nvSpPr>
        <p:spPr>
          <a:xfrm xmlns:a="http://schemas.openxmlformats.org/drawingml/2006/main">
            <a:off x="8029575" y="4448175"/>
            <a:ext cx="190500" cy="190500"/>
          </a:xfrm>
          <a:prstGeom xmlns:a="http://schemas.openxmlformats.org/drawingml/2006/main" prst="rect">
            <a:avLst/>
          </a:prstGeom>
          <a:solidFill xmlns:a="http://schemas.openxmlformats.org/drawingml/2006/main">
            <a:srgbClr val="1F8A70"/>
          </a:solidFill>
          <a:ln xmlns:a="http://schemas.openxmlformats.org/drawingml/2006/main" w="9525">
            <a:solidFill>
              <a:srgbClr val="FFFFFF"/>
            </a:solidFill>
            <a:prstDash val="solid"/>
          </a:ln>
        </p:spPr>
      </p:sp>
      <p:sp>
        <p:nvSpPr>
          <p:cNvPr id="49" name="">
            <a:extLst xmlns:a="http://schemas.openxmlformats.org/drawingml/2006/main">
              <a:ext uri="{FF2B5EF4-FFF2-40B4-BE49-F238E27FC236}">
                <a16:creationId xmlns:a16="http://schemas.microsoft.com/office/drawing/2014/main" id="{ED2E3F81-B217-4E18-81C2-003E124AE857}"/>
              </a:ext>
            </a:extLst>
          </p:cNvPr>
          <p:cNvSpPr>
            <a:spLocks xmlns:a="http://schemas.openxmlformats.org/drawingml/2006/main" noGrp="1"/>
          </p:cNvSpPr>
          <p:nvPr/>
        </p:nvSpPr>
        <p:spPr>
          <a:xfrm xmlns:a="http://schemas.openxmlformats.org/drawingml/2006/main">
            <a:off x="9096375" y="4448175"/>
            <a:ext cx="190500" cy="190500"/>
          </a:xfrm>
          <a:prstGeom xmlns:a="http://schemas.openxmlformats.org/drawingml/2006/main" prst="rect">
            <a:avLst/>
          </a:prstGeom>
          <a:solidFill xmlns:a="http://schemas.openxmlformats.org/drawingml/2006/main">
            <a:srgbClr val="1F8A70"/>
          </a:solidFill>
          <a:ln xmlns:a="http://schemas.openxmlformats.org/drawingml/2006/main" w="9525">
            <a:solidFill>
              <a:srgbClr val="FFFFFF"/>
            </a:solidFill>
            <a:prstDash val="solid"/>
          </a:ln>
        </p:spPr>
      </p:sp>
      <p:sp>
        <p:nvSpPr>
          <p:cNvPr id="50" name="">
            <a:extLst xmlns:a="http://schemas.openxmlformats.org/drawingml/2006/main">
              <a:ext uri="{FF2B5EF4-FFF2-40B4-BE49-F238E27FC236}">
                <a16:creationId xmlns:a16="http://schemas.microsoft.com/office/drawing/2014/main" id="{C4610F5B-98A1-4844-9882-EC28CF4A1DE6}"/>
              </a:ext>
            </a:extLst>
          </p:cNvPr>
          <p:cNvSpPr>
            <a:spLocks xmlns:a="http://schemas.openxmlformats.org/drawingml/2006/main" noGrp="1"/>
          </p:cNvSpPr>
          <p:nvPr/>
        </p:nvSpPr>
        <p:spPr>
          <a:xfrm xmlns:a="http://schemas.openxmlformats.org/drawingml/2006/main">
            <a:off x="10163175" y="4448175"/>
            <a:ext cx="190500" cy="190500"/>
          </a:xfrm>
          <a:prstGeom xmlns:a="http://schemas.openxmlformats.org/drawingml/2006/main" prst="rect">
            <a:avLst/>
          </a:prstGeom>
          <a:solidFill xmlns:a="http://schemas.openxmlformats.org/drawingml/2006/main">
            <a:srgbClr val="D71920"/>
          </a:solidFill>
          <a:ln xmlns:a="http://schemas.openxmlformats.org/drawingml/2006/main" w="9525">
            <a:solidFill>
              <a:srgbClr val="FFFFFF"/>
            </a:solidFill>
            <a:prstDash val="solid"/>
          </a:ln>
        </p:spPr>
      </p:sp>
      <p:sp>
        <p:nvSpPr>
          <p:cNvPr id="51" name="">
            <a:extLst xmlns:a="http://schemas.openxmlformats.org/drawingml/2006/main">
              <a:ext uri="{FF2B5EF4-FFF2-40B4-BE49-F238E27FC236}">
                <a16:creationId xmlns:a16="http://schemas.microsoft.com/office/drawing/2014/main" id="{05F517AB-9DFD-4072-8392-8EB2BBE26628}"/>
              </a:ext>
            </a:extLst>
          </p:cNvPr>
          <p:cNvSpPr>
            <a:spLocks xmlns:a="http://schemas.openxmlformats.org/drawingml/2006/main" noGrp="1"/>
          </p:cNvSpPr>
          <p:nvPr/>
        </p:nvSpPr>
        <p:spPr>
          <a:xfrm xmlns:a="http://schemas.openxmlformats.org/drawingml/2006/main">
            <a:off x="552450" y="4876800"/>
            <a:ext cx="10668000" cy="9525"/>
          </a:xfrm>
          <a:prstGeom xmlns:a="http://schemas.openxmlformats.org/drawingml/2006/main" prst="rect">
            <a:avLst/>
          </a:prstGeom>
          <a:solidFill xmlns:a="http://schemas.openxmlformats.org/drawingml/2006/main">
            <a:srgbClr val="D8D0C3"/>
          </a:solidFill>
          <a:ln xmlns:a="http://schemas.openxmlformats.org/drawingml/2006/main" w="0">
            <a:solidFill>
              <a:srgbClr val="D8D0C3"/>
            </a:solidFill>
            <a:prstDash val="solid"/>
          </a:ln>
        </p:spPr>
      </p:sp>
      <p:sp>
        <p:nvSpPr>
          <p:cNvPr id="52" name="">
            <a:extLst xmlns:a="http://schemas.openxmlformats.org/drawingml/2006/main">
              <a:ext uri="{FF2B5EF4-FFF2-40B4-BE49-F238E27FC236}">
                <a16:creationId xmlns:a16="http://schemas.microsoft.com/office/drawing/2014/main" id="{1CE33736-D8EB-47B3-B8BB-D61CD1239A76}"/>
              </a:ext>
            </a:extLst>
          </p:cNvPr>
          <p:cNvSpPr>
            <a:spLocks xmlns:a="http://schemas.openxmlformats.org/drawingml/2006/main" noGrp="1"/>
          </p:cNvSpPr>
          <p:nvPr/>
        </p:nvSpPr>
        <p:spPr>
          <a:xfrm xmlns:a="http://schemas.openxmlformats.org/drawingml/2006/main">
            <a:off x="628650" y="5067300"/>
            <a:ext cx="1714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200" b="1">
                <a:solidFill>
                  <a:srgbClr val="14213D"/>
                </a:solidFill>
                <a:latin typeface="Aptos"/>
                <a:ea typeface="Aptos"/>
                <a:cs typeface="Aptos"/>
              </a:defRPr>
            </a:pPr>
            <a:r>
              <a:rPr sz="1200" b="1">
                <a:solidFill>
                  <a:srgbClr val="14213D"/>
                </a:solidFill>
                <a:latin typeface="Aptos"/>
                <a:ea typeface="Aptos"/>
                <a:cs typeface="Aptos"/>
              </a:rPr>
              <a:t>Compliance strategy</a:t>
            </a:r>
          </a:p>
        </p:txBody>
      </p:sp>
      <p:sp>
        <p:nvSpPr>
          <p:cNvPr id="53" name="">
            <a:extLst xmlns:a="http://schemas.openxmlformats.org/drawingml/2006/main">
              <a:ext uri="{FF2B5EF4-FFF2-40B4-BE49-F238E27FC236}">
                <a16:creationId xmlns:a16="http://schemas.microsoft.com/office/drawing/2014/main" id="{723BF6DD-9789-4F75-AA31-2E47980729F3}"/>
              </a:ext>
            </a:extLst>
          </p:cNvPr>
          <p:cNvSpPr>
            <a:spLocks xmlns:a="http://schemas.openxmlformats.org/drawingml/2006/main" noGrp="1"/>
          </p:cNvSpPr>
          <p:nvPr/>
        </p:nvSpPr>
        <p:spPr>
          <a:xfrm xmlns:a="http://schemas.openxmlformats.org/drawingml/2006/main">
            <a:off x="628650" y="5314950"/>
            <a:ext cx="22860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5C6670"/>
                </a:solidFill>
                <a:latin typeface="Aptos"/>
                <a:ea typeface="Aptos"/>
                <a:cs typeface="Aptos"/>
              </a:defRPr>
            </a:pPr>
            <a:r>
              <a:rPr sz="900" b="0">
                <a:solidFill>
                  <a:srgbClr val="5C6670"/>
                </a:solidFill>
                <a:latin typeface="Aptos"/>
                <a:ea typeface="Aptos"/>
                <a:cs typeface="Aptos"/>
              </a:rPr>
              <a:t>Typology coverage and wording controls</a:t>
            </a:r>
          </a:p>
        </p:txBody>
      </p:sp>
      <p:sp>
        <p:nvSpPr>
          <p:cNvPr id="54" name="">
            <a:extLst xmlns:a="http://schemas.openxmlformats.org/drawingml/2006/main">
              <a:ext uri="{FF2B5EF4-FFF2-40B4-BE49-F238E27FC236}">
                <a16:creationId xmlns:a16="http://schemas.microsoft.com/office/drawing/2014/main" id="{61B75406-4CE0-4FCD-8767-5822C0A9A91B}"/>
              </a:ext>
            </a:extLst>
          </p:cNvPr>
          <p:cNvSpPr>
            <a:spLocks xmlns:a="http://schemas.openxmlformats.org/drawingml/2006/main" noGrp="1"/>
          </p:cNvSpPr>
          <p:nvPr/>
        </p:nvSpPr>
        <p:spPr>
          <a:xfrm xmlns:a="http://schemas.openxmlformats.org/drawingml/2006/main">
            <a:off x="3762375" y="5153025"/>
            <a:ext cx="190500" cy="190500"/>
          </a:xfrm>
          <a:prstGeom xmlns:a="http://schemas.openxmlformats.org/drawingml/2006/main" prst="rect">
            <a:avLst/>
          </a:prstGeom>
          <a:solidFill xmlns:a="http://schemas.openxmlformats.org/drawingml/2006/main">
            <a:srgbClr val="EFE8DC"/>
          </a:solidFill>
          <a:ln xmlns:a="http://schemas.openxmlformats.org/drawingml/2006/main" w="9525">
            <a:solidFill>
              <a:srgbClr val="D8D0C3"/>
            </a:solidFill>
            <a:prstDash val="solid"/>
          </a:ln>
        </p:spPr>
      </p:sp>
      <p:sp>
        <p:nvSpPr>
          <p:cNvPr id="55" name="">
            <a:extLst xmlns:a="http://schemas.openxmlformats.org/drawingml/2006/main">
              <a:ext uri="{FF2B5EF4-FFF2-40B4-BE49-F238E27FC236}">
                <a16:creationId xmlns:a16="http://schemas.microsoft.com/office/drawing/2014/main" id="{00672F8F-E16D-47A6-9DB9-C9F628E368A0}"/>
              </a:ext>
            </a:extLst>
          </p:cNvPr>
          <p:cNvSpPr>
            <a:spLocks xmlns:a="http://schemas.openxmlformats.org/drawingml/2006/main" noGrp="1"/>
          </p:cNvSpPr>
          <p:nvPr/>
        </p:nvSpPr>
        <p:spPr>
          <a:xfrm xmlns:a="http://schemas.openxmlformats.org/drawingml/2006/main">
            <a:off x="4829175" y="5153025"/>
            <a:ext cx="190500" cy="190500"/>
          </a:xfrm>
          <a:prstGeom xmlns:a="http://schemas.openxmlformats.org/drawingml/2006/main" prst="rect">
            <a:avLst/>
          </a:prstGeom>
          <a:solidFill xmlns:a="http://schemas.openxmlformats.org/drawingml/2006/main">
            <a:srgbClr val="EFE8DC"/>
          </a:solidFill>
          <a:ln xmlns:a="http://schemas.openxmlformats.org/drawingml/2006/main" w="9525">
            <a:solidFill>
              <a:srgbClr val="D8D0C3"/>
            </a:solidFill>
            <a:prstDash val="solid"/>
          </a:ln>
        </p:spPr>
      </p:sp>
      <p:sp>
        <p:nvSpPr>
          <p:cNvPr id="56" name="">
            <a:extLst xmlns:a="http://schemas.openxmlformats.org/drawingml/2006/main">
              <a:ext uri="{FF2B5EF4-FFF2-40B4-BE49-F238E27FC236}">
                <a16:creationId xmlns:a16="http://schemas.microsoft.com/office/drawing/2014/main" id="{00537E8A-4581-4BC3-BAA7-C69B6DA07E4E}"/>
              </a:ext>
            </a:extLst>
          </p:cNvPr>
          <p:cNvSpPr>
            <a:spLocks xmlns:a="http://schemas.openxmlformats.org/drawingml/2006/main" noGrp="1"/>
          </p:cNvSpPr>
          <p:nvPr/>
        </p:nvSpPr>
        <p:spPr>
          <a:xfrm xmlns:a="http://schemas.openxmlformats.org/drawingml/2006/main">
            <a:off x="5895975" y="5153025"/>
            <a:ext cx="190500" cy="190500"/>
          </a:xfrm>
          <a:prstGeom xmlns:a="http://schemas.openxmlformats.org/drawingml/2006/main" prst="rect">
            <a:avLst/>
          </a:prstGeom>
          <a:solidFill xmlns:a="http://schemas.openxmlformats.org/drawingml/2006/main">
            <a:srgbClr val="1F8A70"/>
          </a:solidFill>
          <a:ln xmlns:a="http://schemas.openxmlformats.org/drawingml/2006/main" w="9525">
            <a:solidFill>
              <a:srgbClr val="FFFFFF"/>
            </a:solidFill>
            <a:prstDash val="solid"/>
          </a:ln>
        </p:spPr>
      </p:sp>
      <p:sp>
        <p:nvSpPr>
          <p:cNvPr id="57" name="">
            <a:extLst xmlns:a="http://schemas.openxmlformats.org/drawingml/2006/main">
              <a:ext uri="{FF2B5EF4-FFF2-40B4-BE49-F238E27FC236}">
                <a16:creationId xmlns:a16="http://schemas.microsoft.com/office/drawing/2014/main" id="{C444E2D0-7A5C-4633-9D59-54A96260877F}"/>
              </a:ext>
            </a:extLst>
          </p:cNvPr>
          <p:cNvSpPr>
            <a:spLocks xmlns:a="http://schemas.openxmlformats.org/drawingml/2006/main" noGrp="1"/>
          </p:cNvSpPr>
          <p:nvPr/>
        </p:nvSpPr>
        <p:spPr>
          <a:xfrm xmlns:a="http://schemas.openxmlformats.org/drawingml/2006/main">
            <a:off x="6962775" y="5153025"/>
            <a:ext cx="190500" cy="190500"/>
          </a:xfrm>
          <a:prstGeom xmlns:a="http://schemas.openxmlformats.org/drawingml/2006/main" prst="rect">
            <a:avLst/>
          </a:prstGeom>
          <a:solidFill xmlns:a="http://schemas.openxmlformats.org/drawingml/2006/main">
            <a:srgbClr val="EFE8DC"/>
          </a:solidFill>
          <a:ln xmlns:a="http://schemas.openxmlformats.org/drawingml/2006/main" w="9525">
            <a:solidFill>
              <a:srgbClr val="D8D0C3"/>
            </a:solidFill>
            <a:prstDash val="solid"/>
          </a:ln>
        </p:spPr>
      </p:sp>
      <p:sp>
        <p:nvSpPr>
          <p:cNvPr id="58" name="">
            <a:extLst xmlns:a="http://schemas.openxmlformats.org/drawingml/2006/main">
              <a:ext uri="{FF2B5EF4-FFF2-40B4-BE49-F238E27FC236}">
                <a16:creationId xmlns:a16="http://schemas.microsoft.com/office/drawing/2014/main" id="{34D98223-3651-40B7-A021-E515019960C8}"/>
              </a:ext>
            </a:extLst>
          </p:cNvPr>
          <p:cNvSpPr>
            <a:spLocks xmlns:a="http://schemas.openxmlformats.org/drawingml/2006/main" noGrp="1"/>
          </p:cNvSpPr>
          <p:nvPr/>
        </p:nvSpPr>
        <p:spPr>
          <a:xfrm xmlns:a="http://schemas.openxmlformats.org/drawingml/2006/main">
            <a:off x="8029575" y="5153025"/>
            <a:ext cx="190500" cy="190500"/>
          </a:xfrm>
          <a:prstGeom xmlns:a="http://schemas.openxmlformats.org/drawingml/2006/main" prst="rect">
            <a:avLst/>
          </a:prstGeom>
          <a:solidFill xmlns:a="http://schemas.openxmlformats.org/drawingml/2006/main">
            <a:srgbClr val="1F8A70"/>
          </a:solidFill>
          <a:ln xmlns:a="http://schemas.openxmlformats.org/drawingml/2006/main" w="9525">
            <a:solidFill>
              <a:srgbClr val="FFFFFF"/>
            </a:solidFill>
            <a:prstDash val="solid"/>
          </a:ln>
        </p:spPr>
      </p:sp>
      <p:sp>
        <p:nvSpPr>
          <p:cNvPr id="59" name="">
            <a:extLst xmlns:a="http://schemas.openxmlformats.org/drawingml/2006/main">
              <a:ext uri="{FF2B5EF4-FFF2-40B4-BE49-F238E27FC236}">
                <a16:creationId xmlns:a16="http://schemas.microsoft.com/office/drawing/2014/main" id="{208CD373-4139-4B1C-88FF-3476507760E1}"/>
              </a:ext>
            </a:extLst>
          </p:cNvPr>
          <p:cNvSpPr>
            <a:spLocks xmlns:a="http://schemas.openxmlformats.org/drawingml/2006/main" noGrp="1"/>
          </p:cNvSpPr>
          <p:nvPr/>
        </p:nvSpPr>
        <p:spPr>
          <a:xfrm xmlns:a="http://schemas.openxmlformats.org/drawingml/2006/main">
            <a:off x="9096375" y="5153025"/>
            <a:ext cx="190500" cy="190500"/>
          </a:xfrm>
          <a:prstGeom xmlns:a="http://schemas.openxmlformats.org/drawingml/2006/main" prst="rect">
            <a:avLst/>
          </a:prstGeom>
          <a:solidFill xmlns:a="http://schemas.openxmlformats.org/drawingml/2006/main">
            <a:srgbClr val="1F8A70"/>
          </a:solidFill>
          <a:ln xmlns:a="http://schemas.openxmlformats.org/drawingml/2006/main" w="9525">
            <a:solidFill>
              <a:srgbClr val="FFFFFF"/>
            </a:solidFill>
            <a:prstDash val="solid"/>
          </a:ln>
        </p:spPr>
      </p:sp>
      <p:sp>
        <p:nvSpPr>
          <p:cNvPr id="60" name="">
            <a:extLst xmlns:a="http://schemas.openxmlformats.org/drawingml/2006/main">
              <a:ext uri="{FF2B5EF4-FFF2-40B4-BE49-F238E27FC236}">
                <a16:creationId xmlns:a16="http://schemas.microsoft.com/office/drawing/2014/main" id="{9963BAC3-8543-4329-8DAB-8B0AE9772928}"/>
              </a:ext>
            </a:extLst>
          </p:cNvPr>
          <p:cNvSpPr>
            <a:spLocks xmlns:a="http://schemas.openxmlformats.org/drawingml/2006/main" noGrp="1"/>
          </p:cNvSpPr>
          <p:nvPr/>
        </p:nvSpPr>
        <p:spPr>
          <a:xfrm xmlns:a="http://schemas.openxmlformats.org/drawingml/2006/main">
            <a:off x="10163175" y="5153025"/>
            <a:ext cx="190500" cy="190500"/>
          </a:xfrm>
          <a:prstGeom xmlns:a="http://schemas.openxmlformats.org/drawingml/2006/main" prst="rect">
            <a:avLst/>
          </a:prstGeom>
          <a:solidFill xmlns:a="http://schemas.openxmlformats.org/drawingml/2006/main">
            <a:srgbClr val="D71920"/>
          </a:solidFill>
          <a:ln xmlns:a="http://schemas.openxmlformats.org/drawingml/2006/main" w="9525">
            <a:solidFill>
              <a:srgbClr val="FFFFFF"/>
            </a:solidFill>
            <a:prstDash val="solid"/>
          </a:ln>
        </p:spPr>
      </p:sp>
      <p:sp>
        <p:nvSpPr>
          <p:cNvPr id="61" name="">
            <a:extLst xmlns:a="http://schemas.openxmlformats.org/drawingml/2006/main">
              <a:ext uri="{FF2B5EF4-FFF2-40B4-BE49-F238E27FC236}">
                <a16:creationId xmlns:a16="http://schemas.microsoft.com/office/drawing/2014/main" id="{7CDA7E78-9C23-4643-8215-835FDB390B8D}"/>
              </a:ext>
            </a:extLst>
          </p:cNvPr>
          <p:cNvSpPr>
            <a:spLocks xmlns:a="http://schemas.openxmlformats.org/drawingml/2006/main" noGrp="1"/>
          </p:cNvSpPr>
          <p:nvPr/>
        </p:nvSpPr>
        <p:spPr>
          <a:xfrm xmlns:a="http://schemas.openxmlformats.org/drawingml/2006/main">
            <a:off x="552450" y="5581650"/>
            <a:ext cx="10668000" cy="9525"/>
          </a:xfrm>
          <a:prstGeom xmlns:a="http://schemas.openxmlformats.org/drawingml/2006/main" prst="rect">
            <a:avLst/>
          </a:prstGeom>
          <a:solidFill xmlns:a="http://schemas.openxmlformats.org/drawingml/2006/main">
            <a:srgbClr val="D8D0C3"/>
          </a:solidFill>
          <a:ln xmlns:a="http://schemas.openxmlformats.org/drawingml/2006/main" w="0">
            <a:solidFill>
              <a:srgbClr val="D8D0C3"/>
            </a:solidFill>
            <a:prstDash val="solid"/>
          </a:ln>
        </p:spPr>
      </p:sp>
      <p:sp>
        <p:nvSpPr>
          <p:cNvPr id="62" name="">
            <a:extLst xmlns:a="http://schemas.openxmlformats.org/drawingml/2006/main">
              <a:ext uri="{FF2B5EF4-FFF2-40B4-BE49-F238E27FC236}">
                <a16:creationId xmlns:a16="http://schemas.microsoft.com/office/drawing/2014/main" id="{B117DC2D-3CFD-49EA-8338-45250AD286DA}"/>
              </a:ext>
            </a:extLst>
          </p:cNvPr>
          <p:cNvSpPr>
            <a:spLocks xmlns:a="http://schemas.openxmlformats.org/drawingml/2006/main" noGrp="1"/>
          </p:cNvSpPr>
          <p:nvPr/>
        </p:nvSpPr>
        <p:spPr>
          <a:xfrm xmlns:a="http://schemas.openxmlformats.org/drawingml/2006/main">
            <a:off x="3143250" y="2076450"/>
            <a:ext cx="9525" cy="3733800"/>
          </a:xfrm>
          <a:prstGeom xmlns:a="http://schemas.openxmlformats.org/drawingml/2006/main" prst="rect">
            <a:avLst/>
          </a:prstGeom>
          <a:solidFill xmlns:a="http://schemas.openxmlformats.org/drawingml/2006/main">
            <a:srgbClr val="D8D0C3"/>
          </a:solidFill>
          <a:ln xmlns:a="http://schemas.openxmlformats.org/drawingml/2006/main" w="0">
            <a:solidFill>
              <a:srgbClr val="D8D0C3"/>
            </a:solidFill>
            <a:prstDash val="solid"/>
          </a:ln>
        </p:spPr>
      </p:sp>
      <p:sp>
        <p:nvSpPr>
          <p:cNvPr id="63" name="footer-source">
            <a:extLst xmlns:a="http://schemas.openxmlformats.org/drawingml/2006/main">
              <a:ext uri="{FF2B5EF4-FFF2-40B4-BE49-F238E27FC236}">
                <a16:creationId xmlns:a16="http://schemas.microsoft.com/office/drawing/2014/main" id="{3A61CFAF-4816-4F21-81A0-D00C4DEBD89C}"/>
              </a:ext>
            </a:extLst>
          </p:cNvPr>
          <p:cNvSpPr>
            <a:spLocks xmlns:a="http://schemas.openxmlformats.org/drawingml/2006/main" noGrp="1"/>
          </p:cNvSpPr>
          <p:nvPr/>
        </p:nvSpPr>
        <p:spPr>
          <a:xfrm xmlns:a="http://schemas.openxmlformats.org/drawingml/2006/main">
            <a:off x="514350" y="6496050"/>
            <a:ext cx="6858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C6670"/>
                </a:solidFill>
                <a:latin typeface="Aptos"/>
                <a:ea typeface="Aptos"/>
                <a:cs typeface="Aptos"/>
              </a:defRPr>
            </a:pPr>
            <a:r>
              <a:rPr sz="750" b="0">
                <a:solidFill>
                  <a:srgbClr val="5C6670"/>
                </a:solidFill>
                <a:latin typeface="Aptos"/>
                <a:ea typeface="Aptos"/>
                <a:cs typeface="Aptos"/>
              </a:rPr>
              <a:t>Source: docs/AGENTS_AND_WORKFLOWS.md and docs/ARCHITECTURE.md</a:t>
            </a:r>
          </a:p>
        </p:txBody>
      </p:sp>
      <p:sp>
        <p:nvSpPr>
          <p:cNvPr id="64" name="footer-page">
            <a:extLst xmlns:a="http://schemas.openxmlformats.org/drawingml/2006/main">
              <a:ext uri="{FF2B5EF4-FFF2-40B4-BE49-F238E27FC236}">
                <a16:creationId xmlns:a16="http://schemas.microsoft.com/office/drawing/2014/main" id="{57BD38F8-1882-46E4-888F-DA0400AD8B23}"/>
              </a:ext>
            </a:extLst>
          </p:cNvPr>
          <p:cNvSpPr>
            <a:spLocks xmlns:a="http://schemas.openxmlformats.org/drawingml/2006/main" noGrp="1"/>
          </p:cNvSpPr>
          <p:nvPr/>
        </p:nvSpPr>
        <p:spPr>
          <a:xfrm xmlns:a="http://schemas.openxmlformats.org/drawingml/2006/main">
            <a:off x="11239500" y="6438900"/>
            <a:ext cx="438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5C6670"/>
                </a:solidFill>
                <a:latin typeface="Aptos Mono"/>
                <a:ea typeface="Aptos Mono"/>
                <a:cs typeface="Aptos Mono"/>
              </a:defRPr>
            </a:pPr>
            <a:r>
              <a:rPr sz="825" b="0">
                <a:solidFill>
                  <a:srgbClr val="5C6670"/>
                </a:solidFill>
                <a:latin typeface="Aptos Mono"/>
                <a:ea typeface="Aptos Mono"/>
                <a:cs typeface="Aptos Mono"/>
              </a:rPr>
              <a:t>03</a:t>
            </a:r>
          </a:p>
        </p:txBody>
      </p:sp>
    </p:spTree>
    <p:extLst>
      <p:ext uri="{BB962C8B-B14F-4D97-AF65-F5344CB8AC3E}">
        <p14:creationId xmlns:p14="http://schemas.microsoft.com/office/powerpoint/2010/main" val="239790870"/>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96F7951-65C8-490C-BA1D-57E534DD80F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F7F3EA"/>
            </a:solidFill>
            <a:prstDash val="solid"/>
          </a:ln>
        </p:spPr>
      </p:sp>
      <p:sp>
        <p:nvSpPr>
          <p:cNvPr id="2" name="kicker-marker">
            <a:extLst xmlns:a="http://schemas.openxmlformats.org/drawingml/2006/main">
              <a:ext uri="{FF2B5EF4-FFF2-40B4-BE49-F238E27FC236}">
                <a16:creationId xmlns:a16="http://schemas.microsoft.com/office/drawing/2014/main" id="{A23D34C1-E777-4D25-A2FB-138F56C2B3B5}"/>
              </a:ext>
            </a:extLst>
          </p:cNvPr>
          <p:cNvSpPr>
            <a:spLocks xmlns:a="http://schemas.openxmlformats.org/drawingml/2006/main" noGrp="1"/>
          </p:cNvSpPr>
          <p:nvPr/>
        </p:nvSpPr>
        <p:spPr>
          <a:xfrm xmlns:a="http://schemas.openxmlformats.org/drawingml/2006/main">
            <a:off x="533400" y="476250"/>
            <a:ext cx="171450" cy="38100"/>
          </a:xfrm>
          <a:prstGeom xmlns:a="http://schemas.openxmlformats.org/drawingml/2006/main" prst="rect">
            <a:avLst/>
          </a:prstGeom>
          <a:solidFill xmlns:a="http://schemas.openxmlformats.org/drawingml/2006/main">
            <a:srgbClr val="D71920"/>
          </a:solidFill>
          <a:ln xmlns:a="http://schemas.openxmlformats.org/drawingml/2006/main" w="0">
            <a:solidFill>
              <a:srgbClr val="D71920"/>
            </a:solidFill>
            <a:prstDash val="solid"/>
          </a:ln>
        </p:spPr>
      </p:sp>
      <p:sp>
        <p:nvSpPr>
          <p:cNvPr id="3" name="kicker-label">
            <a:extLst xmlns:a="http://schemas.openxmlformats.org/drawingml/2006/main">
              <a:ext uri="{FF2B5EF4-FFF2-40B4-BE49-F238E27FC236}">
                <a16:creationId xmlns:a16="http://schemas.microsoft.com/office/drawing/2014/main" id="{02666B14-08C5-441D-B56E-37055E846DC2}"/>
              </a:ext>
            </a:extLst>
          </p:cNvPr>
          <p:cNvSpPr>
            <a:spLocks xmlns:a="http://schemas.openxmlformats.org/drawingml/2006/main" noGrp="1"/>
          </p:cNvSpPr>
          <p:nvPr/>
        </p:nvSpPr>
        <p:spPr>
          <a:xfrm xmlns:a="http://schemas.openxmlformats.org/drawingml/2006/main">
            <a:off x="800100" y="400050"/>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D71920"/>
                </a:solidFill>
                <a:latin typeface="Aptos"/>
                <a:ea typeface="Aptos"/>
                <a:cs typeface="Aptos"/>
              </a:defRPr>
            </a:pPr>
            <a:r>
              <a:rPr sz="900" b="1">
                <a:solidFill>
                  <a:srgbClr val="D71920"/>
                </a:solidFill>
                <a:latin typeface="Aptos"/>
                <a:ea typeface="Aptos"/>
                <a:cs typeface="Aptos"/>
              </a:rPr>
              <a:t>RUNTIME ARCHITECTURE</a:t>
            </a:r>
          </a:p>
        </p:txBody>
      </p:sp>
      <p:sp>
        <p:nvSpPr>
          <p:cNvPr id="4" name="claim-title">
            <a:extLst xmlns:a="http://schemas.openxmlformats.org/drawingml/2006/main">
              <a:ext uri="{FF2B5EF4-FFF2-40B4-BE49-F238E27FC236}">
                <a16:creationId xmlns:a16="http://schemas.microsoft.com/office/drawing/2014/main" id="{FFE98C3C-FB51-40ED-9B27-DBB3410EB066}"/>
              </a:ext>
            </a:extLst>
          </p:cNvPr>
          <p:cNvSpPr>
            <a:spLocks xmlns:a="http://schemas.openxmlformats.org/drawingml/2006/main" noGrp="1"/>
          </p:cNvSpPr>
          <p:nvPr/>
        </p:nvSpPr>
        <p:spPr>
          <a:xfrm xmlns:a="http://schemas.openxmlformats.org/drawingml/2006/main">
            <a:off x="514350" y="742950"/>
            <a:ext cx="838200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4213D"/>
                </a:solidFill>
                <a:latin typeface="Aptos Display"/>
                <a:ea typeface="Aptos Display"/>
                <a:cs typeface="Aptos Display"/>
              </a:defRPr>
            </a:pPr>
            <a:r>
              <a:rPr sz="2550" b="1">
                <a:solidFill>
                  <a:srgbClr val="14213D"/>
                </a:solidFill>
                <a:latin typeface="Aptos Display"/>
                <a:ea typeface="Aptos Display"/>
                <a:cs typeface="Aptos Display"/>
              </a:rPr>
              <a:t>FastAPI orchestrates a dynamic LangGraph-compatible subgraph for each request.</a:t>
            </a:r>
          </a:p>
        </p:txBody>
      </p:sp>
      <p:sp>
        <p:nvSpPr>
          <p:cNvPr id="5" name="">
            <a:extLst xmlns:a="http://schemas.openxmlformats.org/drawingml/2006/main">
              <a:ext uri="{FF2B5EF4-FFF2-40B4-BE49-F238E27FC236}">
                <a16:creationId xmlns:a16="http://schemas.microsoft.com/office/drawing/2014/main" id="{1C24F776-B6B1-4F4A-842D-B233185252D0}"/>
              </a:ext>
            </a:extLst>
          </p:cNvPr>
          <p:cNvSpPr>
            <a:spLocks xmlns:a="http://schemas.openxmlformats.org/drawingml/2006/main" noGrp="1"/>
          </p:cNvSpPr>
          <p:nvPr/>
        </p:nvSpPr>
        <p:spPr>
          <a:xfrm xmlns:a="http://schemas.openxmlformats.org/drawingml/2006/main">
            <a:off x="533400" y="1562100"/>
            <a:ext cx="95250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76200" bIns="0" anchor="t"/>
          <a:lstStyle xmlns:a="http://schemas.openxmlformats.org/drawingml/2006/main"/>
          <a:p xmlns:a="http://schemas.openxmlformats.org/drawingml/2006/main">
            <a:pPr algn="l">
              <a:defRPr sz="1275" b="0">
                <a:solidFill>
                  <a:srgbClr val="374151"/>
                </a:solidFill>
                <a:latin typeface="Aptos"/>
                <a:ea typeface="Aptos"/>
                <a:cs typeface="Aptos"/>
              </a:defRPr>
            </a:pPr>
            <a:r>
              <a:rPr sz="1275" b="0">
                <a:solidFill>
                  <a:srgbClr val="374151"/>
                </a:solidFill>
                <a:latin typeface="Aptos"/>
                <a:ea typeface="Aptos"/>
                <a:cs typeface="Aptos"/>
              </a:rPr>
              <a:t>Active local runtime: Next.js frontend, FastAPI backend, dynamic graph execution, pgvector RAG, model scoring, mock-or-real LLM client, judges, guardrails, and in-memory run history.</a:t>
            </a:r>
          </a:p>
        </p:txBody>
      </p:sp>
      <p:sp>
        <p:nvSpPr>
          <p:cNvPr id="6" name="stage-0-box">
            <a:extLst xmlns:a="http://schemas.openxmlformats.org/drawingml/2006/main">
              <a:ext uri="{FF2B5EF4-FFF2-40B4-BE49-F238E27FC236}">
                <a16:creationId xmlns:a16="http://schemas.microsoft.com/office/drawing/2014/main" id="{E5671C71-2F32-4E95-8783-74D6B6ED1A9F}"/>
              </a:ext>
            </a:extLst>
          </p:cNvPr>
          <p:cNvSpPr>
            <a:spLocks xmlns:a="http://schemas.openxmlformats.org/drawingml/2006/main" noGrp="1"/>
          </p:cNvSpPr>
          <p:nvPr/>
        </p:nvSpPr>
        <p:spPr>
          <a:xfrm xmlns:a="http://schemas.openxmlformats.org/drawingml/2006/main">
            <a:off x="514350" y="2381250"/>
            <a:ext cx="14668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D8D0C3"/>
            </a:solidFill>
            <a:prstDash val="solid"/>
          </a:ln>
        </p:spPr>
      </p:sp>
      <p:sp>
        <p:nvSpPr>
          <p:cNvPr id="7" name="stage-0-label">
            <a:extLst xmlns:a="http://schemas.openxmlformats.org/drawingml/2006/main">
              <a:ext uri="{FF2B5EF4-FFF2-40B4-BE49-F238E27FC236}">
                <a16:creationId xmlns:a16="http://schemas.microsoft.com/office/drawing/2014/main" id="{ECAB491A-ED95-4120-B16C-5460CDFA6CF2}"/>
              </a:ext>
            </a:extLst>
          </p:cNvPr>
          <p:cNvSpPr>
            <a:spLocks xmlns:a="http://schemas.openxmlformats.org/drawingml/2006/main" noGrp="1"/>
          </p:cNvSpPr>
          <p:nvPr/>
        </p:nvSpPr>
        <p:spPr>
          <a:xfrm xmlns:a="http://schemas.openxmlformats.org/drawingml/2006/main">
            <a:off x="666750" y="2505075"/>
            <a:ext cx="1162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14213D"/>
                </a:solidFill>
                <a:latin typeface="Aptos"/>
                <a:ea typeface="Aptos"/>
                <a:cs typeface="Aptos"/>
              </a:defRPr>
            </a:pPr>
            <a:r>
              <a:rPr sz="1125" b="1">
                <a:solidFill>
                  <a:srgbClr val="14213D"/>
                </a:solidFill>
                <a:latin typeface="Aptos"/>
                <a:ea typeface="Aptos"/>
                <a:cs typeface="Aptos"/>
              </a:rPr>
              <a:t>Next.js UI</a:t>
            </a:r>
          </a:p>
        </p:txBody>
      </p:sp>
      <p:sp>
        <p:nvSpPr>
          <p:cNvPr id="8" name="stage-0-body">
            <a:extLst xmlns:a="http://schemas.openxmlformats.org/drawingml/2006/main">
              <a:ext uri="{FF2B5EF4-FFF2-40B4-BE49-F238E27FC236}">
                <a16:creationId xmlns:a16="http://schemas.microsoft.com/office/drawing/2014/main" id="{55F0299A-8756-4ECE-A772-B266C8719637}"/>
              </a:ext>
            </a:extLst>
          </p:cNvPr>
          <p:cNvSpPr>
            <a:spLocks xmlns:a="http://schemas.openxmlformats.org/drawingml/2006/main" noGrp="1"/>
          </p:cNvSpPr>
          <p:nvPr/>
        </p:nvSpPr>
        <p:spPr>
          <a:xfrm xmlns:a="http://schemas.openxmlformats.org/drawingml/2006/main">
            <a:off x="666750" y="2781300"/>
            <a:ext cx="11620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C6670"/>
                </a:solidFill>
                <a:latin typeface="Aptos"/>
                <a:ea typeface="Aptos"/>
                <a:cs typeface="Aptos"/>
              </a:defRPr>
            </a:pPr>
            <a:r>
              <a:rPr sz="975" b="0">
                <a:solidFill>
                  <a:srgbClr val="5C6670"/>
                </a:solidFill>
                <a:latin typeface="Aptos"/>
                <a:ea typeface="Aptos"/>
                <a:cs typeface="Aptos"/>
              </a:rPr>
              <a:t>role, task,</a:t>
            </a:r>
          </a:p>
          <a:p xmlns:a="http://schemas.openxmlformats.org/drawingml/2006/main">
            <a:pPr algn="l">
              <a:defRPr sz="975" b="0">
                <a:solidFill>
                  <a:srgbClr val="5C6670"/>
                </a:solidFill>
                <a:latin typeface="Aptos"/>
                <a:ea typeface="Aptos"/>
                <a:cs typeface="Aptos"/>
              </a:defRPr>
            </a:pPr>
            <a:r>
              <a:rPr sz="975" b="0">
                <a:solidFill>
                  <a:srgbClr val="5C6670"/>
                </a:solidFill>
                <a:latin typeface="Aptos"/>
                <a:ea typeface="Aptos"/>
                <a:cs typeface="Aptos"/>
              </a:rPr>
              <a:t>customer, query</a:t>
            </a:r>
          </a:p>
        </p:txBody>
      </p:sp>
      <p:sp>
        <p:nvSpPr>
          <p:cNvPr id="9" name="">
            <a:extLst xmlns:a="http://schemas.openxmlformats.org/drawingml/2006/main">
              <a:ext uri="{FF2B5EF4-FFF2-40B4-BE49-F238E27FC236}">
                <a16:creationId xmlns:a16="http://schemas.microsoft.com/office/drawing/2014/main" id="{8050E179-F545-4972-8063-852E1A998A2B}"/>
              </a:ext>
            </a:extLst>
          </p:cNvPr>
          <p:cNvSpPr>
            <a:spLocks xmlns:a="http://schemas.openxmlformats.org/drawingml/2006/main" noGrp="1"/>
          </p:cNvSpPr>
          <p:nvPr/>
        </p:nvSpPr>
        <p:spPr>
          <a:xfrm xmlns:a="http://schemas.openxmlformats.org/drawingml/2006/main">
            <a:off x="2066925" y="2686050"/>
            <a:ext cx="228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D71920"/>
                </a:solidFill>
                <a:latin typeface="Aptos"/>
                <a:ea typeface="Aptos"/>
                <a:cs typeface="Aptos"/>
              </a:defRPr>
            </a:pPr>
            <a:r>
              <a:rPr sz="1650" b="1">
                <a:solidFill>
                  <a:srgbClr val="D71920"/>
                </a:solidFill>
                <a:latin typeface="Aptos"/>
                <a:ea typeface="Aptos"/>
                <a:cs typeface="Aptos"/>
              </a:rPr>
              <a:t>&gt;</a:t>
            </a:r>
          </a:p>
        </p:txBody>
      </p:sp>
      <p:sp>
        <p:nvSpPr>
          <p:cNvPr id="10" name="stage-1-box">
            <a:extLst xmlns:a="http://schemas.openxmlformats.org/drawingml/2006/main">
              <a:ext uri="{FF2B5EF4-FFF2-40B4-BE49-F238E27FC236}">
                <a16:creationId xmlns:a16="http://schemas.microsoft.com/office/drawing/2014/main" id="{839F042D-36B2-4F47-8BC9-B76EF4DD5028}"/>
              </a:ext>
            </a:extLst>
          </p:cNvPr>
          <p:cNvSpPr>
            <a:spLocks xmlns:a="http://schemas.openxmlformats.org/drawingml/2006/main" noGrp="1"/>
          </p:cNvSpPr>
          <p:nvPr/>
        </p:nvSpPr>
        <p:spPr>
          <a:xfrm xmlns:a="http://schemas.openxmlformats.org/drawingml/2006/main">
            <a:off x="2400300" y="2381250"/>
            <a:ext cx="14668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D8D0C3"/>
            </a:solidFill>
            <a:prstDash val="solid"/>
          </a:ln>
        </p:spPr>
      </p:sp>
      <p:sp>
        <p:nvSpPr>
          <p:cNvPr id="11" name="stage-1-label">
            <a:extLst xmlns:a="http://schemas.openxmlformats.org/drawingml/2006/main">
              <a:ext uri="{FF2B5EF4-FFF2-40B4-BE49-F238E27FC236}">
                <a16:creationId xmlns:a16="http://schemas.microsoft.com/office/drawing/2014/main" id="{F410B32F-D12B-4D6B-9CEA-79D2A613D0AA}"/>
              </a:ext>
            </a:extLst>
          </p:cNvPr>
          <p:cNvSpPr>
            <a:spLocks xmlns:a="http://schemas.openxmlformats.org/drawingml/2006/main" noGrp="1"/>
          </p:cNvSpPr>
          <p:nvPr/>
        </p:nvSpPr>
        <p:spPr>
          <a:xfrm xmlns:a="http://schemas.openxmlformats.org/drawingml/2006/main">
            <a:off x="2552700" y="2505075"/>
            <a:ext cx="1162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14213D"/>
                </a:solidFill>
                <a:latin typeface="Aptos"/>
                <a:ea typeface="Aptos"/>
                <a:cs typeface="Aptos"/>
              </a:defRPr>
            </a:pPr>
            <a:r>
              <a:rPr sz="1125" b="1">
                <a:solidFill>
                  <a:srgbClr val="14213D"/>
                </a:solidFill>
                <a:latin typeface="Aptos"/>
                <a:ea typeface="Aptos"/>
                <a:cs typeface="Aptos"/>
              </a:rPr>
              <a:t>POST /analysis</a:t>
            </a:r>
          </a:p>
        </p:txBody>
      </p:sp>
      <p:sp>
        <p:nvSpPr>
          <p:cNvPr id="12" name="stage-1-body">
            <a:extLst xmlns:a="http://schemas.openxmlformats.org/drawingml/2006/main">
              <a:ext uri="{FF2B5EF4-FFF2-40B4-BE49-F238E27FC236}">
                <a16:creationId xmlns:a16="http://schemas.microsoft.com/office/drawing/2014/main" id="{297C14A0-7A46-4130-8F4F-B649B0FF6921}"/>
              </a:ext>
            </a:extLst>
          </p:cNvPr>
          <p:cNvSpPr>
            <a:spLocks xmlns:a="http://schemas.openxmlformats.org/drawingml/2006/main" noGrp="1"/>
          </p:cNvSpPr>
          <p:nvPr/>
        </p:nvSpPr>
        <p:spPr>
          <a:xfrm xmlns:a="http://schemas.openxmlformats.org/drawingml/2006/main">
            <a:off x="2552700" y="2781300"/>
            <a:ext cx="11620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C6670"/>
                </a:solidFill>
                <a:latin typeface="Aptos"/>
                <a:ea typeface="Aptos"/>
                <a:cs typeface="Aptos"/>
              </a:defRPr>
            </a:pPr>
            <a:r>
              <a:rPr sz="975" b="0">
                <a:solidFill>
                  <a:srgbClr val="5C6670"/>
                </a:solidFill>
                <a:latin typeface="Aptos"/>
                <a:ea typeface="Aptos"/>
                <a:cs typeface="Aptos"/>
              </a:rPr>
              <a:t>Pydantic request</a:t>
            </a:r>
          </a:p>
          <a:p xmlns:a="http://schemas.openxmlformats.org/drawingml/2006/main">
            <a:pPr algn="l">
              <a:defRPr sz="975" b="0">
                <a:solidFill>
                  <a:srgbClr val="5C6670"/>
                </a:solidFill>
                <a:latin typeface="Aptos"/>
                <a:ea typeface="Aptos"/>
                <a:cs typeface="Aptos"/>
              </a:defRPr>
            </a:pPr>
            <a:r>
              <a:rPr sz="975" b="0">
                <a:solidFill>
                  <a:srgbClr val="5C6670"/>
                </a:solidFill>
                <a:latin typeface="Aptos"/>
                <a:ea typeface="Aptos"/>
                <a:cs typeface="Aptos"/>
              </a:rPr>
              <a:t>and run id</a:t>
            </a:r>
          </a:p>
        </p:txBody>
      </p:sp>
      <p:sp>
        <p:nvSpPr>
          <p:cNvPr id="13" name="">
            <a:extLst xmlns:a="http://schemas.openxmlformats.org/drawingml/2006/main">
              <a:ext uri="{FF2B5EF4-FFF2-40B4-BE49-F238E27FC236}">
                <a16:creationId xmlns:a16="http://schemas.microsoft.com/office/drawing/2014/main" id="{8A0A8EFA-657A-4ECA-8170-6F1F0DB0ECB2}"/>
              </a:ext>
            </a:extLst>
          </p:cNvPr>
          <p:cNvSpPr>
            <a:spLocks xmlns:a="http://schemas.openxmlformats.org/drawingml/2006/main" noGrp="1"/>
          </p:cNvSpPr>
          <p:nvPr/>
        </p:nvSpPr>
        <p:spPr>
          <a:xfrm xmlns:a="http://schemas.openxmlformats.org/drawingml/2006/main">
            <a:off x="3952875" y="2686050"/>
            <a:ext cx="228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D71920"/>
                </a:solidFill>
                <a:latin typeface="Aptos"/>
                <a:ea typeface="Aptos"/>
                <a:cs typeface="Aptos"/>
              </a:defRPr>
            </a:pPr>
            <a:r>
              <a:rPr sz="1650" b="1">
                <a:solidFill>
                  <a:srgbClr val="D71920"/>
                </a:solidFill>
                <a:latin typeface="Aptos"/>
                <a:ea typeface="Aptos"/>
                <a:cs typeface="Aptos"/>
              </a:rPr>
              <a:t>&gt;</a:t>
            </a:r>
          </a:p>
        </p:txBody>
      </p:sp>
      <p:sp>
        <p:nvSpPr>
          <p:cNvPr id="14" name="stage-2-box">
            <a:extLst xmlns:a="http://schemas.openxmlformats.org/drawingml/2006/main">
              <a:ext uri="{FF2B5EF4-FFF2-40B4-BE49-F238E27FC236}">
                <a16:creationId xmlns:a16="http://schemas.microsoft.com/office/drawing/2014/main" id="{B66B8812-BA10-4B35-BB3D-C378F79300F0}"/>
              </a:ext>
            </a:extLst>
          </p:cNvPr>
          <p:cNvSpPr>
            <a:spLocks xmlns:a="http://schemas.openxmlformats.org/drawingml/2006/main" noGrp="1"/>
          </p:cNvSpPr>
          <p:nvPr/>
        </p:nvSpPr>
        <p:spPr>
          <a:xfrm xmlns:a="http://schemas.openxmlformats.org/drawingml/2006/main">
            <a:off x="4286250" y="2381250"/>
            <a:ext cx="14668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D8D0C3"/>
            </a:solidFill>
            <a:prstDash val="solid"/>
          </a:ln>
        </p:spPr>
      </p:sp>
      <p:sp>
        <p:nvSpPr>
          <p:cNvPr id="15" name="stage-2-label">
            <a:extLst xmlns:a="http://schemas.openxmlformats.org/drawingml/2006/main">
              <a:ext uri="{FF2B5EF4-FFF2-40B4-BE49-F238E27FC236}">
                <a16:creationId xmlns:a16="http://schemas.microsoft.com/office/drawing/2014/main" id="{41B32D3C-F49A-4282-92A0-6D0A7A0F0D45}"/>
              </a:ext>
            </a:extLst>
          </p:cNvPr>
          <p:cNvSpPr>
            <a:spLocks xmlns:a="http://schemas.openxmlformats.org/drawingml/2006/main" noGrp="1"/>
          </p:cNvSpPr>
          <p:nvPr/>
        </p:nvSpPr>
        <p:spPr>
          <a:xfrm xmlns:a="http://schemas.openxmlformats.org/drawingml/2006/main">
            <a:off x="4438650" y="2505075"/>
            <a:ext cx="1162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14213D"/>
                </a:solidFill>
                <a:latin typeface="Aptos"/>
                <a:ea typeface="Aptos"/>
                <a:cs typeface="Aptos"/>
              </a:defRPr>
            </a:pPr>
            <a:r>
              <a:rPr sz="1125" b="1">
                <a:solidFill>
                  <a:srgbClr val="14213D"/>
                </a:solidFill>
                <a:latin typeface="Aptos"/>
                <a:ea typeface="Aptos"/>
                <a:cs typeface="Aptos"/>
              </a:rPr>
              <a:t>PolicyEngine</a:t>
            </a:r>
          </a:p>
        </p:txBody>
      </p:sp>
      <p:sp>
        <p:nvSpPr>
          <p:cNvPr id="16" name="stage-2-body">
            <a:extLst xmlns:a="http://schemas.openxmlformats.org/drawingml/2006/main">
              <a:ext uri="{FF2B5EF4-FFF2-40B4-BE49-F238E27FC236}">
                <a16:creationId xmlns:a16="http://schemas.microsoft.com/office/drawing/2014/main" id="{6BED1B93-A7A0-4888-9C93-303204A65C61}"/>
              </a:ext>
            </a:extLst>
          </p:cNvPr>
          <p:cNvSpPr>
            <a:spLocks xmlns:a="http://schemas.openxmlformats.org/drawingml/2006/main" noGrp="1"/>
          </p:cNvSpPr>
          <p:nvPr/>
        </p:nvSpPr>
        <p:spPr>
          <a:xfrm xmlns:a="http://schemas.openxmlformats.org/drawingml/2006/main">
            <a:off x="4438650" y="2781300"/>
            <a:ext cx="11620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C6670"/>
                </a:solidFill>
                <a:latin typeface="Aptos"/>
                <a:ea typeface="Aptos"/>
                <a:cs typeface="Aptos"/>
              </a:defRPr>
            </a:pPr>
            <a:r>
              <a:rPr sz="975" b="0">
                <a:solidFill>
                  <a:srgbClr val="5C6670"/>
                </a:solidFill>
                <a:latin typeface="Aptos"/>
                <a:ea typeface="Aptos"/>
                <a:cs typeface="Aptos"/>
              </a:rPr>
              <a:t>input guardrails</a:t>
            </a:r>
          </a:p>
          <a:p xmlns:a="http://schemas.openxmlformats.org/drawingml/2006/main">
            <a:pPr algn="l">
              <a:defRPr sz="975" b="0">
                <a:solidFill>
                  <a:srgbClr val="5C6670"/>
                </a:solidFill>
                <a:latin typeface="Aptos"/>
                <a:ea typeface="Aptos"/>
                <a:cs typeface="Aptos"/>
              </a:defRPr>
            </a:pPr>
            <a:r>
              <a:rPr sz="975" b="0">
                <a:solidFill>
                  <a:srgbClr val="5C6670"/>
                </a:solidFill>
                <a:latin typeface="Aptos"/>
                <a:ea typeface="Aptos"/>
                <a:cs typeface="Aptos"/>
              </a:rPr>
              <a:t>and safety checks</a:t>
            </a:r>
          </a:p>
        </p:txBody>
      </p:sp>
      <p:sp>
        <p:nvSpPr>
          <p:cNvPr id="17" name="">
            <a:extLst xmlns:a="http://schemas.openxmlformats.org/drawingml/2006/main">
              <a:ext uri="{FF2B5EF4-FFF2-40B4-BE49-F238E27FC236}">
                <a16:creationId xmlns:a16="http://schemas.microsoft.com/office/drawing/2014/main" id="{B0801B01-3796-4777-925A-04CAD8A20F4A}"/>
              </a:ext>
            </a:extLst>
          </p:cNvPr>
          <p:cNvSpPr>
            <a:spLocks xmlns:a="http://schemas.openxmlformats.org/drawingml/2006/main" noGrp="1"/>
          </p:cNvSpPr>
          <p:nvPr/>
        </p:nvSpPr>
        <p:spPr>
          <a:xfrm xmlns:a="http://schemas.openxmlformats.org/drawingml/2006/main">
            <a:off x="5838825" y="2686050"/>
            <a:ext cx="228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D71920"/>
                </a:solidFill>
                <a:latin typeface="Aptos"/>
                <a:ea typeface="Aptos"/>
                <a:cs typeface="Aptos"/>
              </a:defRPr>
            </a:pPr>
            <a:r>
              <a:rPr sz="1650" b="1">
                <a:solidFill>
                  <a:srgbClr val="D71920"/>
                </a:solidFill>
                <a:latin typeface="Aptos"/>
                <a:ea typeface="Aptos"/>
                <a:cs typeface="Aptos"/>
              </a:rPr>
              <a:t>&gt;</a:t>
            </a:r>
          </a:p>
        </p:txBody>
      </p:sp>
      <p:sp>
        <p:nvSpPr>
          <p:cNvPr id="18" name="stage-3-box">
            <a:extLst xmlns:a="http://schemas.openxmlformats.org/drawingml/2006/main">
              <a:ext uri="{FF2B5EF4-FFF2-40B4-BE49-F238E27FC236}">
                <a16:creationId xmlns:a16="http://schemas.microsoft.com/office/drawing/2014/main" id="{8AEB100F-91E7-4B48-9DD0-2E944B19A8CD}"/>
              </a:ext>
            </a:extLst>
          </p:cNvPr>
          <p:cNvSpPr>
            <a:spLocks xmlns:a="http://schemas.openxmlformats.org/drawingml/2006/main" noGrp="1"/>
          </p:cNvSpPr>
          <p:nvPr/>
        </p:nvSpPr>
        <p:spPr>
          <a:xfrm xmlns:a="http://schemas.openxmlformats.org/drawingml/2006/main">
            <a:off x="6172200" y="2381250"/>
            <a:ext cx="14668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D8D0C3"/>
            </a:solidFill>
            <a:prstDash val="solid"/>
          </a:ln>
        </p:spPr>
      </p:sp>
      <p:sp>
        <p:nvSpPr>
          <p:cNvPr id="19" name="stage-3-label">
            <a:extLst xmlns:a="http://schemas.openxmlformats.org/drawingml/2006/main">
              <a:ext uri="{FF2B5EF4-FFF2-40B4-BE49-F238E27FC236}">
                <a16:creationId xmlns:a16="http://schemas.microsoft.com/office/drawing/2014/main" id="{AE16DCAF-1507-4FA8-B30A-CA6D4DCC1B65}"/>
              </a:ext>
            </a:extLst>
          </p:cNvPr>
          <p:cNvSpPr>
            <a:spLocks xmlns:a="http://schemas.openxmlformats.org/drawingml/2006/main" noGrp="1"/>
          </p:cNvSpPr>
          <p:nvPr/>
        </p:nvSpPr>
        <p:spPr>
          <a:xfrm xmlns:a="http://schemas.openxmlformats.org/drawingml/2006/main">
            <a:off x="6324600" y="2505075"/>
            <a:ext cx="1162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14213D"/>
                </a:solidFill>
                <a:latin typeface="Aptos"/>
                <a:ea typeface="Aptos"/>
                <a:cs typeface="Aptos"/>
              </a:defRPr>
            </a:pPr>
            <a:r>
              <a:rPr sz="1125" b="1">
                <a:solidFill>
                  <a:srgbClr val="14213D"/>
                </a:solidFill>
                <a:latin typeface="Aptos"/>
                <a:ea typeface="Aptos"/>
                <a:cs typeface="Aptos"/>
              </a:rPr>
              <a:t>RoleAwareRouter</a:t>
            </a:r>
          </a:p>
        </p:txBody>
      </p:sp>
      <p:sp>
        <p:nvSpPr>
          <p:cNvPr id="20" name="stage-3-body">
            <a:extLst xmlns:a="http://schemas.openxmlformats.org/drawingml/2006/main">
              <a:ext uri="{FF2B5EF4-FFF2-40B4-BE49-F238E27FC236}">
                <a16:creationId xmlns:a16="http://schemas.microsoft.com/office/drawing/2014/main" id="{BDD1EA56-5A24-4103-A85E-98198E114247}"/>
              </a:ext>
            </a:extLst>
          </p:cNvPr>
          <p:cNvSpPr>
            <a:spLocks xmlns:a="http://schemas.openxmlformats.org/drawingml/2006/main" noGrp="1"/>
          </p:cNvSpPr>
          <p:nvPr/>
        </p:nvSpPr>
        <p:spPr>
          <a:xfrm xmlns:a="http://schemas.openxmlformats.org/drawingml/2006/main">
            <a:off x="6324600" y="2781300"/>
            <a:ext cx="11620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C6670"/>
                </a:solidFill>
                <a:latin typeface="Aptos"/>
                <a:ea typeface="Aptos"/>
                <a:cs typeface="Aptos"/>
              </a:defRPr>
            </a:pPr>
            <a:r>
              <a:rPr sz="975" b="0">
                <a:solidFill>
                  <a:srgbClr val="5C6670"/>
                </a:solidFill>
                <a:latin typeface="Aptos"/>
                <a:ea typeface="Aptos"/>
                <a:cs typeface="Aptos"/>
              </a:rPr>
              <a:t>route table +</a:t>
            </a:r>
          </a:p>
          <a:p xmlns:a="http://schemas.openxmlformats.org/drawingml/2006/main">
            <a:pPr algn="l">
              <a:defRPr sz="975" b="0">
                <a:solidFill>
                  <a:srgbClr val="5C6670"/>
                </a:solidFill>
                <a:latin typeface="Aptos"/>
                <a:ea typeface="Aptos"/>
                <a:cs typeface="Aptos"/>
              </a:defRPr>
            </a:pPr>
            <a:r>
              <a:rPr sz="975" b="0">
                <a:solidFill>
                  <a:srgbClr val="5C6670"/>
                </a:solidFill>
                <a:latin typeface="Aptos"/>
                <a:ea typeface="Aptos"/>
                <a:cs typeface="Aptos"/>
              </a:rPr>
              <a:t>permissions</a:t>
            </a:r>
          </a:p>
        </p:txBody>
      </p:sp>
      <p:sp>
        <p:nvSpPr>
          <p:cNvPr id="21" name="">
            <a:extLst xmlns:a="http://schemas.openxmlformats.org/drawingml/2006/main">
              <a:ext uri="{FF2B5EF4-FFF2-40B4-BE49-F238E27FC236}">
                <a16:creationId xmlns:a16="http://schemas.microsoft.com/office/drawing/2014/main" id="{CCB135CF-D3CC-4ED8-A64F-47E66E7469CC}"/>
              </a:ext>
            </a:extLst>
          </p:cNvPr>
          <p:cNvSpPr>
            <a:spLocks xmlns:a="http://schemas.openxmlformats.org/drawingml/2006/main" noGrp="1"/>
          </p:cNvSpPr>
          <p:nvPr/>
        </p:nvSpPr>
        <p:spPr>
          <a:xfrm xmlns:a="http://schemas.openxmlformats.org/drawingml/2006/main">
            <a:off x="7724775" y="2686050"/>
            <a:ext cx="228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D71920"/>
                </a:solidFill>
                <a:latin typeface="Aptos"/>
                <a:ea typeface="Aptos"/>
                <a:cs typeface="Aptos"/>
              </a:defRPr>
            </a:pPr>
            <a:r>
              <a:rPr sz="1650" b="1">
                <a:solidFill>
                  <a:srgbClr val="D71920"/>
                </a:solidFill>
                <a:latin typeface="Aptos"/>
                <a:ea typeface="Aptos"/>
                <a:cs typeface="Aptos"/>
              </a:rPr>
              <a:t>&gt;</a:t>
            </a:r>
          </a:p>
        </p:txBody>
      </p:sp>
      <p:sp>
        <p:nvSpPr>
          <p:cNvPr id="22" name="stage-4-box">
            <a:extLst xmlns:a="http://schemas.openxmlformats.org/drawingml/2006/main">
              <a:ext uri="{FF2B5EF4-FFF2-40B4-BE49-F238E27FC236}">
                <a16:creationId xmlns:a16="http://schemas.microsoft.com/office/drawing/2014/main" id="{7AE64FE6-3D73-407D-BBC8-34A60A3C1022}"/>
              </a:ext>
            </a:extLst>
          </p:cNvPr>
          <p:cNvSpPr>
            <a:spLocks xmlns:a="http://schemas.openxmlformats.org/drawingml/2006/main" noGrp="1"/>
          </p:cNvSpPr>
          <p:nvPr/>
        </p:nvSpPr>
        <p:spPr>
          <a:xfrm xmlns:a="http://schemas.openxmlformats.org/drawingml/2006/main">
            <a:off x="8058150" y="2381250"/>
            <a:ext cx="1466850" cy="876300"/>
          </a:xfrm>
          <a:prstGeom xmlns:a="http://schemas.openxmlformats.org/drawingml/2006/main" prst="rect">
            <a:avLst/>
          </a:prstGeom>
          <a:solidFill xmlns:a="http://schemas.openxmlformats.org/drawingml/2006/main">
            <a:srgbClr val="14213D"/>
          </a:solidFill>
          <a:ln xmlns:a="http://schemas.openxmlformats.org/drawingml/2006/main" w="9525">
            <a:solidFill>
              <a:srgbClr val="14213D"/>
            </a:solidFill>
            <a:prstDash val="solid"/>
          </a:ln>
        </p:spPr>
      </p:sp>
      <p:sp>
        <p:nvSpPr>
          <p:cNvPr id="23" name="stage-4-label">
            <a:extLst xmlns:a="http://schemas.openxmlformats.org/drawingml/2006/main">
              <a:ext uri="{FF2B5EF4-FFF2-40B4-BE49-F238E27FC236}">
                <a16:creationId xmlns:a16="http://schemas.microsoft.com/office/drawing/2014/main" id="{18917884-6A9A-4D20-9A96-A9455115B32D}"/>
              </a:ext>
            </a:extLst>
          </p:cNvPr>
          <p:cNvSpPr>
            <a:spLocks xmlns:a="http://schemas.openxmlformats.org/drawingml/2006/main" noGrp="1"/>
          </p:cNvSpPr>
          <p:nvPr/>
        </p:nvSpPr>
        <p:spPr>
          <a:xfrm xmlns:a="http://schemas.openxmlformats.org/drawingml/2006/main">
            <a:off x="8210550" y="2505075"/>
            <a:ext cx="1162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DynamicGraph</a:t>
            </a:r>
          </a:p>
        </p:txBody>
      </p:sp>
      <p:sp>
        <p:nvSpPr>
          <p:cNvPr id="24" name="stage-4-body">
            <a:extLst xmlns:a="http://schemas.openxmlformats.org/drawingml/2006/main">
              <a:ext uri="{FF2B5EF4-FFF2-40B4-BE49-F238E27FC236}">
                <a16:creationId xmlns:a16="http://schemas.microsoft.com/office/drawing/2014/main" id="{B7FB3022-4A38-492C-B13D-0EC05741802C}"/>
              </a:ext>
            </a:extLst>
          </p:cNvPr>
          <p:cNvSpPr>
            <a:spLocks xmlns:a="http://schemas.openxmlformats.org/drawingml/2006/main" noGrp="1"/>
          </p:cNvSpPr>
          <p:nvPr/>
        </p:nvSpPr>
        <p:spPr>
          <a:xfrm xmlns:a="http://schemas.openxmlformats.org/drawingml/2006/main">
            <a:off x="8210550" y="2781300"/>
            <a:ext cx="11620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DCE6F2"/>
                </a:solidFill>
                <a:latin typeface="Aptos"/>
                <a:ea typeface="Aptos"/>
                <a:cs typeface="Aptos"/>
              </a:defRPr>
            </a:pPr>
            <a:r>
              <a:rPr sz="975" b="0">
                <a:solidFill>
                  <a:srgbClr val="DCE6F2"/>
                </a:solidFill>
                <a:latin typeface="Aptos"/>
                <a:ea typeface="Aptos"/>
                <a:cs typeface="Aptos"/>
              </a:rPr>
              <a:t>LangGraph or</a:t>
            </a:r>
          </a:p>
          <a:p xmlns:a="http://schemas.openxmlformats.org/drawingml/2006/main">
            <a:pPr algn="l">
              <a:defRPr sz="975" b="0">
                <a:solidFill>
                  <a:srgbClr val="DCE6F2"/>
                </a:solidFill>
                <a:latin typeface="Aptos"/>
                <a:ea typeface="Aptos"/>
                <a:cs typeface="Aptos"/>
              </a:defRPr>
            </a:pPr>
            <a:r>
              <a:rPr sz="975" b="0">
                <a:solidFill>
                  <a:srgbClr val="DCE6F2"/>
                </a:solidFill>
                <a:latin typeface="Aptos"/>
                <a:ea typeface="Aptos"/>
                <a:cs typeface="Aptos"/>
              </a:rPr>
              <a:t>sequential fallback</a:t>
            </a:r>
          </a:p>
        </p:txBody>
      </p:sp>
      <p:sp>
        <p:nvSpPr>
          <p:cNvPr id="25" name="">
            <a:extLst xmlns:a="http://schemas.openxmlformats.org/drawingml/2006/main">
              <a:ext uri="{FF2B5EF4-FFF2-40B4-BE49-F238E27FC236}">
                <a16:creationId xmlns:a16="http://schemas.microsoft.com/office/drawing/2014/main" id="{6FA86349-E817-4FC2-AFEC-B4C5DABBB719}"/>
              </a:ext>
            </a:extLst>
          </p:cNvPr>
          <p:cNvSpPr>
            <a:spLocks xmlns:a="http://schemas.openxmlformats.org/drawingml/2006/main" noGrp="1"/>
          </p:cNvSpPr>
          <p:nvPr/>
        </p:nvSpPr>
        <p:spPr>
          <a:xfrm xmlns:a="http://schemas.openxmlformats.org/drawingml/2006/main">
            <a:off x="9610725" y="2686050"/>
            <a:ext cx="2286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ctr">
              <a:defRPr sz="1650" b="1">
                <a:solidFill>
                  <a:srgbClr val="D71920"/>
                </a:solidFill>
                <a:latin typeface="Aptos"/>
                <a:ea typeface="Aptos"/>
                <a:cs typeface="Aptos"/>
              </a:defRPr>
            </a:pPr>
            <a:r>
              <a:rPr sz="1650" b="1">
                <a:solidFill>
                  <a:srgbClr val="D71920"/>
                </a:solidFill>
                <a:latin typeface="Aptos"/>
                <a:ea typeface="Aptos"/>
                <a:cs typeface="Aptos"/>
              </a:rPr>
              <a:t>&gt;</a:t>
            </a:r>
          </a:p>
        </p:txBody>
      </p:sp>
      <p:sp>
        <p:nvSpPr>
          <p:cNvPr id="26" name="stage-5-box">
            <a:extLst xmlns:a="http://schemas.openxmlformats.org/drawingml/2006/main">
              <a:ext uri="{FF2B5EF4-FFF2-40B4-BE49-F238E27FC236}">
                <a16:creationId xmlns:a16="http://schemas.microsoft.com/office/drawing/2014/main" id="{3CDB8188-C031-4884-9CED-C8B8726586B0}"/>
              </a:ext>
            </a:extLst>
          </p:cNvPr>
          <p:cNvSpPr>
            <a:spLocks xmlns:a="http://schemas.openxmlformats.org/drawingml/2006/main" noGrp="1"/>
          </p:cNvSpPr>
          <p:nvPr/>
        </p:nvSpPr>
        <p:spPr>
          <a:xfrm xmlns:a="http://schemas.openxmlformats.org/drawingml/2006/main">
            <a:off x="9944100" y="2381250"/>
            <a:ext cx="1466850" cy="876300"/>
          </a:xfrm>
          <a:prstGeom xmlns:a="http://schemas.openxmlformats.org/drawingml/2006/main" prst="rect">
            <a:avLst/>
          </a:prstGeom>
          <a:solidFill xmlns:a="http://schemas.openxmlformats.org/drawingml/2006/main">
            <a:srgbClr val="FFFFFF"/>
          </a:solidFill>
          <a:ln xmlns:a="http://schemas.openxmlformats.org/drawingml/2006/main" w="9525">
            <a:solidFill>
              <a:srgbClr val="D8D0C3"/>
            </a:solidFill>
            <a:prstDash val="solid"/>
          </a:ln>
        </p:spPr>
      </p:sp>
      <p:sp>
        <p:nvSpPr>
          <p:cNvPr id="27" name="stage-5-label">
            <a:extLst xmlns:a="http://schemas.openxmlformats.org/drawingml/2006/main">
              <a:ext uri="{FF2B5EF4-FFF2-40B4-BE49-F238E27FC236}">
                <a16:creationId xmlns:a16="http://schemas.microsoft.com/office/drawing/2014/main" id="{F217812A-A972-4B71-A1C0-BDD43D96693A}"/>
              </a:ext>
            </a:extLst>
          </p:cNvPr>
          <p:cNvSpPr>
            <a:spLocks xmlns:a="http://schemas.openxmlformats.org/drawingml/2006/main" noGrp="1"/>
          </p:cNvSpPr>
          <p:nvPr/>
        </p:nvSpPr>
        <p:spPr>
          <a:xfrm xmlns:a="http://schemas.openxmlformats.org/drawingml/2006/main">
            <a:off x="10096500" y="2505075"/>
            <a:ext cx="11620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14213D"/>
                </a:solidFill>
                <a:latin typeface="Aptos"/>
                <a:ea typeface="Aptos"/>
                <a:cs typeface="Aptos"/>
              </a:defRPr>
            </a:pPr>
            <a:r>
              <a:rPr sz="1125" b="1">
                <a:solidFill>
                  <a:srgbClr val="14213D"/>
                </a:solidFill>
                <a:latin typeface="Aptos"/>
                <a:ea typeface="Aptos"/>
                <a:cs typeface="Aptos"/>
              </a:rPr>
              <a:t>Final package</a:t>
            </a:r>
          </a:p>
        </p:txBody>
      </p:sp>
      <p:sp>
        <p:nvSpPr>
          <p:cNvPr id="28" name="stage-5-body">
            <a:extLst xmlns:a="http://schemas.openxmlformats.org/drawingml/2006/main">
              <a:ext uri="{FF2B5EF4-FFF2-40B4-BE49-F238E27FC236}">
                <a16:creationId xmlns:a16="http://schemas.microsoft.com/office/drawing/2014/main" id="{E9B2318D-B175-4CE8-8DC4-9F2DC8C25BA2}"/>
              </a:ext>
            </a:extLst>
          </p:cNvPr>
          <p:cNvSpPr>
            <a:spLocks xmlns:a="http://schemas.openxmlformats.org/drawingml/2006/main" noGrp="1"/>
          </p:cNvSpPr>
          <p:nvPr/>
        </p:nvSpPr>
        <p:spPr>
          <a:xfrm xmlns:a="http://schemas.openxmlformats.org/drawingml/2006/main">
            <a:off x="10096500" y="2781300"/>
            <a:ext cx="1162050"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5C6670"/>
                </a:solidFill>
                <a:latin typeface="Aptos"/>
                <a:ea typeface="Aptos"/>
                <a:cs typeface="Aptos"/>
              </a:defRPr>
            </a:pPr>
            <a:r>
              <a:rPr sz="975" b="0">
                <a:solidFill>
                  <a:srgbClr val="5C6670"/>
                </a:solidFill>
                <a:latin typeface="Aptos"/>
                <a:ea typeface="Aptos"/>
                <a:cs typeface="Aptos"/>
              </a:rPr>
              <a:t>report, scores,</a:t>
            </a:r>
          </a:p>
          <a:p xmlns:a="http://schemas.openxmlformats.org/drawingml/2006/main">
            <a:pPr algn="l">
              <a:defRPr sz="975" b="0">
                <a:solidFill>
                  <a:srgbClr val="5C6670"/>
                </a:solidFill>
                <a:latin typeface="Aptos"/>
                <a:ea typeface="Aptos"/>
                <a:cs typeface="Aptos"/>
              </a:defRPr>
            </a:pPr>
            <a:r>
              <a:rPr sz="975" b="0">
                <a:solidFill>
                  <a:srgbClr val="5C6670"/>
                </a:solidFill>
                <a:latin typeface="Aptos"/>
                <a:ea typeface="Aptos"/>
                <a:cs typeface="Aptos"/>
              </a:rPr>
              <a:t>audit metadata</a:t>
            </a:r>
          </a:p>
        </p:txBody>
      </p:sp>
      <p:sp>
        <p:nvSpPr>
          <p:cNvPr id="29" name="">
            <a:extLst xmlns:a="http://schemas.openxmlformats.org/drawingml/2006/main">
              <a:ext uri="{FF2B5EF4-FFF2-40B4-BE49-F238E27FC236}">
                <a16:creationId xmlns:a16="http://schemas.microsoft.com/office/drawing/2014/main" id="{B7590726-5831-422F-A6E2-DB13C0BB4A3D}"/>
              </a:ext>
            </a:extLst>
          </p:cNvPr>
          <p:cNvSpPr>
            <a:spLocks xmlns:a="http://schemas.openxmlformats.org/drawingml/2006/main" noGrp="1"/>
          </p:cNvSpPr>
          <p:nvPr/>
        </p:nvSpPr>
        <p:spPr>
          <a:xfrm xmlns:a="http://schemas.openxmlformats.org/drawingml/2006/main">
            <a:off x="1162050" y="3638550"/>
            <a:ext cx="9886950" cy="9525"/>
          </a:xfrm>
          <a:prstGeom xmlns:a="http://schemas.openxmlformats.org/drawingml/2006/main" prst="rect">
            <a:avLst/>
          </a:prstGeom>
          <a:solidFill xmlns:a="http://schemas.openxmlformats.org/drawingml/2006/main">
            <a:srgbClr val="D8D0C3"/>
          </a:solidFill>
          <a:ln xmlns:a="http://schemas.openxmlformats.org/drawingml/2006/main" w="0">
            <a:solidFill>
              <a:srgbClr val="D8D0C3"/>
            </a:solidFill>
            <a:prstDash val="solid"/>
          </a:ln>
        </p:spPr>
      </p:sp>
      <p:sp>
        <p:nvSpPr>
          <p:cNvPr id="30" name="svc-0-box">
            <a:extLst xmlns:a="http://schemas.openxmlformats.org/drawingml/2006/main">
              <a:ext uri="{FF2B5EF4-FFF2-40B4-BE49-F238E27FC236}">
                <a16:creationId xmlns:a16="http://schemas.microsoft.com/office/drawing/2014/main" id="{34F19652-55A5-4206-9CAB-DE33FA57874C}"/>
              </a:ext>
            </a:extLst>
          </p:cNvPr>
          <p:cNvSpPr>
            <a:spLocks xmlns:a="http://schemas.openxmlformats.org/drawingml/2006/main" noGrp="1"/>
          </p:cNvSpPr>
          <p:nvPr/>
        </p:nvSpPr>
        <p:spPr>
          <a:xfrm xmlns:a="http://schemas.openxmlformats.org/drawingml/2006/main">
            <a:off x="742950" y="4095750"/>
            <a:ext cx="1809750" cy="819150"/>
          </a:xfrm>
          <a:prstGeom xmlns:a="http://schemas.openxmlformats.org/drawingml/2006/main" prst="rect">
            <a:avLst/>
          </a:prstGeom>
          <a:solidFill xmlns:a="http://schemas.openxmlformats.org/drawingml/2006/main">
            <a:srgbClr val="EFE8DC"/>
          </a:solidFill>
          <a:ln xmlns:a="http://schemas.openxmlformats.org/drawingml/2006/main" w="9525">
            <a:solidFill>
              <a:srgbClr val="D8D0C3"/>
            </a:solidFill>
            <a:prstDash val="solid"/>
          </a:ln>
        </p:spPr>
      </p:sp>
      <p:sp>
        <p:nvSpPr>
          <p:cNvPr id="31" name="svc-0-label">
            <a:extLst xmlns:a="http://schemas.openxmlformats.org/drawingml/2006/main">
              <a:ext uri="{FF2B5EF4-FFF2-40B4-BE49-F238E27FC236}">
                <a16:creationId xmlns:a16="http://schemas.microsoft.com/office/drawing/2014/main" id="{A9976B7B-A7B0-4F73-B0AA-EF8069C638CE}"/>
              </a:ext>
            </a:extLst>
          </p:cNvPr>
          <p:cNvSpPr>
            <a:spLocks xmlns:a="http://schemas.openxmlformats.org/drawingml/2006/main" noGrp="1"/>
          </p:cNvSpPr>
          <p:nvPr/>
        </p:nvSpPr>
        <p:spPr>
          <a:xfrm xmlns:a="http://schemas.openxmlformats.org/drawingml/2006/main">
            <a:off x="895350" y="4219575"/>
            <a:ext cx="1504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14213D"/>
                </a:solidFill>
                <a:latin typeface="Aptos"/>
                <a:ea typeface="Aptos"/>
                <a:cs typeface="Aptos"/>
              </a:defRPr>
            </a:pPr>
            <a:r>
              <a:rPr sz="1125" b="1">
                <a:solidFill>
                  <a:srgbClr val="14213D"/>
                </a:solidFill>
                <a:latin typeface="Aptos"/>
                <a:ea typeface="Aptos"/>
                <a:cs typeface="Aptos"/>
              </a:rPr>
              <a:t>DataService</a:t>
            </a:r>
          </a:p>
        </p:txBody>
      </p:sp>
      <p:sp>
        <p:nvSpPr>
          <p:cNvPr id="32" name="svc-0-body">
            <a:extLst xmlns:a="http://schemas.openxmlformats.org/drawingml/2006/main">
              <a:ext uri="{FF2B5EF4-FFF2-40B4-BE49-F238E27FC236}">
                <a16:creationId xmlns:a16="http://schemas.microsoft.com/office/drawing/2014/main" id="{0E3C9633-DF5E-4332-89E2-66A7C53B87E3}"/>
              </a:ext>
            </a:extLst>
          </p:cNvPr>
          <p:cNvSpPr>
            <a:spLocks xmlns:a="http://schemas.openxmlformats.org/drawingml/2006/main" noGrp="1"/>
          </p:cNvSpPr>
          <p:nvPr/>
        </p:nvSpPr>
        <p:spPr>
          <a:xfrm xmlns:a="http://schemas.openxmlformats.org/drawingml/2006/main">
            <a:off x="895350" y="4495800"/>
            <a:ext cx="1504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synthetic data + real feature artifacts</a:t>
            </a:r>
          </a:p>
        </p:txBody>
      </p:sp>
      <p:sp>
        <p:nvSpPr>
          <p:cNvPr id="33" name="svc-1-box">
            <a:extLst xmlns:a="http://schemas.openxmlformats.org/drawingml/2006/main">
              <a:ext uri="{FF2B5EF4-FFF2-40B4-BE49-F238E27FC236}">
                <a16:creationId xmlns:a16="http://schemas.microsoft.com/office/drawing/2014/main" id="{09631747-5340-4F3D-B8F1-E0E04243EDC1}"/>
              </a:ext>
            </a:extLst>
          </p:cNvPr>
          <p:cNvSpPr>
            <a:spLocks xmlns:a="http://schemas.openxmlformats.org/drawingml/2006/main" noGrp="1"/>
          </p:cNvSpPr>
          <p:nvPr/>
        </p:nvSpPr>
        <p:spPr>
          <a:xfrm xmlns:a="http://schemas.openxmlformats.org/drawingml/2006/main">
            <a:off x="2952750" y="4095750"/>
            <a:ext cx="1809750" cy="819150"/>
          </a:xfrm>
          <a:prstGeom xmlns:a="http://schemas.openxmlformats.org/drawingml/2006/main" prst="rect">
            <a:avLst/>
          </a:prstGeom>
          <a:solidFill xmlns:a="http://schemas.openxmlformats.org/drawingml/2006/main">
            <a:srgbClr val="EFE8DC"/>
          </a:solidFill>
          <a:ln xmlns:a="http://schemas.openxmlformats.org/drawingml/2006/main" w="9525">
            <a:solidFill>
              <a:srgbClr val="D8D0C3"/>
            </a:solidFill>
            <a:prstDash val="solid"/>
          </a:ln>
        </p:spPr>
      </p:sp>
      <p:sp>
        <p:nvSpPr>
          <p:cNvPr id="34" name="svc-1-label">
            <a:extLst xmlns:a="http://schemas.openxmlformats.org/drawingml/2006/main">
              <a:ext uri="{FF2B5EF4-FFF2-40B4-BE49-F238E27FC236}">
                <a16:creationId xmlns:a16="http://schemas.microsoft.com/office/drawing/2014/main" id="{CFCE2444-6B18-4187-880B-C56A29391163}"/>
              </a:ext>
            </a:extLst>
          </p:cNvPr>
          <p:cNvSpPr>
            <a:spLocks xmlns:a="http://schemas.openxmlformats.org/drawingml/2006/main" noGrp="1"/>
          </p:cNvSpPr>
          <p:nvPr/>
        </p:nvSpPr>
        <p:spPr>
          <a:xfrm xmlns:a="http://schemas.openxmlformats.org/drawingml/2006/main">
            <a:off x="3105150" y="4219575"/>
            <a:ext cx="1504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14213D"/>
                </a:solidFill>
                <a:latin typeface="Aptos"/>
                <a:ea typeface="Aptos"/>
                <a:cs typeface="Aptos"/>
              </a:defRPr>
            </a:pPr>
            <a:r>
              <a:rPr sz="1125" b="1">
                <a:solidFill>
                  <a:srgbClr val="14213D"/>
                </a:solidFill>
                <a:latin typeface="Aptos"/>
                <a:ea typeface="Aptos"/>
                <a:cs typeface="Aptos"/>
              </a:rPr>
              <a:t>ModelService</a:t>
            </a:r>
          </a:p>
        </p:txBody>
      </p:sp>
      <p:sp>
        <p:nvSpPr>
          <p:cNvPr id="35" name="svc-1-body">
            <a:extLst xmlns:a="http://schemas.openxmlformats.org/drawingml/2006/main">
              <a:ext uri="{FF2B5EF4-FFF2-40B4-BE49-F238E27FC236}">
                <a16:creationId xmlns:a16="http://schemas.microsoft.com/office/drawing/2014/main" id="{97013AB8-07DC-4EB5-A57A-4B1C3404C3D6}"/>
              </a:ext>
            </a:extLst>
          </p:cNvPr>
          <p:cNvSpPr>
            <a:spLocks xmlns:a="http://schemas.openxmlformats.org/drawingml/2006/main" noGrp="1"/>
          </p:cNvSpPr>
          <p:nvPr/>
        </p:nvSpPr>
        <p:spPr>
          <a:xfrm xmlns:a="http://schemas.openxmlformats.org/drawingml/2006/main">
            <a:off x="3105150" y="4495800"/>
            <a:ext cx="1504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offline anomaly scorer when artifacts exist</a:t>
            </a:r>
          </a:p>
        </p:txBody>
      </p:sp>
      <p:sp>
        <p:nvSpPr>
          <p:cNvPr id="36" name="svc-2-box">
            <a:extLst xmlns:a="http://schemas.openxmlformats.org/drawingml/2006/main">
              <a:ext uri="{FF2B5EF4-FFF2-40B4-BE49-F238E27FC236}">
                <a16:creationId xmlns:a16="http://schemas.microsoft.com/office/drawing/2014/main" id="{805EFB2C-EAC7-4239-9A8D-58A33A98FE00}"/>
              </a:ext>
            </a:extLst>
          </p:cNvPr>
          <p:cNvSpPr>
            <a:spLocks xmlns:a="http://schemas.openxmlformats.org/drawingml/2006/main" noGrp="1"/>
          </p:cNvSpPr>
          <p:nvPr/>
        </p:nvSpPr>
        <p:spPr>
          <a:xfrm xmlns:a="http://schemas.openxmlformats.org/drawingml/2006/main">
            <a:off x="5162550" y="4095750"/>
            <a:ext cx="1809750" cy="819150"/>
          </a:xfrm>
          <a:prstGeom xmlns:a="http://schemas.openxmlformats.org/drawingml/2006/main" prst="rect">
            <a:avLst/>
          </a:prstGeom>
          <a:solidFill xmlns:a="http://schemas.openxmlformats.org/drawingml/2006/main">
            <a:srgbClr val="EFE8DC"/>
          </a:solidFill>
          <a:ln xmlns:a="http://schemas.openxmlformats.org/drawingml/2006/main" w="9525">
            <a:solidFill>
              <a:srgbClr val="D8D0C3"/>
            </a:solidFill>
            <a:prstDash val="solid"/>
          </a:ln>
        </p:spPr>
      </p:sp>
      <p:sp>
        <p:nvSpPr>
          <p:cNvPr id="37" name="svc-2-label">
            <a:extLst xmlns:a="http://schemas.openxmlformats.org/drawingml/2006/main">
              <a:ext uri="{FF2B5EF4-FFF2-40B4-BE49-F238E27FC236}">
                <a16:creationId xmlns:a16="http://schemas.microsoft.com/office/drawing/2014/main" id="{8F581275-7AAA-4D52-898C-67E2D828FC7F}"/>
              </a:ext>
            </a:extLst>
          </p:cNvPr>
          <p:cNvSpPr>
            <a:spLocks xmlns:a="http://schemas.openxmlformats.org/drawingml/2006/main" noGrp="1"/>
          </p:cNvSpPr>
          <p:nvPr/>
        </p:nvSpPr>
        <p:spPr>
          <a:xfrm xmlns:a="http://schemas.openxmlformats.org/drawingml/2006/main">
            <a:off x="5314950" y="4219575"/>
            <a:ext cx="1504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14213D"/>
                </a:solidFill>
                <a:latin typeface="Aptos"/>
                <a:ea typeface="Aptos"/>
                <a:cs typeface="Aptos"/>
              </a:defRPr>
            </a:pPr>
            <a:r>
              <a:rPr sz="1125" b="1">
                <a:solidFill>
                  <a:srgbClr val="14213D"/>
                </a:solidFill>
                <a:latin typeface="Aptos"/>
                <a:ea typeface="Aptos"/>
                <a:cs typeface="Aptos"/>
              </a:rPr>
              <a:t>KnowledgeRetriever</a:t>
            </a:r>
          </a:p>
        </p:txBody>
      </p:sp>
      <p:sp>
        <p:nvSpPr>
          <p:cNvPr id="38" name="svc-2-body">
            <a:extLst xmlns:a="http://schemas.openxmlformats.org/drawingml/2006/main">
              <a:ext uri="{FF2B5EF4-FFF2-40B4-BE49-F238E27FC236}">
                <a16:creationId xmlns:a16="http://schemas.microsoft.com/office/drawing/2014/main" id="{11330412-57FA-410C-9A0C-946879F99C5B}"/>
              </a:ext>
            </a:extLst>
          </p:cNvPr>
          <p:cNvSpPr>
            <a:spLocks xmlns:a="http://schemas.openxmlformats.org/drawingml/2006/main" noGrp="1"/>
          </p:cNvSpPr>
          <p:nvPr/>
        </p:nvSpPr>
        <p:spPr>
          <a:xfrm xmlns:a="http://schemas.openxmlformats.org/drawingml/2006/main">
            <a:off x="5314950" y="4495800"/>
            <a:ext cx="1504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PostgreSQL / pgvector typology chunks</a:t>
            </a:r>
          </a:p>
        </p:txBody>
      </p:sp>
      <p:sp>
        <p:nvSpPr>
          <p:cNvPr id="39" name="svc-3-box">
            <a:extLst xmlns:a="http://schemas.openxmlformats.org/drawingml/2006/main">
              <a:ext uri="{FF2B5EF4-FFF2-40B4-BE49-F238E27FC236}">
                <a16:creationId xmlns:a16="http://schemas.microsoft.com/office/drawing/2014/main" id="{B72FD60B-A71C-488B-B1FF-8005FEE07915}"/>
              </a:ext>
            </a:extLst>
          </p:cNvPr>
          <p:cNvSpPr>
            <a:spLocks xmlns:a="http://schemas.openxmlformats.org/drawingml/2006/main" noGrp="1"/>
          </p:cNvSpPr>
          <p:nvPr/>
        </p:nvSpPr>
        <p:spPr>
          <a:xfrm xmlns:a="http://schemas.openxmlformats.org/drawingml/2006/main">
            <a:off x="7372350" y="4095750"/>
            <a:ext cx="1809750" cy="819150"/>
          </a:xfrm>
          <a:prstGeom xmlns:a="http://schemas.openxmlformats.org/drawingml/2006/main" prst="rect">
            <a:avLst/>
          </a:prstGeom>
          <a:solidFill xmlns:a="http://schemas.openxmlformats.org/drawingml/2006/main">
            <a:srgbClr val="EFE8DC"/>
          </a:solidFill>
          <a:ln xmlns:a="http://schemas.openxmlformats.org/drawingml/2006/main" w="9525">
            <a:solidFill>
              <a:srgbClr val="D8D0C3"/>
            </a:solidFill>
            <a:prstDash val="solid"/>
          </a:ln>
        </p:spPr>
      </p:sp>
      <p:sp>
        <p:nvSpPr>
          <p:cNvPr id="40" name="svc-3-label">
            <a:extLst xmlns:a="http://schemas.openxmlformats.org/drawingml/2006/main">
              <a:ext uri="{FF2B5EF4-FFF2-40B4-BE49-F238E27FC236}">
                <a16:creationId xmlns:a16="http://schemas.microsoft.com/office/drawing/2014/main" id="{B82D1F25-4D1B-473D-BB1D-4750A71A1D43}"/>
              </a:ext>
            </a:extLst>
          </p:cNvPr>
          <p:cNvSpPr>
            <a:spLocks xmlns:a="http://schemas.openxmlformats.org/drawingml/2006/main" noGrp="1"/>
          </p:cNvSpPr>
          <p:nvPr/>
        </p:nvSpPr>
        <p:spPr>
          <a:xfrm xmlns:a="http://schemas.openxmlformats.org/drawingml/2006/main">
            <a:off x="7524750" y="4219575"/>
            <a:ext cx="1504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14213D"/>
                </a:solidFill>
                <a:latin typeface="Aptos"/>
                <a:ea typeface="Aptos"/>
                <a:cs typeface="Aptos"/>
              </a:defRPr>
            </a:pPr>
            <a:r>
              <a:rPr sz="1125" b="1">
                <a:solidFill>
                  <a:srgbClr val="14213D"/>
                </a:solidFill>
                <a:latin typeface="Aptos"/>
                <a:ea typeface="Aptos"/>
                <a:cs typeface="Aptos"/>
              </a:rPr>
              <a:t>LLMClient</a:t>
            </a:r>
          </a:p>
        </p:txBody>
      </p:sp>
      <p:sp>
        <p:nvSpPr>
          <p:cNvPr id="41" name="svc-3-body">
            <a:extLst xmlns:a="http://schemas.openxmlformats.org/drawingml/2006/main">
              <a:ext uri="{FF2B5EF4-FFF2-40B4-BE49-F238E27FC236}">
                <a16:creationId xmlns:a16="http://schemas.microsoft.com/office/drawing/2014/main" id="{C214AD3F-8D5C-41A5-A99C-5D962B396B0C}"/>
              </a:ext>
            </a:extLst>
          </p:cNvPr>
          <p:cNvSpPr>
            <a:spLocks xmlns:a="http://schemas.openxmlformats.org/drawingml/2006/main" noGrp="1"/>
          </p:cNvSpPr>
          <p:nvPr/>
        </p:nvSpPr>
        <p:spPr>
          <a:xfrm xmlns:a="http://schemas.openxmlformats.org/drawingml/2006/main">
            <a:off x="7524750" y="4495800"/>
            <a:ext cx="1504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deterministic mock or OpenAI-compatible endpoint</a:t>
            </a:r>
          </a:p>
        </p:txBody>
      </p:sp>
      <p:sp>
        <p:nvSpPr>
          <p:cNvPr id="42" name="svc-4-box">
            <a:extLst xmlns:a="http://schemas.openxmlformats.org/drawingml/2006/main">
              <a:ext uri="{FF2B5EF4-FFF2-40B4-BE49-F238E27FC236}">
                <a16:creationId xmlns:a16="http://schemas.microsoft.com/office/drawing/2014/main" id="{4AE9A1B7-A4FE-4CDC-8AAA-F83E90CCD9E9}"/>
              </a:ext>
            </a:extLst>
          </p:cNvPr>
          <p:cNvSpPr>
            <a:spLocks xmlns:a="http://schemas.openxmlformats.org/drawingml/2006/main" noGrp="1"/>
          </p:cNvSpPr>
          <p:nvPr/>
        </p:nvSpPr>
        <p:spPr>
          <a:xfrm xmlns:a="http://schemas.openxmlformats.org/drawingml/2006/main">
            <a:off x="9582150" y="4095750"/>
            <a:ext cx="1809750" cy="819150"/>
          </a:xfrm>
          <a:prstGeom xmlns:a="http://schemas.openxmlformats.org/drawingml/2006/main" prst="rect">
            <a:avLst/>
          </a:prstGeom>
          <a:solidFill xmlns:a="http://schemas.openxmlformats.org/drawingml/2006/main">
            <a:srgbClr val="EFE8DC"/>
          </a:solidFill>
          <a:ln xmlns:a="http://schemas.openxmlformats.org/drawingml/2006/main" w="9525">
            <a:solidFill>
              <a:srgbClr val="D8D0C3"/>
            </a:solidFill>
            <a:prstDash val="solid"/>
          </a:ln>
        </p:spPr>
      </p:sp>
      <p:sp>
        <p:nvSpPr>
          <p:cNvPr id="43" name="svc-4-label">
            <a:extLst xmlns:a="http://schemas.openxmlformats.org/drawingml/2006/main">
              <a:ext uri="{FF2B5EF4-FFF2-40B4-BE49-F238E27FC236}">
                <a16:creationId xmlns:a16="http://schemas.microsoft.com/office/drawing/2014/main" id="{5C9D27B1-CB52-43D8-B91C-FF4CDBA01968}"/>
              </a:ext>
            </a:extLst>
          </p:cNvPr>
          <p:cNvSpPr>
            <a:spLocks xmlns:a="http://schemas.openxmlformats.org/drawingml/2006/main" noGrp="1"/>
          </p:cNvSpPr>
          <p:nvPr/>
        </p:nvSpPr>
        <p:spPr>
          <a:xfrm xmlns:a="http://schemas.openxmlformats.org/drawingml/2006/main">
            <a:off x="9734550" y="4219575"/>
            <a:ext cx="15049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14213D"/>
                </a:solidFill>
                <a:latin typeface="Aptos"/>
                <a:ea typeface="Aptos"/>
                <a:cs typeface="Aptos"/>
              </a:defRPr>
            </a:pPr>
            <a:r>
              <a:rPr sz="1125" b="1">
                <a:solidFill>
                  <a:srgbClr val="14213D"/>
                </a:solidFill>
                <a:latin typeface="Aptos"/>
                <a:ea typeface="Aptos"/>
                <a:cs typeface="Aptos"/>
              </a:rPr>
              <a:t>RunStore</a:t>
            </a:r>
          </a:p>
        </p:txBody>
      </p:sp>
      <p:sp>
        <p:nvSpPr>
          <p:cNvPr id="44" name="svc-4-body">
            <a:extLst xmlns:a="http://schemas.openxmlformats.org/drawingml/2006/main">
              <a:ext uri="{FF2B5EF4-FFF2-40B4-BE49-F238E27FC236}">
                <a16:creationId xmlns:a16="http://schemas.microsoft.com/office/drawing/2014/main" id="{18A95869-2578-41CD-8AA7-1C933AE93B25}"/>
              </a:ext>
            </a:extLst>
          </p:cNvPr>
          <p:cNvSpPr>
            <a:spLocks xmlns:a="http://schemas.openxmlformats.org/drawingml/2006/main" noGrp="1"/>
          </p:cNvSpPr>
          <p:nvPr/>
        </p:nvSpPr>
        <p:spPr>
          <a:xfrm xmlns:a="http://schemas.openxmlformats.org/drawingml/2006/main">
            <a:off x="9734550" y="4495800"/>
            <a:ext cx="1504950" cy="304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thread-safe in-memory report history</a:t>
            </a:r>
          </a:p>
        </p:txBody>
      </p:sp>
      <p:sp>
        <p:nvSpPr>
          <p:cNvPr id="45" name="">
            <a:extLst xmlns:a="http://schemas.openxmlformats.org/drawingml/2006/main">
              <a:ext uri="{FF2B5EF4-FFF2-40B4-BE49-F238E27FC236}">
                <a16:creationId xmlns:a16="http://schemas.microsoft.com/office/drawing/2014/main" id="{216B9FF8-556A-400C-9E4B-BC0C6E619D1B}"/>
              </a:ext>
            </a:extLst>
          </p:cNvPr>
          <p:cNvSpPr>
            <a:spLocks xmlns:a="http://schemas.openxmlformats.org/drawingml/2006/main" noGrp="1"/>
          </p:cNvSpPr>
          <p:nvPr/>
        </p:nvSpPr>
        <p:spPr>
          <a:xfrm xmlns:a="http://schemas.openxmlformats.org/drawingml/2006/main">
            <a:off x="914400" y="5295900"/>
            <a:ext cx="9715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ctr">
              <a:defRPr sz="1200" b="0">
                <a:solidFill>
                  <a:srgbClr val="374151"/>
                </a:solidFill>
                <a:latin typeface="Aptos"/>
                <a:ea typeface="Aptos"/>
                <a:cs typeface="Aptos"/>
              </a:defRPr>
            </a:pPr>
            <a:r>
              <a:rPr sz="1200" b="0">
                <a:solidFill>
                  <a:srgbClr val="374151"/>
                </a:solidFill>
                <a:latin typeface="Aptos"/>
                <a:ea typeface="Aptos"/>
                <a:cs typeface="Aptos"/>
              </a:rPr>
              <a:t>Selected agent subgraph calls services as needed, then evidence assembly, judges, and output guardrails review the report.</a:t>
            </a:r>
          </a:p>
        </p:txBody>
      </p:sp>
      <p:sp>
        <p:nvSpPr>
          <p:cNvPr id="46" name="footer-source">
            <a:extLst xmlns:a="http://schemas.openxmlformats.org/drawingml/2006/main">
              <a:ext uri="{FF2B5EF4-FFF2-40B4-BE49-F238E27FC236}">
                <a16:creationId xmlns:a16="http://schemas.microsoft.com/office/drawing/2014/main" id="{A4AE9A19-5EAF-402B-BABB-BD4212C20E6A}"/>
              </a:ext>
            </a:extLst>
          </p:cNvPr>
          <p:cNvSpPr>
            <a:spLocks xmlns:a="http://schemas.openxmlformats.org/drawingml/2006/main" noGrp="1"/>
          </p:cNvSpPr>
          <p:nvPr/>
        </p:nvSpPr>
        <p:spPr>
          <a:xfrm xmlns:a="http://schemas.openxmlformats.org/drawingml/2006/main">
            <a:off x="514350" y="6496050"/>
            <a:ext cx="6858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C6670"/>
                </a:solidFill>
                <a:latin typeface="Aptos"/>
                <a:ea typeface="Aptos"/>
                <a:cs typeface="Aptos"/>
              </a:defRPr>
            </a:pPr>
            <a:r>
              <a:rPr sz="750" b="0">
                <a:solidFill>
                  <a:srgbClr val="5C6670"/>
                </a:solidFill>
                <a:latin typeface="Aptos"/>
                <a:ea typeface="Aptos"/>
                <a:cs typeface="Aptos"/>
              </a:rPr>
              <a:t>Source: docs/ARCHITECTURE.md</a:t>
            </a:r>
          </a:p>
        </p:txBody>
      </p:sp>
      <p:sp>
        <p:nvSpPr>
          <p:cNvPr id="47" name="footer-page">
            <a:extLst xmlns:a="http://schemas.openxmlformats.org/drawingml/2006/main">
              <a:ext uri="{FF2B5EF4-FFF2-40B4-BE49-F238E27FC236}">
                <a16:creationId xmlns:a16="http://schemas.microsoft.com/office/drawing/2014/main" id="{FFD8587E-62BF-4936-B590-89D2B33FCC7F}"/>
              </a:ext>
            </a:extLst>
          </p:cNvPr>
          <p:cNvSpPr>
            <a:spLocks xmlns:a="http://schemas.openxmlformats.org/drawingml/2006/main" noGrp="1"/>
          </p:cNvSpPr>
          <p:nvPr/>
        </p:nvSpPr>
        <p:spPr>
          <a:xfrm xmlns:a="http://schemas.openxmlformats.org/drawingml/2006/main">
            <a:off x="11239500" y="6438900"/>
            <a:ext cx="438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5C6670"/>
                </a:solidFill>
                <a:latin typeface="Aptos Mono"/>
                <a:ea typeface="Aptos Mono"/>
                <a:cs typeface="Aptos Mono"/>
              </a:defRPr>
            </a:pPr>
            <a:r>
              <a:rPr sz="825" b="0">
                <a:solidFill>
                  <a:srgbClr val="5C6670"/>
                </a:solidFill>
                <a:latin typeface="Aptos Mono"/>
                <a:ea typeface="Aptos Mono"/>
                <a:cs typeface="Aptos Mono"/>
              </a:rPr>
              <a:t>04</a:t>
            </a:r>
          </a:p>
        </p:txBody>
      </p:sp>
    </p:spTree>
    <p:extLst>
      <p:ext uri="{BB962C8B-B14F-4D97-AF65-F5344CB8AC3E}">
        <p14:creationId xmlns:p14="http://schemas.microsoft.com/office/powerpoint/2010/main" val="95987825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FB4B8C6-096F-4F7D-AE96-74527C7F1E40}"/>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14213D"/>
          </a:solidFill>
          <a:ln xmlns:a="http://schemas.openxmlformats.org/drawingml/2006/main" w="0">
            <a:solidFill>
              <a:srgbClr val="14213D"/>
            </a:solidFill>
            <a:prstDash val="solid"/>
          </a:ln>
        </p:spPr>
      </p:sp>
      <p:sp>
        <p:nvSpPr>
          <p:cNvPr id="2" name="kicker-marker">
            <a:extLst xmlns:a="http://schemas.openxmlformats.org/drawingml/2006/main">
              <a:ext uri="{FF2B5EF4-FFF2-40B4-BE49-F238E27FC236}">
                <a16:creationId xmlns:a16="http://schemas.microsoft.com/office/drawing/2014/main" id="{A9C3E757-C9DB-412E-81C0-82834F359D3C}"/>
              </a:ext>
            </a:extLst>
          </p:cNvPr>
          <p:cNvSpPr>
            <a:spLocks xmlns:a="http://schemas.openxmlformats.org/drawingml/2006/main" noGrp="1"/>
          </p:cNvSpPr>
          <p:nvPr/>
        </p:nvSpPr>
        <p:spPr>
          <a:xfrm xmlns:a="http://schemas.openxmlformats.org/drawingml/2006/main">
            <a:off x="571500" y="495300"/>
            <a:ext cx="171450" cy="38100"/>
          </a:xfrm>
          <a:prstGeom xmlns:a="http://schemas.openxmlformats.org/drawingml/2006/main" prst="rect">
            <a:avLst/>
          </a:prstGeom>
          <a:solidFill xmlns:a="http://schemas.openxmlformats.org/drawingml/2006/main">
            <a:srgbClr val="F5B642"/>
          </a:solidFill>
          <a:ln xmlns:a="http://schemas.openxmlformats.org/drawingml/2006/main" w="0">
            <a:solidFill>
              <a:srgbClr val="F5B642"/>
            </a:solidFill>
            <a:prstDash val="solid"/>
          </a:ln>
        </p:spPr>
      </p:sp>
      <p:sp>
        <p:nvSpPr>
          <p:cNvPr id="3" name="kicker-label">
            <a:extLst xmlns:a="http://schemas.openxmlformats.org/drawingml/2006/main">
              <a:ext uri="{FF2B5EF4-FFF2-40B4-BE49-F238E27FC236}">
                <a16:creationId xmlns:a16="http://schemas.microsoft.com/office/drawing/2014/main" id="{2ABCB2E3-0A25-4B91-BEBE-66500103A9F9}"/>
              </a:ext>
            </a:extLst>
          </p:cNvPr>
          <p:cNvSpPr>
            <a:spLocks xmlns:a="http://schemas.openxmlformats.org/drawingml/2006/main" noGrp="1"/>
          </p:cNvSpPr>
          <p:nvPr/>
        </p:nvSpPr>
        <p:spPr>
          <a:xfrm xmlns:a="http://schemas.openxmlformats.org/drawingml/2006/main">
            <a:off x="838200" y="419100"/>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F5B642"/>
                </a:solidFill>
                <a:latin typeface="Aptos"/>
                <a:ea typeface="Aptos"/>
                <a:cs typeface="Aptos"/>
              </a:defRPr>
            </a:pPr>
            <a:r>
              <a:rPr sz="900" b="1">
                <a:solidFill>
                  <a:srgbClr val="F5B642"/>
                </a:solidFill>
                <a:latin typeface="Aptos"/>
                <a:ea typeface="Aptos"/>
                <a:cs typeface="Aptos"/>
              </a:rPr>
              <a:t>GOVERNANCE BY DESIGN</a:t>
            </a:r>
          </a:p>
        </p:txBody>
      </p:sp>
      <p:sp>
        <p:nvSpPr>
          <p:cNvPr id="4" name="claim-title">
            <a:extLst xmlns:a="http://schemas.openxmlformats.org/drawingml/2006/main">
              <a:ext uri="{FF2B5EF4-FFF2-40B4-BE49-F238E27FC236}">
                <a16:creationId xmlns:a16="http://schemas.microsoft.com/office/drawing/2014/main" id="{71E7A668-AD32-4E74-AD3E-59CFA426D45A}"/>
              </a:ext>
            </a:extLst>
          </p:cNvPr>
          <p:cNvSpPr>
            <a:spLocks xmlns:a="http://schemas.openxmlformats.org/drawingml/2006/main" noGrp="1"/>
          </p:cNvSpPr>
          <p:nvPr/>
        </p:nvSpPr>
        <p:spPr>
          <a:xfrm xmlns:a="http://schemas.openxmlformats.org/drawingml/2006/main">
            <a:off x="552450" y="742950"/>
            <a:ext cx="8572500" cy="8382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FFFFFF"/>
                </a:solidFill>
                <a:latin typeface="Aptos Display"/>
                <a:ea typeface="Aptos Display"/>
                <a:cs typeface="Aptos Display"/>
              </a:defRPr>
            </a:pPr>
            <a:r>
              <a:rPr sz="2550" b="1">
                <a:solidFill>
                  <a:srgbClr val="FFFFFF"/>
                </a:solidFill>
                <a:latin typeface="Aptos Display"/>
                <a:ea typeface="Aptos Display"/>
                <a:cs typeface="Aptos Display"/>
              </a:rPr>
              <a:t>Controls are inside the request path, not added after the report is generated.</a:t>
            </a:r>
          </a:p>
        </p:txBody>
      </p:sp>
      <p:sp>
        <p:nvSpPr>
          <p:cNvPr id="5" name="">
            <a:extLst xmlns:a="http://schemas.openxmlformats.org/drawingml/2006/main">
              <a:ext uri="{FF2B5EF4-FFF2-40B4-BE49-F238E27FC236}">
                <a16:creationId xmlns:a16="http://schemas.microsoft.com/office/drawing/2014/main" id="{907419F2-B193-4791-9955-0250841315EC}"/>
              </a:ext>
            </a:extLst>
          </p:cNvPr>
          <p:cNvSpPr>
            <a:spLocks xmlns:a="http://schemas.openxmlformats.org/drawingml/2006/main" noGrp="1"/>
          </p:cNvSpPr>
          <p:nvPr/>
        </p:nvSpPr>
        <p:spPr>
          <a:xfrm xmlns:a="http://schemas.openxmlformats.org/drawingml/2006/main">
            <a:off x="571500" y="1562100"/>
            <a:ext cx="885825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76200" bIns="0" anchor="t"/>
          <a:lstStyle xmlns:a="http://schemas.openxmlformats.org/drawingml/2006/main"/>
          <a:p xmlns:a="http://schemas.openxmlformats.org/drawingml/2006/main">
            <a:pPr algn="l">
              <a:defRPr sz="1275" b="0">
                <a:solidFill>
                  <a:srgbClr val="DCE6F2"/>
                </a:solidFill>
                <a:latin typeface="Aptos"/>
                <a:ea typeface="Aptos"/>
                <a:cs typeface="Aptos"/>
              </a:defRPr>
            </a:pPr>
            <a:r>
              <a:rPr sz="1275" b="0">
                <a:solidFill>
                  <a:srgbClr val="DCE6F2"/>
                </a:solidFill>
                <a:latin typeface="Aptos"/>
                <a:ea typeface="Aptos"/>
                <a:cs typeface="Aptos"/>
              </a:rPr>
              <a:t>The system is designed to fail loud: unsupported typology claims, unsafe model wording, missing citations, and policy failures are surfaced instead of hidden.</a:t>
            </a:r>
          </a:p>
        </p:txBody>
      </p:sp>
      <p:sp>
        <p:nvSpPr>
          <p:cNvPr id="6" name="">
            <a:extLst xmlns:a="http://schemas.openxmlformats.org/drawingml/2006/main">
              <a:ext uri="{FF2B5EF4-FFF2-40B4-BE49-F238E27FC236}">
                <a16:creationId xmlns:a16="http://schemas.microsoft.com/office/drawing/2014/main" id="{5B378708-848A-40C5-9640-9E7B664B1C2D}"/>
              </a:ext>
            </a:extLst>
          </p:cNvPr>
          <p:cNvSpPr>
            <a:spLocks xmlns:a="http://schemas.openxmlformats.org/drawingml/2006/main" noGrp="1"/>
          </p:cNvSpPr>
          <p:nvPr/>
        </p:nvSpPr>
        <p:spPr>
          <a:xfrm xmlns:a="http://schemas.openxmlformats.org/drawingml/2006/main">
            <a:off x="723900" y="2333625"/>
            <a:ext cx="7448550" cy="457200"/>
          </a:xfrm>
          <a:prstGeom xmlns:a="http://schemas.openxmlformats.org/drawingml/2006/main" prst="rect">
            <a:avLst/>
          </a:prstGeom>
          <a:solidFill xmlns:a="http://schemas.openxmlformats.org/drawingml/2006/main">
            <a:srgbClr val="203351"/>
          </a:solidFill>
          <a:ln xmlns:a="http://schemas.openxmlformats.org/drawingml/2006/main" w="9525">
            <a:solidFill>
              <a:srgbClr val="4A5C78"/>
            </a:solidFill>
            <a:prstDash val="solid"/>
          </a:ln>
        </p:spPr>
      </p:sp>
      <p:sp>
        <p:nvSpPr>
          <p:cNvPr id="7" name="">
            <a:extLst xmlns:a="http://schemas.openxmlformats.org/drawingml/2006/main">
              <a:ext uri="{FF2B5EF4-FFF2-40B4-BE49-F238E27FC236}">
                <a16:creationId xmlns:a16="http://schemas.microsoft.com/office/drawing/2014/main" id="{BD2D8F77-E130-41EE-888F-16C7A64E97B9}"/>
              </a:ext>
            </a:extLst>
          </p:cNvPr>
          <p:cNvSpPr>
            <a:spLocks xmlns:a="http://schemas.openxmlformats.org/drawingml/2006/main" noGrp="1"/>
          </p:cNvSpPr>
          <p:nvPr/>
        </p:nvSpPr>
        <p:spPr>
          <a:xfrm xmlns:a="http://schemas.openxmlformats.org/drawingml/2006/main">
            <a:off x="914400" y="2409825"/>
            <a:ext cx="1809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1. Input policy</a:t>
            </a:r>
          </a:p>
        </p:txBody>
      </p:sp>
      <p:sp>
        <p:nvSpPr>
          <p:cNvPr id="8" name="">
            <a:extLst xmlns:a="http://schemas.openxmlformats.org/drawingml/2006/main">
              <a:ext uri="{FF2B5EF4-FFF2-40B4-BE49-F238E27FC236}">
                <a16:creationId xmlns:a16="http://schemas.microsoft.com/office/drawing/2014/main" id="{6EE85ED5-4201-4F4F-A254-C4869924153B}"/>
              </a:ext>
            </a:extLst>
          </p:cNvPr>
          <p:cNvSpPr>
            <a:spLocks xmlns:a="http://schemas.openxmlformats.org/drawingml/2006/main" noGrp="1"/>
          </p:cNvSpPr>
          <p:nvPr/>
        </p:nvSpPr>
        <p:spPr>
          <a:xfrm xmlns:a="http://schemas.openxmlformats.org/drawingml/2006/main">
            <a:off x="2781300" y="2409825"/>
            <a:ext cx="49530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DCE6F2"/>
                </a:solidFill>
                <a:latin typeface="Aptos"/>
                <a:ea typeface="Aptos"/>
                <a:cs typeface="Aptos"/>
              </a:defRPr>
            </a:pPr>
            <a:r>
              <a:rPr sz="900" b="0">
                <a:solidFill>
                  <a:srgbClr val="DCE6F2"/>
                </a:solidFill>
                <a:latin typeface="Aptos"/>
                <a:ea typeface="Aptos"/>
                <a:cs typeface="Aptos"/>
              </a:rPr>
              <a:t>Blocks prompt extraction, unsafe laundering instructions, and placeholder unauthorized access cases.</a:t>
            </a:r>
          </a:p>
        </p:txBody>
      </p:sp>
      <p:sp>
        <p:nvSpPr>
          <p:cNvPr id="9" name="">
            <a:extLst xmlns:a="http://schemas.openxmlformats.org/drawingml/2006/main">
              <a:ext uri="{FF2B5EF4-FFF2-40B4-BE49-F238E27FC236}">
                <a16:creationId xmlns:a16="http://schemas.microsoft.com/office/drawing/2014/main" id="{7660A7BA-4A10-46BD-92D4-7B380474573F}"/>
              </a:ext>
            </a:extLst>
          </p:cNvPr>
          <p:cNvSpPr>
            <a:spLocks xmlns:a="http://schemas.openxmlformats.org/drawingml/2006/main" noGrp="1"/>
          </p:cNvSpPr>
          <p:nvPr/>
        </p:nvSpPr>
        <p:spPr>
          <a:xfrm xmlns:a="http://schemas.openxmlformats.org/drawingml/2006/main">
            <a:off x="952500" y="2962275"/>
            <a:ext cx="7219950" cy="457200"/>
          </a:xfrm>
          <a:prstGeom xmlns:a="http://schemas.openxmlformats.org/drawingml/2006/main" prst="rect">
            <a:avLst/>
          </a:prstGeom>
          <a:solidFill xmlns:a="http://schemas.openxmlformats.org/drawingml/2006/main">
            <a:srgbClr val="203351"/>
          </a:solidFill>
          <a:ln xmlns:a="http://schemas.openxmlformats.org/drawingml/2006/main" w="9525">
            <a:solidFill>
              <a:srgbClr val="4A5C78"/>
            </a:solidFill>
            <a:prstDash val="solid"/>
          </a:ln>
        </p:spPr>
      </p:sp>
      <p:sp>
        <p:nvSpPr>
          <p:cNvPr id="10" name="">
            <a:extLst xmlns:a="http://schemas.openxmlformats.org/drawingml/2006/main">
              <a:ext uri="{FF2B5EF4-FFF2-40B4-BE49-F238E27FC236}">
                <a16:creationId xmlns:a16="http://schemas.microsoft.com/office/drawing/2014/main" id="{50A22874-13ED-4887-96B1-FB340F9179A5}"/>
              </a:ext>
            </a:extLst>
          </p:cNvPr>
          <p:cNvSpPr>
            <a:spLocks xmlns:a="http://schemas.openxmlformats.org/drawingml/2006/main" noGrp="1"/>
          </p:cNvSpPr>
          <p:nvPr/>
        </p:nvSpPr>
        <p:spPr>
          <a:xfrm xmlns:a="http://schemas.openxmlformats.org/drawingml/2006/main">
            <a:off x="1143000" y="3038475"/>
            <a:ext cx="1809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2. Tool policy</a:t>
            </a:r>
          </a:p>
        </p:txBody>
      </p:sp>
      <p:sp>
        <p:nvSpPr>
          <p:cNvPr id="11" name="">
            <a:extLst xmlns:a="http://schemas.openxmlformats.org/drawingml/2006/main">
              <a:ext uri="{FF2B5EF4-FFF2-40B4-BE49-F238E27FC236}">
                <a16:creationId xmlns:a16="http://schemas.microsoft.com/office/drawing/2014/main" id="{07EB4099-07FC-4820-A187-B9FA265B99D7}"/>
              </a:ext>
            </a:extLst>
          </p:cNvPr>
          <p:cNvSpPr>
            <a:spLocks xmlns:a="http://schemas.openxmlformats.org/drawingml/2006/main" noGrp="1"/>
          </p:cNvSpPr>
          <p:nvPr/>
        </p:nvSpPr>
        <p:spPr>
          <a:xfrm xmlns:a="http://schemas.openxmlformats.org/drawingml/2006/main">
            <a:off x="3009900" y="3038475"/>
            <a:ext cx="47244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DCE6F2"/>
                </a:solidFill>
                <a:latin typeface="Aptos"/>
                <a:ea typeface="Aptos"/>
                <a:cs typeface="Aptos"/>
              </a:defRPr>
            </a:pPr>
            <a:r>
              <a:rPr sz="900" b="0">
                <a:solidFill>
                  <a:srgbClr val="DCE6F2"/>
                </a:solidFill>
                <a:latin typeface="Aptos"/>
                <a:ea typeface="Aptos"/>
                <a:cs typeface="Aptos"/>
              </a:rPr>
              <a:t>Internal tools are typed, allowlisted, role-scoped, audited, and timeout-controlled.</a:t>
            </a:r>
          </a:p>
        </p:txBody>
      </p:sp>
      <p:sp>
        <p:nvSpPr>
          <p:cNvPr id="12" name="">
            <a:extLst xmlns:a="http://schemas.openxmlformats.org/drawingml/2006/main">
              <a:ext uri="{FF2B5EF4-FFF2-40B4-BE49-F238E27FC236}">
                <a16:creationId xmlns:a16="http://schemas.microsoft.com/office/drawing/2014/main" id="{3BED8994-1797-49CA-B4D6-EB382404E86C}"/>
              </a:ext>
            </a:extLst>
          </p:cNvPr>
          <p:cNvSpPr>
            <a:spLocks xmlns:a="http://schemas.openxmlformats.org/drawingml/2006/main" noGrp="1"/>
          </p:cNvSpPr>
          <p:nvPr/>
        </p:nvSpPr>
        <p:spPr>
          <a:xfrm xmlns:a="http://schemas.openxmlformats.org/drawingml/2006/main">
            <a:off x="1181100" y="3590925"/>
            <a:ext cx="6991350" cy="457200"/>
          </a:xfrm>
          <a:prstGeom xmlns:a="http://schemas.openxmlformats.org/drawingml/2006/main" prst="rect">
            <a:avLst/>
          </a:prstGeom>
          <a:solidFill xmlns:a="http://schemas.openxmlformats.org/drawingml/2006/main">
            <a:srgbClr val="203351"/>
          </a:solidFill>
          <a:ln xmlns:a="http://schemas.openxmlformats.org/drawingml/2006/main" w="9525">
            <a:solidFill>
              <a:srgbClr val="4A5C78"/>
            </a:solidFill>
            <a:prstDash val="solid"/>
          </a:ln>
        </p:spPr>
      </p:sp>
      <p:sp>
        <p:nvSpPr>
          <p:cNvPr id="13" name="">
            <a:extLst xmlns:a="http://schemas.openxmlformats.org/drawingml/2006/main">
              <a:ext uri="{FF2B5EF4-FFF2-40B4-BE49-F238E27FC236}">
                <a16:creationId xmlns:a16="http://schemas.microsoft.com/office/drawing/2014/main" id="{EB6B4400-B38F-458E-83F8-516D3E1E3BAB}"/>
              </a:ext>
            </a:extLst>
          </p:cNvPr>
          <p:cNvSpPr>
            <a:spLocks xmlns:a="http://schemas.openxmlformats.org/drawingml/2006/main" noGrp="1"/>
          </p:cNvSpPr>
          <p:nvPr/>
        </p:nvSpPr>
        <p:spPr>
          <a:xfrm xmlns:a="http://schemas.openxmlformats.org/drawingml/2006/main">
            <a:off x="1371600" y="3667125"/>
            <a:ext cx="1809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3. Typed outputs</a:t>
            </a:r>
          </a:p>
        </p:txBody>
      </p:sp>
      <p:sp>
        <p:nvSpPr>
          <p:cNvPr id="14" name="">
            <a:extLst xmlns:a="http://schemas.openxmlformats.org/drawingml/2006/main">
              <a:ext uri="{FF2B5EF4-FFF2-40B4-BE49-F238E27FC236}">
                <a16:creationId xmlns:a16="http://schemas.microsoft.com/office/drawing/2014/main" id="{F25533ED-A194-4FB4-80F4-49B71F8E3452}"/>
              </a:ext>
            </a:extLst>
          </p:cNvPr>
          <p:cNvSpPr>
            <a:spLocks xmlns:a="http://schemas.openxmlformats.org/drawingml/2006/main" noGrp="1"/>
          </p:cNvSpPr>
          <p:nvPr/>
        </p:nvSpPr>
        <p:spPr>
          <a:xfrm xmlns:a="http://schemas.openxmlformats.org/drawingml/2006/main">
            <a:off x="3238500" y="3667125"/>
            <a:ext cx="44958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DCE6F2"/>
                </a:solidFill>
                <a:latin typeface="Aptos"/>
                <a:ea typeface="Aptos"/>
                <a:cs typeface="Aptos"/>
              </a:defRPr>
            </a:pPr>
            <a:r>
              <a:rPr sz="900" b="0">
                <a:solidFill>
                  <a:srgbClr val="DCE6F2"/>
                </a:solidFill>
                <a:latin typeface="Aptos"/>
                <a:ea typeface="Aptos"/>
                <a:cs typeface="Aptos"/>
              </a:rPr>
              <a:t>LLM-backed agents produce Pydantic-validated structured outputs, not loose prose only.</a:t>
            </a:r>
          </a:p>
        </p:txBody>
      </p:sp>
      <p:sp>
        <p:nvSpPr>
          <p:cNvPr id="15" name="">
            <a:extLst xmlns:a="http://schemas.openxmlformats.org/drawingml/2006/main">
              <a:ext uri="{FF2B5EF4-FFF2-40B4-BE49-F238E27FC236}">
                <a16:creationId xmlns:a16="http://schemas.microsoft.com/office/drawing/2014/main" id="{98120130-93A2-405B-BE14-16F5920B3F2A}"/>
              </a:ext>
            </a:extLst>
          </p:cNvPr>
          <p:cNvSpPr>
            <a:spLocks xmlns:a="http://schemas.openxmlformats.org/drawingml/2006/main" noGrp="1"/>
          </p:cNvSpPr>
          <p:nvPr/>
        </p:nvSpPr>
        <p:spPr>
          <a:xfrm xmlns:a="http://schemas.openxmlformats.org/drawingml/2006/main">
            <a:off x="1409700" y="4219575"/>
            <a:ext cx="6762750" cy="457200"/>
          </a:xfrm>
          <a:prstGeom xmlns:a="http://schemas.openxmlformats.org/drawingml/2006/main" prst="rect">
            <a:avLst/>
          </a:prstGeom>
          <a:solidFill xmlns:a="http://schemas.openxmlformats.org/drawingml/2006/main">
            <a:srgbClr val="F5B642"/>
          </a:solidFill>
          <a:ln xmlns:a="http://schemas.openxmlformats.org/drawingml/2006/main" w="9525">
            <a:solidFill>
              <a:srgbClr val="F5B642"/>
            </a:solidFill>
            <a:prstDash val="solid"/>
          </a:ln>
        </p:spPr>
      </p:sp>
      <p:sp>
        <p:nvSpPr>
          <p:cNvPr id="16" name="">
            <a:extLst xmlns:a="http://schemas.openxmlformats.org/drawingml/2006/main">
              <a:ext uri="{FF2B5EF4-FFF2-40B4-BE49-F238E27FC236}">
                <a16:creationId xmlns:a16="http://schemas.microsoft.com/office/drawing/2014/main" id="{08788AC7-77CD-45D8-AA7F-7DCFA8EF7C5E}"/>
              </a:ext>
            </a:extLst>
          </p:cNvPr>
          <p:cNvSpPr>
            <a:spLocks xmlns:a="http://schemas.openxmlformats.org/drawingml/2006/main" noGrp="1"/>
          </p:cNvSpPr>
          <p:nvPr/>
        </p:nvSpPr>
        <p:spPr>
          <a:xfrm xmlns:a="http://schemas.openxmlformats.org/drawingml/2006/main">
            <a:off x="1600200" y="4295775"/>
            <a:ext cx="1809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14213D"/>
                </a:solidFill>
                <a:latin typeface="Aptos"/>
                <a:ea typeface="Aptos"/>
                <a:cs typeface="Aptos"/>
              </a:defRPr>
            </a:pPr>
            <a:r>
              <a:rPr sz="1050" b="1">
                <a:solidFill>
                  <a:srgbClr val="14213D"/>
                </a:solidFill>
                <a:latin typeface="Aptos"/>
                <a:ea typeface="Aptos"/>
                <a:cs typeface="Aptos"/>
              </a:rPr>
              <a:t>4. Judge panel</a:t>
            </a:r>
          </a:p>
        </p:txBody>
      </p:sp>
      <p:sp>
        <p:nvSpPr>
          <p:cNvPr id="17" name="">
            <a:extLst xmlns:a="http://schemas.openxmlformats.org/drawingml/2006/main">
              <a:ext uri="{FF2B5EF4-FFF2-40B4-BE49-F238E27FC236}">
                <a16:creationId xmlns:a16="http://schemas.microsoft.com/office/drawing/2014/main" id="{65900834-F699-42B9-A211-6CBB1F8AD271}"/>
              </a:ext>
            </a:extLst>
          </p:cNvPr>
          <p:cNvSpPr>
            <a:spLocks xmlns:a="http://schemas.openxmlformats.org/drawingml/2006/main" noGrp="1"/>
          </p:cNvSpPr>
          <p:nvPr/>
        </p:nvSpPr>
        <p:spPr>
          <a:xfrm xmlns:a="http://schemas.openxmlformats.org/drawingml/2006/main">
            <a:off x="3467100" y="4295775"/>
            <a:ext cx="42672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14213D"/>
                </a:solidFill>
                <a:latin typeface="Aptos"/>
                <a:ea typeface="Aptos"/>
                <a:cs typeface="Aptos"/>
              </a:defRPr>
            </a:pPr>
            <a:r>
              <a:rPr sz="900" b="0">
                <a:solidFill>
                  <a:srgbClr val="14213D"/>
                </a:solidFill>
                <a:latin typeface="Aptos"/>
                <a:ea typeface="Aptos"/>
                <a:cs typeface="Aptos"/>
              </a:rPr>
              <a:t>Six judges score faithfulness, citations, compliance, typology wording, data science quality, usefulness.</a:t>
            </a:r>
          </a:p>
        </p:txBody>
      </p:sp>
      <p:sp>
        <p:nvSpPr>
          <p:cNvPr id="18" name="">
            <a:extLst xmlns:a="http://schemas.openxmlformats.org/drawingml/2006/main">
              <a:ext uri="{FF2B5EF4-FFF2-40B4-BE49-F238E27FC236}">
                <a16:creationId xmlns:a16="http://schemas.microsoft.com/office/drawing/2014/main" id="{189AF5D7-0087-4412-929E-6229B7983697}"/>
              </a:ext>
            </a:extLst>
          </p:cNvPr>
          <p:cNvSpPr>
            <a:spLocks xmlns:a="http://schemas.openxmlformats.org/drawingml/2006/main" noGrp="1"/>
          </p:cNvSpPr>
          <p:nvPr/>
        </p:nvSpPr>
        <p:spPr>
          <a:xfrm xmlns:a="http://schemas.openxmlformats.org/drawingml/2006/main">
            <a:off x="1638300" y="4848225"/>
            <a:ext cx="6534150" cy="457200"/>
          </a:xfrm>
          <a:prstGeom xmlns:a="http://schemas.openxmlformats.org/drawingml/2006/main" prst="rect">
            <a:avLst/>
          </a:prstGeom>
          <a:solidFill xmlns:a="http://schemas.openxmlformats.org/drawingml/2006/main">
            <a:srgbClr val="203351"/>
          </a:solidFill>
          <a:ln xmlns:a="http://schemas.openxmlformats.org/drawingml/2006/main" w="9525">
            <a:solidFill>
              <a:srgbClr val="4A5C78"/>
            </a:solidFill>
            <a:prstDash val="solid"/>
          </a:ln>
        </p:spPr>
      </p:sp>
      <p:sp>
        <p:nvSpPr>
          <p:cNvPr id="19" name="">
            <a:extLst xmlns:a="http://schemas.openxmlformats.org/drawingml/2006/main">
              <a:ext uri="{FF2B5EF4-FFF2-40B4-BE49-F238E27FC236}">
                <a16:creationId xmlns:a16="http://schemas.microsoft.com/office/drawing/2014/main" id="{BA6DFB2C-4EB5-417E-8524-A289EEC318A6}"/>
              </a:ext>
            </a:extLst>
          </p:cNvPr>
          <p:cNvSpPr>
            <a:spLocks xmlns:a="http://schemas.openxmlformats.org/drawingml/2006/main" noGrp="1"/>
          </p:cNvSpPr>
          <p:nvPr/>
        </p:nvSpPr>
        <p:spPr>
          <a:xfrm xmlns:a="http://schemas.openxmlformats.org/drawingml/2006/main">
            <a:off x="1828800" y="4924425"/>
            <a:ext cx="1809750" cy="190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050" b="1">
                <a:solidFill>
                  <a:srgbClr val="FFFFFF"/>
                </a:solidFill>
                <a:latin typeface="Aptos"/>
                <a:ea typeface="Aptos"/>
                <a:cs typeface="Aptos"/>
              </a:defRPr>
            </a:pPr>
            <a:r>
              <a:rPr sz="1050" b="1">
                <a:solidFill>
                  <a:srgbClr val="FFFFFF"/>
                </a:solidFill>
                <a:latin typeface="Aptos"/>
                <a:ea typeface="Aptos"/>
                <a:cs typeface="Aptos"/>
              </a:rPr>
              <a:t>5. Output guardrails</a:t>
            </a:r>
          </a:p>
        </p:txBody>
      </p:sp>
      <p:sp>
        <p:nvSpPr>
          <p:cNvPr id="20" name="">
            <a:extLst xmlns:a="http://schemas.openxmlformats.org/drawingml/2006/main">
              <a:ext uri="{FF2B5EF4-FFF2-40B4-BE49-F238E27FC236}">
                <a16:creationId xmlns:a16="http://schemas.microsoft.com/office/drawing/2014/main" id="{D3F2287A-FFF1-4F3C-9041-F408BAA2709C}"/>
              </a:ext>
            </a:extLst>
          </p:cNvPr>
          <p:cNvSpPr>
            <a:spLocks xmlns:a="http://schemas.openxmlformats.org/drawingml/2006/main" noGrp="1"/>
          </p:cNvSpPr>
          <p:nvPr/>
        </p:nvSpPr>
        <p:spPr>
          <a:xfrm xmlns:a="http://schemas.openxmlformats.org/drawingml/2006/main">
            <a:off x="3695700" y="4924425"/>
            <a:ext cx="40386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00" b="0">
                <a:solidFill>
                  <a:srgbClr val="DCE6F2"/>
                </a:solidFill>
                <a:latin typeface="Aptos"/>
                <a:ea typeface="Aptos"/>
                <a:cs typeface="Aptos"/>
              </a:defRPr>
            </a:pPr>
            <a:r>
              <a:rPr sz="900" b="0">
                <a:solidFill>
                  <a:srgbClr val="DCE6F2"/>
                </a:solidFill>
                <a:latin typeface="Aptos"/>
                <a:ea typeface="Aptos"/>
                <a:cs typeface="Aptos"/>
              </a:rPr>
              <a:t>Detect prohibited certainty language, unsupported typology claims, fabricated citation risk, and PII.</a:t>
            </a:r>
          </a:p>
        </p:txBody>
      </p:sp>
      <p:sp>
        <p:nvSpPr>
          <p:cNvPr id="21" name="audit-box">
            <a:extLst xmlns:a="http://schemas.openxmlformats.org/drawingml/2006/main">
              <a:ext uri="{FF2B5EF4-FFF2-40B4-BE49-F238E27FC236}">
                <a16:creationId xmlns:a16="http://schemas.microsoft.com/office/drawing/2014/main" id="{8BB16D10-E599-47B9-B2E7-C5FDF7ED1ECA}"/>
              </a:ext>
            </a:extLst>
          </p:cNvPr>
          <p:cNvSpPr>
            <a:spLocks xmlns:a="http://schemas.openxmlformats.org/drawingml/2006/main" noGrp="1"/>
          </p:cNvSpPr>
          <p:nvPr/>
        </p:nvSpPr>
        <p:spPr>
          <a:xfrm xmlns:a="http://schemas.openxmlformats.org/drawingml/2006/main">
            <a:off x="8686800" y="2381250"/>
            <a:ext cx="2286000" cy="1200150"/>
          </a:xfrm>
          <a:prstGeom xmlns:a="http://schemas.openxmlformats.org/drawingml/2006/main" prst="rect">
            <a:avLst/>
          </a:prstGeom>
          <a:solidFill xmlns:a="http://schemas.openxmlformats.org/drawingml/2006/main">
            <a:srgbClr val="F7F3EA"/>
          </a:solidFill>
          <a:ln xmlns:a="http://schemas.openxmlformats.org/drawingml/2006/main" w="9525">
            <a:solidFill>
              <a:srgbClr val="F5B642"/>
            </a:solidFill>
            <a:prstDash val="solid"/>
          </a:ln>
        </p:spPr>
      </p:sp>
      <p:sp>
        <p:nvSpPr>
          <p:cNvPr id="22" name="audit-label">
            <a:extLst xmlns:a="http://schemas.openxmlformats.org/drawingml/2006/main">
              <a:ext uri="{FF2B5EF4-FFF2-40B4-BE49-F238E27FC236}">
                <a16:creationId xmlns:a16="http://schemas.microsoft.com/office/drawing/2014/main" id="{5C872AFE-D566-4B8D-A8D7-D9FC5B5E301E}"/>
              </a:ext>
            </a:extLst>
          </p:cNvPr>
          <p:cNvSpPr>
            <a:spLocks xmlns:a="http://schemas.openxmlformats.org/drawingml/2006/main" noGrp="1"/>
          </p:cNvSpPr>
          <p:nvPr/>
        </p:nvSpPr>
        <p:spPr>
          <a:xfrm xmlns:a="http://schemas.openxmlformats.org/drawingml/2006/main">
            <a:off x="8839200" y="2505075"/>
            <a:ext cx="1981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14213D"/>
                </a:solidFill>
                <a:latin typeface="Aptos"/>
                <a:ea typeface="Aptos"/>
                <a:cs typeface="Aptos"/>
              </a:defRPr>
            </a:pPr>
            <a:r>
              <a:rPr sz="1125" b="1">
                <a:solidFill>
                  <a:srgbClr val="14213D"/>
                </a:solidFill>
                <a:latin typeface="Aptos"/>
                <a:ea typeface="Aptos"/>
                <a:cs typeface="Aptos"/>
              </a:rPr>
              <a:t>Audit surface</a:t>
            </a:r>
          </a:p>
        </p:txBody>
      </p:sp>
      <p:sp>
        <p:nvSpPr>
          <p:cNvPr id="23" name="audit-body">
            <a:extLst xmlns:a="http://schemas.openxmlformats.org/drawingml/2006/main">
              <a:ext uri="{FF2B5EF4-FFF2-40B4-BE49-F238E27FC236}">
                <a16:creationId xmlns:a16="http://schemas.microsoft.com/office/drawing/2014/main" id="{F7E00B91-6949-4CA4-8F40-6082B833FB44}"/>
              </a:ext>
            </a:extLst>
          </p:cNvPr>
          <p:cNvSpPr>
            <a:spLocks xmlns:a="http://schemas.openxmlformats.org/drawingml/2006/main" noGrp="1"/>
          </p:cNvSpPr>
          <p:nvPr/>
        </p:nvSpPr>
        <p:spPr>
          <a:xfrm xmlns:a="http://schemas.openxmlformats.org/drawingml/2006/main">
            <a:off x="8839200" y="2781300"/>
            <a:ext cx="1981200" cy="6858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run_id</a:t>
            </a:r>
          </a:p>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executed_agents</a:t>
            </a:r>
          </a:p>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route_explanation</a:t>
            </a:r>
          </a:p>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judge_scores</a:t>
            </a:r>
          </a:p>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guardrail_status</a:t>
            </a:r>
          </a:p>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audit_trace</a:t>
            </a:r>
          </a:p>
        </p:txBody>
      </p:sp>
      <p:sp>
        <p:nvSpPr>
          <p:cNvPr id="24" name="constraint-box">
            <a:extLst xmlns:a="http://schemas.openxmlformats.org/drawingml/2006/main">
              <a:ext uri="{FF2B5EF4-FFF2-40B4-BE49-F238E27FC236}">
                <a16:creationId xmlns:a16="http://schemas.microsoft.com/office/drawing/2014/main" id="{5AF7C084-C2D2-4ECA-B988-15D722D9C052}"/>
              </a:ext>
            </a:extLst>
          </p:cNvPr>
          <p:cNvSpPr>
            <a:spLocks xmlns:a="http://schemas.openxmlformats.org/drawingml/2006/main" noGrp="1"/>
          </p:cNvSpPr>
          <p:nvPr/>
        </p:nvSpPr>
        <p:spPr>
          <a:xfrm xmlns:a="http://schemas.openxmlformats.org/drawingml/2006/main">
            <a:off x="8686800" y="3905250"/>
            <a:ext cx="2286000" cy="1104900"/>
          </a:xfrm>
          <a:prstGeom xmlns:a="http://schemas.openxmlformats.org/drawingml/2006/main" prst="rect">
            <a:avLst/>
          </a:prstGeom>
          <a:solidFill xmlns:a="http://schemas.openxmlformats.org/drawingml/2006/main">
            <a:srgbClr val="F7F3EA"/>
          </a:solidFill>
          <a:ln xmlns:a="http://schemas.openxmlformats.org/drawingml/2006/main" w="9525">
            <a:solidFill>
              <a:srgbClr val="D71920"/>
            </a:solidFill>
            <a:prstDash val="solid"/>
          </a:ln>
        </p:spPr>
      </p:sp>
      <p:sp>
        <p:nvSpPr>
          <p:cNvPr id="25" name="constraint-label">
            <a:extLst xmlns:a="http://schemas.openxmlformats.org/drawingml/2006/main">
              <a:ext uri="{FF2B5EF4-FFF2-40B4-BE49-F238E27FC236}">
                <a16:creationId xmlns:a16="http://schemas.microsoft.com/office/drawing/2014/main" id="{962F913D-E0A2-4E17-9063-0EF1B29D13F5}"/>
              </a:ext>
            </a:extLst>
          </p:cNvPr>
          <p:cNvSpPr>
            <a:spLocks xmlns:a="http://schemas.openxmlformats.org/drawingml/2006/main" noGrp="1"/>
          </p:cNvSpPr>
          <p:nvPr/>
        </p:nvSpPr>
        <p:spPr>
          <a:xfrm xmlns:a="http://schemas.openxmlformats.org/drawingml/2006/main">
            <a:off x="8839200" y="4029075"/>
            <a:ext cx="19812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D71920"/>
                </a:solidFill>
                <a:latin typeface="Aptos"/>
                <a:ea typeface="Aptos"/>
                <a:cs typeface="Aptos"/>
              </a:defRPr>
            </a:pPr>
            <a:r>
              <a:rPr sz="1125" b="1">
                <a:solidFill>
                  <a:srgbClr val="D71920"/>
                </a:solidFill>
                <a:latin typeface="Aptos"/>
                <a:ea typeface="Aptos"/>
                <a:cs typeface="Aptos"/>
              </a:rPr>
              <a:t>Important constraint</a:t>
            </a:r>
          </a:p>
        </p:txBody>
      </p:sp>
      <p:sp>
        <p:nvSpPr>
          <p:cNvPr id="26" name="constraint-body">
            <a:extLst xmlns:a="http://schemas.openxmlformats.org/drawingml/2006/main">
              <a:ext uri="{FF2B5EF4-FFF2-40B4-BE49-F238E27FC236}">
                <a16:creationId xmlns:a16="http://schemas.microsoft.com/office/drawing/2014/main" id="{AD17295C-C636-4270-B77C-19F21DDD5ABA}"/>
              </a:ext>
            </a:extLst>
          </p:cNvPr>
          <p:cNvSpPr>
            <a:spLocks xmlns:a="http://schemas.openxmlformats.org/drawingml/2006/main" noGrp="1"/>
          </p:cNvSpPr>
          <p:nvPr/>
        </p:nvSpPr>
        <p:spPr>
          <a:xfrm xmlns:a="http://schemas.openxmlformats.org/drawingml/2006/main">
            <a:off x="8839200" y="4305300"/>
            <a:ext cx="1981200" cy="590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The system does not confirm criminal activity, make final AML decisions, or direct regulatory filings.</a:t>
            </a:r>
          </a:p>
        </p:txBody>
      </p:sp>
      <p:sp>
        <p:nvSpPr>
          <p:cNvPr id="27" name="footer-source">
            <a:extLst xmlns:a="http://schemas.openxmlformats.org/drawingml/2006/main">
              <a:ext uri="{FF2B5EF4-FFF2-40B4-BE49-F238E27FC236}">
                <a16:creationId xmlns:a16="http://schemas.microsoft.com/office/drawing/2014/main" id="{1FFB9B65-F354-45EB-B64B-1A21F40B65D2}"/>
              </a:ext>
            </a:extLst>
          </p:cNvPr>
          <p:cNvSpPr>
            <a:spLocks xmlns:a="http://schemas.openxmlformats.org/drawingml/2006/main" noGrp="1"/>
          </p:cNvSpPr>
          <p:nvPr/>
        </p:nvSpPr>
        <p:spPr>
          <a:xfrm xmlns:a="http://schemas.openxmlformats.org/drawingml/2006/main">
            <a:off x="514350" y="6496050"/>
            <a:ext cx="6858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C6670"/>
                </a:solidFill>
                <a:latin typeface="Aptos"/>
                <a:ea typeface="Aptos"/>
                <a:cs typeface="Aptos"/>
              </a:defRPr>
            </a:pPr>
            <a:r>
              <a:rPr sz="750" b="0">
                <a:solidFill>
                  <a:srgbClr val="5C6670"/>
                </a:solidFill>
                <a:latin typeface="Aptos"/>
                <a:ea typeface="Aptos"/>
                <a:cs typeface="Aptos"/>
              </a:rPr>
              <a:t>Source: system overview, agent workflows, guardrail docs</a:t>
            </a:r>
          </a:p>
        </p:txBody>
      </p:sp>
      <p:sp>
        <p:nvSpPr>
          <p:cNvPr id="28" name="footer-page">
            <a:extLst xmlns:a="http://schemas.openxmlformats.org/drawingml/2006/main">
              <a:ext uri="{FF2B5EF4-FFF2-40B4-BE49-F238E27FC236}">
                <a16:creationId xmlns:a16="http://schemas.microsoft.com/office/drawing/2014/main" id="{98A61B8D-3B16-4D44-9935-2C32405C4712}"/>
              </a:ext>
            </a:extLst>
          </p:cNvPr>
          <p:cNvSpPr>
            <a:spLocks xmlns:a="http://schemas.openxmlformats.org/drawingml/2006/main" noGrp="1"/>
          </p:cNvSpPr>
          <p:nvPr/>
        </p:nvSpPr>
        <p:spPr>
          <a:xfrm xmlns:a="http://schemas.openxmlformats.org/drawingml/2006/main">
            <a:off x="11239500" y="6438900"/>
            <a:ext cx="438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5C6670"/>
                </a:solidFill>
                <a:latin typeface="Aptos Mono"/>
                <a:ea typeface="Aptos Mono"/>
                <a:cs typeface="Aptos Mono"/>
              </a:defRPr>
            </a:pPr>
            <a:r>
              <a:rPr sz="825" b="0">
                <a:solidFill>
                  <a:srgbClr val="5C6670"/>
                </a:solidFill>
                <a:latin typeface="Aptos Mono"/>
                <a:ea typeface="Aptos Mono"/>
                <a:cs typeface="Aptos Mono"/>
              </a:rPr>
              <a:t>05</a:t>
            </a:r>
          </a:p>
        </p:txBody>
      </p:sp>
    </p:spTree>
    <p:extLst>
      <p:ext uri="{BB962C8B-B14F-4D97-AF65-F5344CB8AC3E}">
        <p14:creationId xmlns:p14="http://schemas.microsoft.com/office/powerpoint/2010/main" val="2086533529"/>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6366F0C-9B43-43A4-82FC-C3377E03BAA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7F3EA"/>
          </a:solidFill>
          <a:ln xmlns:a="http://schemas.openxmlformats.org/drawingml/2006/main" w="0">
            <a:solidFill>
              <a:srgbClr val="F7F3EA"/>
            </a:solidFill>
            <a:prstDash val="solid"/>
          </a:ln>
        </p:spPr>
      </p:sp>
      <p:sp>
        <p:nvSpPr>
          <p:cNvPr id="2" name="kicker-marker">
            <a:extLst xmlns:a="http://schemas.openxmlformats.org/drawingml/2006/main">
              <a:ext uri="{FF2B5EF4-FFF2-40B4-BE49-F238E27FC236}">
                <a16:creationId xmlns:a16="http://schemas.microsoft.com/office/drawing/2014/main" id="{54AF246B-08BB-4F31-B482-1815D9A58032}"/>
              </a:ext>
            </a:extLst>
          </p:cNvPr>
          <p:cNvSpPr>
            <a:spLocks xmlns:a="http://schemas.openxmlformats.org/drawingml/2006/main" noGrp="1"/>
          </p:cNvSpPr>
          <p:nvPr/>
        </p:nvSpPr>
        <p:spPr>
          <a:xfrm xmlns:a="http://schemas.openxmlformats.org/drawingml/2006/main">
            <a:off x="533400" y="476250"/>
            <a:ext cx="171450" cy="38100"/>
          </a:xfrm>
          <a:prstGeom xmlns:a="http://schemas.openxmlformats.org/drawingml/2006/main" prst="rect">
            <a:avLst/>
          </a:prstGeom>
          <a:solidFill xmlns:a="http://schemas.openxmlformats.org/drawingml/2006/main">
            <a:srgbClr val="D71920"/>
          </a:solidFill>
          <a:ln xmlns:a="http://schemas.openxmlformats.org/drawingml/2006/main" w="0">
            <a:solidFill>
              <a:srgbClr val="D71920"/>
            </a:solidFill>
            <a:prstDash val="solid"/>
          </a:ln>
        </p:spPr>
      </p:sp>
      <p:sp>
        <p:nvSpPr>
          <p:cNvPr id="3" name="kicker-label">
            <a:extLst xmlns:a="http://schemas.openxmlformats.org/drawingml/2006/main">
              <a:ext uri="{FF2B5EF4-FFF2-40B4-BE49-F238E27FC236}">
                <a16:creationId xmlns:a16="http://schemas.microsoft.com/office/drawing/2014/main" id="{D7EA89D3-F5A5-4C48-A535-844AF90F8D30}"/>
              </a:ext>
            </a:extLst>
          </p:cNvPr>
          <p:cNvSpPr>
            <a:spLocks xmlns:a="http://schemas.openxmlformats.org/drawingml/2006/main" noGrp="1"/>
          </p:cNvSpPr>
          <p:nvPr/>
        </p:nvSpPr>
        <p:spPr>
          <a:xfrm xmlns:a="http://schemas.openxmlformats.org/drawingml/2006/main">
            <a:off x="800100" y="400050"/>
            <a:ext cx="4000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900" b="1">
                <a:solidFill>
                  <a:srgbClr val="D71920"/>
                </a:solidFill>
                <a:latin typeface="Aptos"/>
                <a:ea typeface="Aptos"/>
                <a:cs typeface="Aptos"/>
              </a:defRPr>
            </a:pPr>
            <a:r>
              <a:rPr sz="900" b="1">
                <a:solidFill>
                  <a:srgbClr val="D71920"/>
                </a:solidFill>
                <a:latin typeface="Aptos"/>
                <a:ea typeface="Aptos"/>
                <a:cs typeface="Aptos"/>
              </a:rPr>
              <a:t>CURRENT STATUS</a:t>
            </a:r>
          </a:p>
        </p:txBody>
      </p:sp>
      <p:sp>
        <p:nvSpPr>
          <p:cNvPr id="4" name="claim-title">
            <a:extLst xmlns:a="http://schemas.openxmlformats.org/drawingml/2006/main">
              <a:ext uri="{FF2B5EF4-FFF2-40B4-BE49-F238E27FC236}">
                <a16:creationId xmlns:a16="http://schemas.microsoft.com/office/drawing/2014/main" id="{43B3C129-1E06-4026-8207-14D874AB50B6}"/>
              </a:ext>
            </a:extLst>
          </p:cNvPr>
          <p:cNvSpPr>
            <a:spLocks xmlns:a="http://schemas.openxmlformats.org/drawingml/2006/main" noGrp="1"/>
          </p:cNvSpPr>
          <p:nvPr/>
        </p:nvSpPr>
        <p:spPr>
          <a:xfrm xmlns:a="http://schemas.openxmlformats.org/drawingml/2006/main">
            <a:off x="514350" y="742950"/>
            <a:ext cx="8858250" cy="800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2550" b="1">
                <a:solidFill>
                  <a:srgbClr val="14213D"/>
                </a:solidFill>
                <a:latin typeface="Aptos Display"/>
                <a:ea typeface="Aptos Display"/>
                <a:cs typeface="Aptos Display"/>
              </a:defRPr>
            </a:pPr>
            <a:r>
              <a:rPr sz="2550" b="1">
                <a:solidFill>
                  <a:srgbClr val="14213D"/>
                </a:solidFill>
                <a:latin typeface="Aptos Display"/>
                <a:ea typeface="Aptos Display"/>
                <a:cs typeface="Aptos Display"/>
              </a:rPr>
              <a:t>The foundation is working; production readiness depends on integration, auth, and durable controls.</a:t>
            </a:r>
          </a:p>
        </p:txBody>
      </p:sp>
      <p:sp>
        <p:nvSpPr>
          <p:cNvPr id="5" name="">
            <a:extLst xmlns:a="http://schemas.openxmlformats.org/drawingml/2006/main">
              <a:ext uri="{FF2B5EF4-FFF2-40B4-BE49-F238E27FC236}">
                <a16:creationId xmlns:a16="http://schemas.microsoft.com/office/drawing/2014/main" id="{542BD076-5C91-4474-855C-8E5F5116633E}"/>
              </a:ext>
            </a:extLst>
          </p:cNvPr>
          <p:cNvSpPr>
            <a:spLocks xmlns:a="http://schemas.openxmlformats.org/drawingml/2006/main" noGrp="1"/>
          </p:cNvSpPr>
          <p:nvPr/>
        </p:nvSpPr>
        <p:spPr>
          <a:xfrm xmlns:a="http://schemas.openxmlformats.org/drawingml/2006/main">
            <a:off x="533400" y="1562100"/>
            <a:ext cx="885825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76200" bIns="0" anchor="t"/>
          <a:lstStyle xmlns:a="http://schemas.openxmlformats.org/drawingml/2006/main"/>
          <a:p xmlns:a="http://schemas.openxmlformats.org/drawingml/2006/main">
            <a:pPr algn="l">
              <a:defRPr sz="1275" b="0">
                <a:solidFill>
                  <a:srgbClr val="374151"/>
                </a:solidFill>
                <a:latin typeface="Aptos"/>
                <a:ea typeface="Aptos"/>
                <a:cs typeface="Aptos"/>
              </a:defRPr>
            </a:pPr>
            <a:r>
              <a:rPr sz="1275" b="0">
                <a:solidFill>
                  <a:srgbClr val="374151"/>
                </a:solidFill>
                <a:latin typeface="Aptos"/>
                <a:ea typeface="Aptos"/>
                <a:cs typeface="Aptos"/>
              </a:rPr>
              <a:t>This is a strong local system foundation with explicit boundaries. The next phase should wire enterprise-grade integrations and persistence before any operational rollout.</a:t>
            </a:r>
          </a:p>
        </p:txBody>
      </p:sp>
      <p:sp>
        <p:nvSpPr>
          <p:cNvPr id="6" name="">
            <a:extLst xmlns:a="http://schemas.openxmlformats.org/drawingml/2006/main">
              <a:ext uri="{FF2B5EF4-FFF2-40B4-BE49-F238E27FC236}">
                <a16:creationId xmlns:a16="http://schemas.microsoft.com/office/drawing/2014/main" id="{F628845B-3A20-4D34-B8EB-79D39BFBCA02}"/>
              </a:ext>
            </a:extLst>
          </p:cNvPr>
          <p:cNvSpPr>
            <a:spLocks xmlns:a="http://schemas.openxmlformats.org/drawingml/2006/main" noGrp="1"/>
          </p:cNvSpPr>
          <p:nvPr/>
        </p:nvSpPr>
        <p:spPr>
          <a:xfrm xmlns:a="http://schemas.openxmlformats.org/drawingml/2006/main">
            <a:off x="552450" y="2343150"/>
            <a:ext cx="3276600" cy="95250"/>
          </a:xfrm>
          <a:prstGeom xmlns:a="http://schemas.openxmlformats.org/drawingml/2006/main" prst="rect">
            <a:avLst/>
          </a:prstGeom>
          <a:solidFill xmlns:a="http://schemas.openxmlformats.org/drawingml/2006/main">
            <a:srgbClr val="1F8A70"/>
          </a:solidFill>
          <a:ln xmlns:a="http://schemas.openxmlformats.org/drawingml/2006/main" w="0">
            <a:solidFill>
              <a:srgbClr val="1F8A70"/>
            </a:solidFill>
            <a:prstDash val="solid"/>
          </a:ln>
        </p:spPr>
      </p:sp>
      <p:sp>
        <p:nvSpPr>
          <p:cNvPr id="7" name="status-0-box">
            <a:extLst xmlns:a="http://schemas.openxmlformats.org/drawingml/2006/main">
              <a:ext uri="{FF2B5EF4-FFF2-40B4-BE49-F238E27FC236}">
                <a16:creationId xmlns:a16="http://schemas.microsoft.com/office/drawing/2014/main" id="{7FCE85D1-B91F-410E-A194-FDF39E3D8F29}"/>
              </a:ext>
            </a:extLst>
          </p:cNvPr>
          <p:cNvSpPr>
            <a:spLocks xmlns:a="http://schemas.openxmlformats.org/drawingml/2006/main" noGrp="1"/>
          </p:cNvSpPr>
          <p:nvPr/>
        </p:nvSpPr>
        <p:spPr>
          <a:xfrm xmlns:a="http://schemas.openxmlformats.org/drawingml/2006/main">
            <a:off x="552450" y="2438400"/>
            <a:ext cx="3276600" cy="2514600"/>
          </a:xfrm>
          <a:prstGeom xmlns:a="http://schemas.openxmlformats.org/drawingml/2006/main" prst="rect">
            <a:avLst/>
          </a:prstGeom>
          <a:solidFill xmlns:a="http://schemas.openxmlformats.org/drawingml/2006/main">
            <a:srgbClr val="FFFFFF"/>
          </a:solidFill>
          <a:ln xmlns:a="http://schemas.openxmlformats.org/drawingml/2006/main" w="9525">
            <a:solidFill>
              <a:srgbClr val="D8D0C3"/>
            </a:solidFill>
            <a:prstDash val="solid"/>
          </a:ln>
        </p:spPr>
      </p:sp>
      <p:sp>
        <p:nvSpPr>
          <p:cNvPr id="8" name="status-0-label">
            <a:extLst xmlns:a="http://schemas.openxmlformats.org/drawingml/2006/main">
              <a:ext uri="{FF2B5EF4-FFF2-40B4-BE49-F238E27FC236}">
                <a16:creationId xmlns:a16="http://schemas.microsoft.com/office/drawing/2014/main" id="{29F7A888-2D17-4AC1-B7AC-7ABC5D08ED25}"/>
              </a:ext>
            </a:extLst>
          </p:cNvPr>
          <p:cNvSpPr>
            <a:spLocks xmlns:a="http://schemas.openxmlformats.org/drawingml/2006/main" noGrp="1"/>
          </p:cNvSpPr>
          <p:nvPr/>
        </p:nvSpPr>
        <p:spPr>
          <a:xfrm xmlns:a="http://schemas.openxmlformats.org/drawingml/2006/main">
            <a:off x="704850" y="2562225"/>
            <a:ext cx="2971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1F8A70"/>
                </a:solidFill>
                <a:latin typeface="Aptos"/>
                <a:ea typeface="Aptos"/>
                <a:cs typeface="Aptos"/>
              </a:defRPr>
            </a:pPr>
            <a:r>
              <a:rPr sz="1125" b="1">
                <a:solidFill>
                  <a:srgbClr val="1F8A70"/>
                </a:solidFill>
                <a:latin typeface="Aptos"/>
                <a:ea typeface="Aptos"/>
                <a:cs typeface="Aptos"/>
              </a:rPr>
              <a:t>Implemented and active</a:t>
            </a:r>
          </a:p>
        </p:txBody>
      </p:sp>
      <p:sp>
        <p:nvSpPr>
          <p:cNvPr id="9" name="status-0-body">
            <a:extLst xmlns:a="http://schemas.openxmlformats.org/drawingml/2006/main">
              <a:ext uri="{FF2B5EF4-FFF2-40B4-BE49-F238E27FC236}">
                <a16:creationId xmlns:a16="http://schemas.microsoft.com/office/drawing/2014/main" id="{2B9AF710-99F9-4069-B796-44C328FAFB29}"/>
              </a:ext>
            </a:extLst>
          </p:cNvPr>
          <p:cNvSpPr>
            <a:spLocks xmlns:a="http://schemas.openxmlformats.org/drawingml/2006/main" noGrp="1"/>
          </p:cNvSpPr>
          <p:nvPr/>
        </p:nvSpPr>
        <p:spPr>
          <a:xfrm xmlns:a="http://schemas.openxmlformats.org/drawingml/2006/main">
            <a:off x="704850" y="2838450"/>
            <a:ext cx="2971800" cy="2000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FastAPI routes</a:t>
            </a:r>
          </a:p>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Next.js workbench</a:t>
            </a:r>
          </a:p>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Role-aware routing</a:t>
            </a:r>
          </a:p>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Dynamic graph execution</a:t>
            </a:r>
          </a:p>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Mock or OpenAI-compatible LLM</a:t>
            </a:r>
          </a:p>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pgvector RAG retrieval</a:t>
            </a:r>
          </a:p>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Offline model scoring</a:t>
            </a:r>
          </a:p>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Guardrails and judge panel</a:t>
            </a:r>
          </a:p>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Evaluation API/dashboard</a:t>
            </a:r>
          </a:p>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Tests across core behaviours</a:t>
            </a:r>
          </a:p>
        </p:txBody>
      </p:sp>
      <p:sp>
        <p:nvSpPr>
          <p:cNvPr id="10" name="">
            <a:extLst xmlns:a="http://schemas.openxmlformats.org/drawingml/2006/main">
              <a:ext uri="{FF2B5EF4-FFF2-40B4-BE49-F238E27FC236}">
                <a16:creationId xmlns:a16="http://schemas.microsoft.com/office/drawing/2014/main" id="{F3F26DA1-356E-4471-B362-D47F3D91786F}"/>
              </a:ext>
            </a:extLst>
          </p:cNvPr>
          <p:cNvSpPr>
            <a:spLocks xmlns:a="http://schemas.openxmlformats.org/drawingml/2006/main" noGrp="1"/>
          </p:cNvSpPr>
          <p:nvPr/>
        </p:nvSpPr>
        <p:spPr>
          <a:xfrm xmlns:a="http://schemas.openxmlformats.org/drawingml/2006/main">
            <a:off x="4343400" y="2343150"/>
            <a:ext cx="3276600" cy="95250"/>
          </a:xfrm>
          <a:prstGeom xmlns:a="http://schemas.openxmlformats.org/drawingml/2006/main" prst="rect">
            <a:avLst/>
          </a:prstGeom>
          <a:solidFill xmlns:a="http://schemas.openxmlformats.org/drawingml/2006/main">
            <a:srgbClr val="F5B642"/>
          </a:solidFill>
          <a:ln xmlns:a="http://schemas.openxmlformats.org/drawingml/2006/main" w="0">
            <a:solidFill>
              <a:srgbClr val="F5B642"/>
            </a:solidFill>
            <a:prstDash val="solid"/>
          </a:ln>
        </p:spPr>
      </p:sp>
      <p:sp>
        <p:nvSpPr>
          <p:cNvPr id="11" name="status-1-box">
            <a:extLst xmlns:a="http://schemas.openxmlformats.org/drawingml/2006/main">
              <a:ext uri="{FF2B5EF4-FFF2-40B4-BE49-F238E27FC236}">
                <a16:creationId xmlns:a16="http://schemas.microsoft.com/office/drawing/2014/main" id="{01AFC77A-BE2F-4C66-AC97-75992AE0846C}"/>
              </a:ext>
            </a:extLst>
          </p:cNvPr>
          <p:cNvSpPr>
            <a:spLocks xmlns:a="http://schemas.openxmlformats.org/drawingml/2006/main" noGrp="1"/>
          </p:cNvSpPr>
          <p:nvPr/>
        </p:nvSpPr>
        <p:spPr>
          <a:xfrm xmlns:a="http://schemas.openxmlformats.org/drawingml/2006/main">
            <a:off x="4343400" y="2438400"/>
            <a:ext cx="3276600" cy="2514600"/>
          </a:xfrm>
          <a:prstGeom xmlns:a="http://schemas.openxmlformats.org/drawingml/2006/main" prst="rect">
            <a:avLst/>
          </a:prstGeom>
          <a:solidFill xmlns:a="http://schemas.openxmlformats.org/drawingml/2006/main">
            <a:srgbClr val="FFFFFF"/>
          </a:solidFill>
          <a:ln xmlns:a="http://schemas.openxmlformats.org/drawingml/2006/main" w="9525">
            <a:solidFill>
              <a:srgbClr val="D8D0C3"/>
            </a:solidFill>
            <a:prstDash val="solid"/>
          </a:ln>
        </p:spPr>
      </p:sp>
      <p:sp>
        <p:nvSpPr>
          <p:cNvPr id="12" name="status-1-label">
            <a:extLst xmlns:a="http://schemas.openxmlformats.org/drawingml/2006/main">
              <a:ext uri="{FF2B5EF4-FFF2-40B4-BE49-F238E27FC236}">
                <a16:creationId xmlns:a16="http://schemas.microsoft.com/office/drawing/2014/main" id="{51172CA1-E72B-4802-B89F-695A66000CF5}"/>
              </a:ext>
            </a:extLst>
          </p:cNvPr>
          <p:cNvSpPr>
            <a:spLocks xmlns:a="http://schemas.openxmlformats.org/drawingml/2006/main" noGrp="1"/>
          </p:cNvSpPr>
          <p:nvPr/>
        </p:nvSpPr>
        <p:spPr>
          <a:xfrm xmlns:a="http://schemas.openxmlformats.org/drawingml/2006/main">
            <a:off x="4495800" y="2562225"/>
            <a:ext cx="2971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F5B642"/>
                </a:solidFill>
                <a:latin typeface="Aptos"/>
                <a:ea typeface="Aptos"/>
                <a:cs typeface="Aptos"/>
              </a:defRPr>
            </a:pPr>
            <a:r>
              <a:rPr sz="1125" b="1">
                <a:solidFill>
                  <a:srgbClr val="F5B642"/>
                </a:solidFill>
                <a:latin typeface="Aptos"/>
                <a:ea typeface="Aptos"/>
                <a:cs typeface="Aptos"/>
              </a:rPr>
              <a:t>Foundation exists</a:t>
            </a:r>
          </a:p>
        </p:txBody>
      </p:sp>
      <p:sp>
        <p:nvSpPr>
          <p:cNvPr id="13" name="status-1-body">
            <a:extLst xmlns:a="http://schemas.openxmlformats.org/drawingml/2006/main">
              <a:ext uri="{FF2B5EF4-FFF2-40B4-BE49-F238E27FC236}">
                <a16:creationId xmlns:a16="http://schemas.microsoft.com/office/drawing/2014/main" id="{F68F64CD-4BAC-48D2-94ED-83D2C5D80908}"/>
              </a:ext>
            </a:extLst>
          </p:cNvPr>
          <p:cNvSpPr>
            <a:spLocks xmlns:a="http://schemas.openxmlformats.org/drawingml/2006/main" noGrp="1"/>
          </p:cNvSpPr>
          <p:nvPr/>
        </p:nvSpPr>
        <p:spPr>
          <a:xfrm xmlns:a="http://schemas.openxmlformats.org/drawingml/2006/main">
            <a:off x="4495800" y="2838450"/>
            <a:ext cx="2971800" cy="2000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PostgreSQL ORM models</a:t>
            </a:r>
          </a:p>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Repository wrappers</a:t>
            </a:r>
          </a:p>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Redis client factory</a:t>
            </a:r>
          </a:p>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Telemetry facade</a:t>
            </a:r>
          </a:p>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Approval gate abstraction</a:t>
            </a:r>
          </a:p>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SSO placeholder in shell</a:t>
            </a:r>
          </a:p>
        </p:txBody>
      </p:sp>
      <p:sp>
        <p:nvSpPr>
          <p:cNvPr id="14" name="">
            <a:extLst xmlns:a="http://schemas.openxmlformats.org/drawingml/2006/main">
              <a:ext uri="{FF2B5EF4-FFF2-40B4-BE49-F238E27FC236}">
                <a16:creationId xmlns:a16="http://schemas.microsoft.com/office/drawing/2014/main" id="{62601763-D91E-4505-A642-EFF849B26A5C}"/>
              </a:ext>
            </a:extLst>
          </p:cNvPr>
          <p:cNvSpPr>
            <a:spLocks xmlns:a="http://schemas.openxmlformats.org/drawingml/2006/main" noGrp="1"/>
          </p:cNvSpPr>
          <p:nvPr/>
        </p:nvSpPr>
        <p:spPr>
          <a:xfrm xmlns:a="http://schemas.openxmlformats.org/drawingml/2006/main">
            <a:off x="8134350" y="2343150"/>
            <a:ext cx="3276600" cy="95250"/>
          </a:xfrm>
          <a:prstGeom xmlns:a="http://schemas.openxmlformats.org/drawingml/2006/main" prst="rect">
            <a:avLst/>
          </a:prstGeom>
          <a:solidFill xmlns:a="http://schemas.openxmlformats.org/drawingml/2006/main">
            <a:srgbClr val="D71920"/>
          </a:solidFill>
          <a:ln xmlns:a="http://schemas.openxmlformats.org/drawingml/2006/main" w="0">
            <a:solidFill>
              <a:srgbClr val="D71920"/>
            </a:solidFill>
            <a:prstDash val="solid"/>
          </a:ln>
        </p:spPr>
      </p:sp>
      <p:sp>
        <p:nvSpPr>
          <p:cNvPr id="15" name="status-2-box">
            <a:extLst xmlns:a="http://schemas.openxmlformats.org/drawingml/2006/main">
              <a:ext uri="{FF2B5EF4-FFF2-40B4-BE49-F238E27FC236}">
                <a16:creationId xmlns:a16="http://schemas.microsoft.com/office/drawing/2014/main" id="{43045822-6407-497D-836F-1C9BC4A44EDE}"/>
              </a:ext>
            </a:extLst>
          </p:cNvPr>
          <p:cNvSpPr>
            <a:spLocks xmlns:a="http://schemas.openxmlformats.org/drawingml/2006/main" noGrp="1"/>
          </p:cNvSpPr>
          <p:nvPr/>
        </p:nvSpPr>
        <p:spPr>
          <a:xfrm xmlns:a="http://schemas.openxmlformats.org/drawingml/2006/main">
            <a:off x="8134350" y="2438400"/>
            <a:ext cx="3276600" cy="2514600"/>
          </a:xfrm>
          <a:prstGeom xmlns:a="http://schemas.openxmlformats.org/drawingml/2006/main" prst="rect">
            <a:avLst/>
          </a:prstGeom>
          <a:solidFill xmlns:a="http://schemas.openxmlformats.org/drawingml/2006/main">
            <a:srgbClr val="FFFFFF"/>
          </a:solidFill>
          <a:ln xmlns:a="http://schemas.openxmlformats.org/drawingml/2006/main" w="9525">
            <a:solidFill>
              <a:srgbClr val="D8D0C3"/>
            </a:solidFill>
            <a:prstDash val="solid"/>
          </a:ln>
        </p:spPr>
      </p:sp>
      <p:sp>
        <p:nvSpPr>
          <p:cNvPr id="16" name="status-2-label">
            <a:extLst xmlns:a="http://schemas.openxmlformats.org/drawingml/2006/main">
              <a:ext uri="{FF2B5EF4-FFF2-40B4-BE49-F238E27FC236}">
                <a16:creationId xmlns:a16="http://schemas.microsoft.com/office/drawing/2014/main" id="{EDC37FE5-4BEE-49B9-99E0-CE18AA9B8C0B}"/>
              </a:ext>
            </a:extLst>
          </p:cNvPr>
          <p:cNvSpPr>
            <a:spLocks xmlns:a="http://schemas.openxmlformats.org/drawingml/2006/main" noGrp="1"/>
          </p:cNvSpPr>
          <p:nvPr/>
        </p:nvSpPr>
        <p:spPr>
          <a:xfrm xmlns:a="http://schemas.openxmlformats.org/drawingml/2006/main">
            <a:off x="8286750" y="2562225"/>
            <a:ext cx="29718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ctr"/>
          <a:lstStyle xmlns:a="http://schemas.openxmlformats.org/drawingml/2006/main"/>
          <a:p xmlns:a="http://schemas.openxmlformats.org/drawingml/2006/main">
            <a:pPr algn="l">
              <a:defRPr sz="1125" b="1">
                <a:solidFill>
                  <a:srgbClr val="D71920"/>
                </a:solidFill>
                <a:latin typeface="Aptos"/>
                <a:ea typeface="Aptos"/>
                <a:cs typeface="Aptos"/>
              </a:defRPr>
            </a:pPr>
            <a:r>
              <a:rPr sz="1125" b="1">
                <a:solidFill>
                  <a:srgbClr val="D71920"/>
                </a:solidFill>
                <a:latin typeface="Aptos"/>
                <a:ea typeface="Aptos"/>
                <a:cs typeface="Aptos"/>
              </a:rPr>
              <a:t>Not production-ready yet</a:t>
            </a:r>
          </a:p>
        </p:txBody>
      </p:sp>
      <p:sp>
        <p:nvSpPr>
          <p:cNvPr id="17" name="status-2-body">
            <a:extLst xmlns:a="http://schemas.openxmlformats.org/drawingml/2006/main">
              <a:ext uri="{FF2B5EF4-FFF2-40B4-BE49-F238E27FC236}">
                <a16:creationId xmlns:a16="http://schemas.microsoft.com/office/drawing/2014/main" id="{8F0DA270-ABF1-4EE8-9B4C-32F5CC80E608}"/>
              </a:ext>
            </a:extLst>
          </p:cNvPr>
          <p:cNvSpPr>
            <a:spLocks xmlns:a="http://schemas.openxmlformats.org/drawingml/2006/main" noGrp="1"/>
          </p:cNvSpPr>
          <p:nvPr/>
        </p:nvSpPr>
        <p:spPr>
          <a:xfrm xmlns:a="http://schemas.openxmlformats.org/drawingml/2006/main">
            <a:off x="8286750" y="2838450"/>
            <a:ext cx="2971800" cy="2000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No live bank data integration</a:t>
            </a:r>
          </a:p>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No real SSO/RBAC enforcement</a:t>
            </a:r>
          </a:p>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No durable API-path report persistence</a:t>
            </a:r>
          </a:p>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No case-management integration</a:t>
            </a:r>
          </a:p>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No full human approval workflow UI</a:t>
            </a:r>
          </a:p>
          <a:p xmlns:a="http://schemas.openxmlformats.org/drawingml/2006/main">
            <a:pPr algn="l">
              <a:defRPr sz="975" b="0">
                <a:solidFill>
                  <a:srgbClr val="374151"/>
                </a:solidFill>
                <a:latin typeface="Aptos"/>
                <a:ea typeface="Aptos"/>
                <a:cs typeface="Aptos"/>
              </a:defRPr>
            </a:pPr>
            <a:r>
              <a:rPr sz="975" b="0">
                <a:solidFill>
                  <a:srgbClr val="374151"/>
                </a:solidFill>
                <a:latin typeface="Aptos"/>
                <a:ea typeface="Aptos"/>
                <a:cs typeface="Aptos"/>
              </a:rPr>
              <a:t>External LLM JSON validity must be handled</a:t>
            </a:r>
          </a:p>
        </p:txBody>
      </p:sp>
      <p:sp>
        <p:nvSpPr>
          <p:cNvPr id="18" name="">
            <a:extLst xmlns:a="http://schemas.openxmlformats.org/drawingml/2006/main">
              <a:ext uri="{FF2B5EF4-FFF2-40B4-BE49-F238E27FC236}">
                <a16:creationId xmlns:a16="http://schemas.microsoft.com/office/drawing/2014/main" id="{9B462EB1-8223-4486-A5B8-BFEB54094626}"/>
              </a:ext>
            </a:extLst>
          </p:cNvPr>
          <p:cNvSpPr>
            <a:spLocks xmlns:a="http://schemas.openxmlformats.org/drawingml/2006/main" noGrp="1"/>
          </p:cNvSpPr>
          <p:nvPr/>
        </p:nvSpPr>
        <p:spPr>
          <a:xfrm xmlns:a="http://schemas.openxmlformats.org/drawingml/2006/main">
            <a:off x="552450" y="5257800"/>
            <a:ext cx="10839450" cy="590550"/>
          </a:xfrm>
          <a:prstGeom xmlns:a="http://schemas.openxmlformats.org/drawingml/2006/main" prst="rect">
            <a:avLst/>
          </a:prstGeom>
          <a:solidFill xmlns:a="http://schemas.openxmlformats.org/drawingml/2006/main">
            <a:srgbClr val="14213D"/>
          </a:solidFill>
          <a:ln xmlns:a="http://schemas.openxmlformats.org/drawingml/2006/main" w="0">
            <a:solidFill>
              <a:srgbClr val="14213D"/>
            </a:solidFill>
            <a:prstDash val="solid"/>
          </a:ln>
        </p:spPr>
      </p:sp>
      <p:sp>
        <p:nvSpPr>
          <p:cNvPr id="19" name="">
            <a:extLst xmlns:a="http://schemas.openxmlformats.org/drawingml/2006/main">
              <a:ext uri="{FF2B5EF4-FFF2-40B4-BE49-F238E27FC236}">
                <a16:creationId xmlns:a16="http://schemas.microsoft.com/office/drawing/2014/main" id="{859C80A3-0124-43ED-8481-11AC6E20DD1E}"/>
              </a:ext>
            </a:extLst>
          </p:cNvPr>
          <p:cNvSpPr>
            <a:spLocks xmlns:a="http://schemas.openxmlformats.org/drawingml/2006/main" noGrp="1"/>
          </p:cNvSpPr>
          <p:nvPr/>
        </p:nvSpPr>
        <p:spPr>
          <a:xfrm xmlns:a="http://schemas.openxmlformats.org/drawingml/2006/main">
            <a:off x="781050" y="5400675"/>
            <a:ext cx="24765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1125" b="1">
                <a:solidFill>
                  <a:srgbClr val="FFFFFF"/>
                </a:solidFill>
                <a:latin typeface="Aptos"/>
                <a:ea typeface="Aptos"/>
                <a:cs typeface="Aptos"/>
              </a:defRPr>
            </a:pPr>
            <a:r>
              <a:rPr sz="1125" b="1">
                <a:solidFill>
                  <a:srgbClr val="FFFFFF"/>
                </a:solidFill>
                <a:latin typeface="Aptos"/>
                <a:ea typeface="Aptos"/>
                <a:cs typeface="Aptos"/>
              </a:rPr>
              <a:t>Suggested next technical moves</a:t>
            </a:r>
          </a:p>
        </p:txBody>
      </p:sp>
      <p:sp>
        <p:nvSpPr>
          <p:cNvPr id="20" name="">
            <a:extLst xmlns:a="http://schemas.openxmlformats.org/drawingml/2006/main">
              <a:ext uri="{FF2B5EF4-FFF2-40B4-BE49-F238E27FC236}">
                <a16:creationId xmlns:a16="http://schemas.microsoft.com/office/drawing/2014/main" id="{D189244B-CF0F-4037-B9BE-CFE2DA509AF8}"/>
              </a:ext>
            </a:extLst>
          </p:cNvPr>
          <p:cNvSpPr>
            <a:spLocks xmlns:a="http://schemas.openxmlformats.org/drawingml/2006/main" noGrp="1"/>
          </p:cNvSpPr>
          <p:nvPr/>
        </p:nvSpPr>
        <p:spPr>
          <a:xfrm xmlns:a="http://schemas.openxmlformats.org/drawingml/2006/main">
            <a:off x="3333750" y="5400675"/>
            <a:ext cx="7572375"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975" b="0">
                <a:solidFill>
                  <a:srgbClr val="DCE6F2"/>
                </a:solidFill>
                <a:latin typeface="Aptos"/>
                <a:ea typeface="Aptos"/>
                <a:cs typeface="Aptos"/>
              </a:defRPr>
            </a:pPr>
            <a:r>
              <a:rPr sz="975" b="0">
                <a:solidFill>
                  <a:srgbClr val="DCE6F2"/>
                </a:solidFill>
                <a:latin typeface="Aptos"/>
                <a:ea typeface="Aptos"/>
                <a:cs typeface="Aptos"/>
              </a:rPr>
              <a:t>1. Connect approved AML data sources  2. Persist runs to PostgreSQL  3. Enforce enterprise auth/RBAC  4. Add approval workflow  5. Run golden-case evaluation regularly</a:t>
            </a:r>
          </a:p>
        </p:txBody>
      </p:sp>
      <p:sp>
        <p:nvSpPr>
          <p:cNvPr id="21" name="footer-source">
            <a:extLst xmlns:a="http://schemas.openxmlformats.org/drawingml/2006/main">
              <a:ext uri="{FF2B5EF4-FFF2-40B4-BE49-F238E27FC236}">
                <a16:creationId xmlns:a16="http://schemas.microsoft.com/office/drawing/2014/main" id="{79D3B1E8-1EE5-4241-900C-F5FE0A5A1177}"/>
              </a:ext>
            </a:extLst>
          </p:cNvPr>
          <p:cNvSpPr>
            <a:spLocks xmlns:a="http://schemas.openxmlformats.org/drawingml/2006/main" noGrp="1"/>
          </p:cNvSpPr>
          <p:nvPr/>
        </p:nvSpPr>
        <p:spPr>
          <a:xfrm xmlns:a="http://schemas.openxmlformats.org/drawingml/2006/main">
            <a:off x="514350" y="6496050"/>
            <a:ext cx="6858000" cy="171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defRPr sz="750" b="0">
                <a:solidFill>
                  <a:srgbClr val="5C6670"/>
                </a:solidFill>
                <a:latin typeface="Aptos"/>
                <a:ea typeface="Aptos"/>
                <a:cs typeface="Aptos"/>
              </a:defRPr>
            </a:pPr>
            <a:r>
              <a:rPr sz="750" b="0">
                <a:solidFill>
                  <a:srgbClr val="5C6670"/>
                </a:solidFill>
                <a:latin typeface="Aptos"/>
                <a:ea typeface="Aptos"/>
                <a:cs typeface="Aptos"/>
              </a:rPr>
              <a:t>Source: README and docs/README_SYSTEM_OVERVIEW.md</a:t>
            </a:r>
          </a:p>
        </p:txBody>
      </p:sp>
      <p:sp>
        <p:nvSpPr>
          <p:cNvPr id="22" name="footer-page">
            <a:extLst xmlns:a="http://schemas.openxmlformats.org/drawingml/2006/main">
              <a:ext uri="{FF2B5EF4-FFF2-40B4-BE49-F238E27FC236}">
                <a16:creationId xmlns:a16="http://schemas.microsoft.com/office/drawing/2014/main" id="{6178F84A-9DCB-4692-94BC-2C6CB7CACC6C}"/>
              </a:ext>
            </a:extLst>
          </p:cNvPr>
          <p:cNvSpPr>
            <a:spLocks xmlns:a="http://schemas.openxmlformats.org/drawingml/2006/main" noGrp="1"/>
          </p:cNvSpPr>
          <p:nvPr/>
        </p:nvSpPr>
        <p:spPr>
          <a:xfrm xmlns:a="http://schemas.openxmlformats.org/drawingml/2006/main">
            <a:off x="11239500" y="6438900"/>
            <a:ext cx="43815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defRPr sz="825" b="0">
                <a:solidFill>
                  <a:srgbClr val="5C6670"/>
                </a:solidFill>
                <a:latin typeface="Aptos Mono"/>
                <a:ea typeface="Aptos Mono"/>
                <a:cs typeface="Aptos Mono"/>
              </a:defRPr>
            </a:pPr>
            <a:r>
              <a:rPr sz="825" b="0">
                <a:solidFill>
                  <a:srgbClr val="5C6670"/>
                </a:solidFill>
                <a:latin typeface="Aptos Mono"/>
                <a:ea typeface="Aptos Mono"/>
                <a:cs typeface="Aptos Mono"/>
              </a:rPr>
              <a:t>06</a:t>
            </a:r>
          </a:p>
        </p:txBody>
      </p:sp>
    </p:spTree>
    <p:extLst>
      <p:ext uri="{BB962C8B-B14F-4D97-AF65-F5344CB8AC3E}">
        <p14:creationId xmlns:p14="http://schemas.microsoft.com/office/powerpoint/2010/main" val="14515634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2026-05-27T05:56:40.1060000Z</dcterms:created>
  <dcterms:modified xsi:type="dcterms:W3CDTF">2026-05-27T05:56:40.1060000Z</dcterms:modified>
</coreProperties>
</file>