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1ef027869747da" /><Relationship Type="http://schemas.openxmlformats.org/officeDocument/2006/relationships/extended-properties" Target="/docProps/app.xml" Id="Rdf506bbbb39742d9" /><Relationship Type="http://schemas.openxmlformats.org/officeDocument/2006/relationships/officeDocument" Target="/ppt/presentation.xml" Id="Rdbfd0339b8f146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e3c44c48be44c8"/>
  </p:sldMasterIdLst>
  <p:notesMasterIdLst>
    <p:notesMasterId xmlns:r="http://schemas.openxmlformats.org/officeDocument/2006/relationships" r:id="Re47d6b5bc1594b52"/>
  </p:notesMasterIdLst>
  <p:sldIdLst>
    <p:sldId xmlns:r="http://schemas.openxmlformats.org/officeDocument/2006/relationships" id="256" r:id="R4bff10ae9e984b0f"/>
    <p:sldId xmlns:r="http://schemas.openxmlformats.org/officeDocument/2006/relationships" id="257" r:id="Rba4e38d8ca024193"/>
    <p:sldId xmlns:r="http://schemas.openxmlformats.org/officeDocument/2006/relationships" id="258" r:id="R9cff9f9080f7493e"/>
    <p:sldId xmlns:r="http://schemas.openxmlformats.org/officeDocument/2006/relationships" id="259" r:id="R3de167ea8c5c4b1d"/>
    <p:sldId xmlns:r="http://schemas.openxmlformats.org/officeDocument/2006/relationships" id="260" r:id="Rf13b03af5512460e"/>
    <p:sldId xmlns:r="http://schemas.openxmlformats.org/officeDocument/2006/relationships" id="261" r:id="R3565e53d8630412a"/>
    <p:sldId xmlns:r="http://schemas.openxmlformats.org/officeDocument/2006/relationships" id="262" r:id="Raed8fbe97b6d4904"/>
    <p:sldId xmlns:r="http://schemas.openxmlformats.org/officeDocument/2006/relationships" id="263" r:id="R020cf8c73d3e4223"/>
    <p:sldId xmlns:r="http://schemas.openxmlformats.org/officeDocument/2006/relationships" id="264" r:id="Rf6e4860e66ef4222"/>
    <p:sldId xmlns:r="http://schemas.openxmlformats.org/officeDocument/2006/relationships" id="265" r:id="Ra5eab59ec30a48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aa89f016214cb4" /><Relationship Type="http://schemas.openxmlformats.org/officeDocument/2006/relationships/slideMaster" Target="/ppt/slideMasters/slideMaster1.xml" Id="Rb9e3c44c48be44c8" /><Relationship Type="http://schemas.openxmlformats.org/officeDocument/2006/relationships/notesMaster" Target="/ppt/notesMasters/notesMaster1.xml" Id="Re47d6b5bc1594b52" /><Relationship Type="http://schemas.openxmlformats.org/officeDocument/2006/relationships/presProps" Target="/ppt/presProps.xml" Id="R4f33ff758ec0458c" /><Relationship Type="http://schemas.openxmlformats.org/officeDocument/2006/relationships/tableStyles" Target="/ppt/tableStyles.xml" Id="R047a27df906f47fd" /><Relationship Type="http://schemas.openxmlformats.org/officeDocument/2006/relationships/slide" Target="/ppt/slides/slide1.xml" Id="R4bff10ae9e984b0f" /><Relationship Type="http://schemas.openxmlformats.org/officeDocument/2006/relationships/slide" Target="/ppt/slides/slide2.xml" Id="Rba4e38d8ca024193" /><Relationship Type="http://schemas.openxmlformats.org/officeDocument/2006/relationships/slide" Target="/ppt/slides/slide3.xml" Id="R9cff9f9080f7493e" /><Relationship Type="http://schemas.openxmlformats.org/officeDocument/2006/relationships/slide" Target="/ppt/slides/slide4.xml" Id="R3de167ea8c5c4b1d" /><Relationship Type="http://schemas.openxmlformats.org/officeDocument/2006/relationships/slide" Target="/ppt/slides/slide5.xml" Id="Rf13b03af5512460e" /><Relationship Type="http://schemas.openxmlformats.org/officeDocument/2006/relationships/slide" Target="/ppt/slides/slide6.xml" Id="R3565e53d8630412a" /><Relationship Type="http://schemas.openxmlformats.org/officeDocument/2006/relationships/slide" Target="/ppt/slides/slide7.xml" Id="Raed8fbe97b6d4904" /><Relationship Type="http://schemas.openxmlformats.org/officeDocument/2006/relationships/slide" Target="/ppt/slides/slide8.xml" Id="R020cf8c73d3e4223" /><Relationship Type="http://schemas.openxmlformats.org/officeDocument/2006/relationships/slide" Target="/ppt/slides/slide9.xml" Id="Rf6e4860e66ef4222" /><Relationship Type="http://schemas.openxmlformats.org/officeDocument/2006/relationships/slide" Target="/ppt/slides/slide10.xml" Id="Ra5eab59ec30a48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17e7617e6247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57938" dir="4832261">
              <a:srgbClr val="0F172A">
                <a:alpha val="9000"/>
              </a:srgbClr>
            </a:outerShdw>
          </a:effectLst>
        </a:effectStyle>
        <a:effectStyle>
          <a:effectLst>
            <a:outerShdw blurRad="114300" dist="39273" dir="4557825">
              <a:srgbClr val="0F172A">
                <a:alpha val="8000"/>
              </a:srgbClr>
            </a:outerShdw>
          </a:effectLst>
        </a:effectStyle>
        <a:effectStyle>
          <a:effectLst>
            <a:outerShdw blurRad="171450" dist="57938" dir="4832261">
              <a:srgbClr val="0F172A">
                <a:alpha val="8000"/>
              </a:srgbClr>
            </a:outerShdw>
          </a:effectLst>
        </a:effectStyle>
        <a:effectStyle>
          <a:effectLst>
            <a:outerShdw blurRad="209550" dist="76793" dir="4972499">
              <a:srgbClr val="991B1B">
                <a:alpha val="18000"/>
              </a:srgbClr>
            </a:outerShdw>
          </a:effectLst>
        </a:effectStyle>
        <a:effectStyle>
          <a:effectLst>
            <a:outerShdw blurRad="142875" dist="48568" dir="4721404">
              <a:srgbClr val="0F172A">
                <a:alpha val="8000"/>
              </a:srgbClr>
            </a:outerShdw>
          </a:effectLst>
        </a:effectStyle>
        <a:effectStyle>
          <a:effectLst>
            <a:outerShdw blurRad="209550" dist="76793" dir="4972499">
              <a:srgbClr val="0F172A">
                <a:alpha val="10000"/>
              </a:srgbClr>
            </a:outerShdw>
          </a:effectLst>
        </a:effectStyle>
        <a:effectStyle>
          <a:effectLst>
            <a:outerShdw blurRad="209550" dist="76793" dir="4972499">
              <a:srgbClr val="0F172A">
                <a:alpha val="9000"/>
              </a:srgbClr>
            </a:outerShdw>
          </a:effectLst>
        </a:effectStyle>
        <a:effectStyle>
          <a:effectLst>
            <a:outerShdw blurRad="171450" dist="57938" dir="4832261">
              <a:srgbClr val="0F172A">
                <a:alpha val="7000"/>
              </a:srgbClr>
            </a:outerShdw>
          </a:effectLst>
        </a:effectStyle>
        <a:effectStyle>
          <a:effectLst>
            <a:outerShdw blurRad="114300" dist="39273" dir="4557825">
              <a:srgbClr val="0F172A">
                <a:alpha val="6000"/>
              </a:srgbClr>
            </a:outerShdw>
          </a:effectLst>
        </a:effectStyle>
        <a:effectStyle>
          <a:effectLst>
            <a:outerShdw blurRad="114300" dist="39273" dir="4557825">
              <a:srgbClr val="0F172A">
                <a:alpha val="7000"/>
              </a:srgbClr>
            </a:outerShdw>
          </a:effectLst>
        </a:effectStyle>
        <a:effectStyle>
          <a:effectLst>
            <a:outerShdw blurRad="190500" dist="67352" dir="4912194">
              <a:srgbClr val="0F172A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d8dadf480141b5" /><Relationship Type="http://schemas.openxmlformats.org/officeDocument/2006/relationships/notesMaster" Target="/ppt/notesMasters/notesMaster1.xml" Id="R5898bca6df0e49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0f8a17d0d84722" /><Relationship Type="http://schemas.openxmlformats.org/officeDocument/2006/relationships/notesMaster" Target="/ppt/notesMasters/notesMaster1.xml" Id="R0e79ee9531b543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cc03e686464f13" /><Relationship Type="http://schemas.openxmlformats.org/officeDocument/2006/relationships/notesMaster" Target="/ppt/notesMasters/notesMaster1.xml" Id="R5801282c34d546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fa3cbfeebc4f0e" /><Relationship Type="http://schemas.openxmlformats.org/officeDocument/2006/relationships/notesMaster" Target="/ppt/notesMasters/notesMaster1.xml" Id="R104f1e9c7f2c47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9abbd33d28413e" /><Relationship Type="http://schemas.openxmlformats.org/officeDocument/2006/relationships/notesMaster" Target="/ppt/notesMasters/notesMaster1.xml" Id="R7ebd0d34b51348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98e153840b46af" /><Relationship Type="http://schemas.openxmlformats.org/officeDocument/2006/relationships/notesMaster" Target="/ppt/notesMasters/notesMaster1.xml" Id="R0a524985a7434b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12faba9cbe4264" /><Relationship Type="http://schemas.openxmlformats.org/officeDocument/2006/relationships/notesMaster" Target="/ppt/notesMasters/notesMaster1.xml" Id="R90e6534c5e6b4b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f41cd2b84b4404" /><Relationship Type="http://schemas.openxmlformats.org/officeDocument/2006/relationships/notesMaster" Target="/ppt/notesMasters/notesMaster1.xml" Id="R8bf88d7deacf44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35693d5fc94920" /><Relationship Type="http://schemas.openxmlformats.org/officeDocument/2006/relationships/notesMaster" Target="/ppt/notesMasters/notesMaster1.xml" Id="R23b377dc24434d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9d3fa8acc54acb" /><Relationship Type="http://schemas.openxmlformats.org/officeDocument/2006/relationships/notesMaster" Target="/ppt/notesMasters/notesMaster1.xml" Id="Rbc4357a97ca942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thesis, not the technology stack.</a:t>
            </a:r>
          </a:p>
          <a:p xmlns:a="http://schemas.openxmlformats.org/drawingml/2006/main">
            <a:r>
              <a:t>This system is designed to connect Data Science detection output with Investigator review.</a:t>
            </a:r>
          </a:p>
          <a:p xmlns:a="http://schemas.openxmlformats.org/drawingml/2006/main">
            <a:r>
              <a:t>Use the phrase governed bridge: model outputs prioritize review, humans make investigation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operating friction, not just technical difficulty.</a:t>
            </a:r>
          </a:p>
          <a:p xmlns:a="http://schemas.openxmlformats.org/drawingml/2006/main">
            <a:r>
              <a:t>The key bottleneck is converting many AML inputs into safe, explainable, role-specific work products.</a:t>
            </a:r>
          </a:p>
          <a:p xmlns:a="http://schemas.openxmlformats.org/drawingml/2006/main">
            <a:r>
              <a:t>Do not imply the system replaces investigators or governance.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definition slide.</a:t>
            </a:r>
          </a:p>
          <a:p xmlns:a="http://schemas.openxmlformats.org/drawingml/2006/main">
            <a:r>
              <a:t>The important distinction is controlled workflow, not free-form chat.</a:t>
            </a:r>
          </a:p>
          <a:p xmlns:a="http://schemas.openxmlformats.org/drawingml/2006/main">
            <a:r>
              <a:t>Outputs are designed for AML roles and governance, not generic Q&amp;A.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main process walkthrough.</a:t>
            </a:r>
          </a:p>
          <a:p xmlns:a="http://schemas.openxmlformats.org/drawingml/2006/main">
            <a:r>
              <a:t>The loop is the point: Data Scientist creates candidates; Investigator reviews and feeds outcomes back.</a:t>
            </a:r>
          </a:p>
          <a:p xmlns:a="http://schemas.openxmlformats.org/drawingml/2006/main">
            <a:r>
              <a:t>This separates model prioritization from human AML judgement.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focused on what Data Science owns.</a:t>
            </a:r>
          </a:p>
          <a:p xmlns:a="http://schemas.openxmlformats.org/drawingml/2006/main">
            <a:r>
              <a:t>Four models are used for prioritization, with score outputs bounded between zero and one.</a:t>
            </a:r>
          </a:p>
          <a:p xmlns:a="http://schemas.openxmlformats.org/drawingml/2006/main">
            <a:r>
              <a:t>The LLM is not allowed to determine rank, suspiciousness, or feature drivers.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the downstream workflow.</a:t>
            </a:r>
          </a:p>
          <a:p xmlns:a="http://schemas.openxmlformats.org/drawingml/2006/main">
            <a:r>
              <a:t>Emphasize that the Investigator owns evidence review and disposition.</a:t>
            </a:r>
          </a:p>
          <a:p xmlns:a="http://schemas.openxmlformats.org/drawingml/2006/main">
            <a:r>
              <a:t>The system structures the package and feedback, but it does not confirm suspicious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orient engineering and governance audiences.</a:t>
            </a:r>
          </a:p>
          <a:p xmlns:a="http://schemas.openxmlformats.org/drawingml/2006/main">
            <a:r>
              <a:t>Keep the explanation high-level: UI calls backend; backend routes role workflows; services supply data, model, RAG, and policy controls.</a:t>
            </a:r>
          </a:p>
          <a:p xmlns:a="http://schemas.openxmlformats.org/drawingml/2006/main">
            <a:r>
              <a:t>Mention that the tool registry exists as a governed foundation, while active agent nodes mostly call service facades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governance slide. Keep it direct.</a:t>
            </a:r>
          </a:p>
          <a:p xmlns:a="http://schemas.openxmlformats.org/drawingml/2006/main">
            <a:r>
              <a:t>The strongest message is that the model cannot prove suspicious activity and the system is designed around that boundary.</a:t>
            </a:r>
          </a:p>
          <a:p xmlns:a="http://schemas.openxmlformats.org/drawingml/2006/main">
            <a:r>
              <a:t>Mention that guardrail failures can trigger safe rewrite, blocking, or remediation in the investigator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sound factual, not promotional.</a:t>
            </a:r>
          </a:p>
          <a:p xmlns:a="http://schemas.openxmlformats.org/drawingml/2006/main">
            <a:r>
              <a:t>The main proof is implementation and workflow verification, not model performance.</a:t>
            </a:r>
          </a:p>
          <a:p xmlns:a="http://schemas.openxmlformats.org/drawingml/2006/main">
            <a:r>
              <a:t>Explicitly say sparse labels prevent supervised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honesty and direction.</a:t>
            </a:r>
          </a:p>
          <a:p xmlns:a="http://schemas.openxmlformats.org/drawingml/2006/main">
            <a:r>
              <a:t>The deck should not claim production readiness.</a:t>
            </a:r>
          </a:p>
          <a:p xmlns:a="http://schemas.openxmlformats.org/drawingml/2006/main">
            <a:r>
              <a:t>Emphasize that the foundation is valuable because it encodes the bank operating model and governance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23d22ff4c4d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e1eca1b0ac4679" /><Relationship Type="http://schemas.openxmlformats.org/officeDocument/2006/relationships/slideLayout" Target="/ppt/slideLayouts/slideLayout1.xml" Id="R38c4fedda5e648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c4fedda5e648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57938" dir="4832261">
              <a:srgbClr val="0F172A">
                <a:alpha val="9000"/>
              </a:srgbClr>
            </a:outerShdw>
          </a:effectLst>
        </a:effectStyle>
        <a:effectStyle>
          <a:effectLst>
            <a:outerShdw blurRad="114300" dist="39273" dir="4557825">
              <a:srgbClr val="0F172A">
                <a:alpha val="8000"/>
              </a:srgbClr>
            </a:outerShdw>
          </a:effectLst>
        </a:effectStyle>
        <a:effectStyle>
          <a:effectLst>
            <a:outerShdw blurRad="171450" dist="57938" dir="4832261">
              <a:srgbClr val="0F172A">
                <a:alpha val="8000"/>
              </a:srgbClr>
            </a:outerShdw>
          </a:effectLst>
        </a:effectStyle>
        <a:effectStyle>
          <a:effectLst>
            <a:outerShdw blurRad="209550" dist="76793" dir="4972499">
              <a:srgbClr val="991B1B">
                <a:alpha val="18000"/>
              </a:srgbClr>
            </a:outerShdw>
          </a:effectLst>
        </a:effectStyle>
        <a:effectStyle>
          <a:effectLst>
            <a:outerShdw blurRad="142875" dist="48568" dir="4721404">
              <a:srgbClr val="0F172A">
                <a:alpha val="8000"/>
              </a:srgbClr>
            </a:outerShdw>
          </a:effectLst>
        </a:effectStyle>
        <a:effectStyle>
          <a:effectLst>
            <a:outerShdw blurRad="209550" dist="76793" dir="4972499">
              <a:srgbClr val="0F172A">
                <a:alpha val="10000"/>
              </a:srgbClr>
            </a:outerShdw>
          </a:effectLst>
        </a:effectStyle>
        <a:effectStyle>
          <a:effectLst>
            <a:outerShdw blurRad="209550" dist="76793" dir="4972499">
              <a:srgbClr val="0F172A">
                <a:alpha val="9000"/>
              </a:srgbClr>
            </a:outerShdw>
          </a:effectLst>
        </a:effectStyle>
        <a:effectStyle>
          <a:effectLst>
            <a:outerShdw blurRad="171450" dist="57938" dir="4832261">
              <a:srgbClr val="0F172A">
                <a:alpha val="7000"/>
              </a:srgbClr>
            </a:outerShdw>
          </a:effectLst>
        </a:effectStyle>
        <a:effectStyle>
          <a:effectLst>
            <a:outerShdw blurRad="114300" dist="39273" dir="4557825">
              <a:srgbClr val="0F172A">
                <a:alpha val="6000"/>
              </a:srgbClr>
            </a:outerShdw>
          </a:effectLst>
        </a:effectStyle>
        <a:effectStyle>
          <a:effectLst>
            <a:outerShdw blurRad="114300" dist="39273" dir="4557825">
              <a:srgbClr val="0F172A">
                <a:alpha val="7000"/>
              </a:srgbClr>
            </a:outerShdw>
          </a:effectLst>
        </a:effectStyle>
        <a:effectStyle>
          <a:effectLst>
            <a:outerShdw blurRad="190500" dist="67352" dir="4912194">
              <a:srgbClr val="0F172A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d749809724a10" /><Relationship Type="http://schemas.openxmlformats.org/officeDocument/2006/relationships/image" Target="/ppt/media/image.png" Id="R3623691d0e3c4a35" /><Relationship Type="http://schemas.openxmlformats.org/officeDocument/2006/relationships/notesSlide" Target="/ppt/notesSlides/notesSlide1.xml" Id="R13967d02435442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4f81403b54775" /><Relationship Type="http://schemas.openxmlformats.org/officeDocument/2006/relationships/notesSlide" Target="/ppt/notesSlides/notesSlide2.xml" Id="Rb11324755c214f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428fe9cc44412" /><Relationship Type="http://schemas.openxmlformats.org/officeDocument/2006/relationships/notesSlide" Target="/ppt/notesSlides/notesSlide3.xml" Id="R35b3332d5f9e44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7c1852f274cd8" /><Relationship Type="http://schemas.openxmlformats.org/officeDocument/2006/relationships/notesSlide" Target="/ppt/notesSlides/notesSlide4.xml" Id="R9b53ea51cae449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bcabbee9343d4" /><Relationship Type="http://schemas.openxmlformats.org/officeDocument/2006/relationships/notesSlide" Target="/ppt/notesSlides/notesSlide5.xml" Id="Rf213f861c31b48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9bc3cac134388" /><Relationship Type="http://schemas.openxmlformats.org/officeDocument/2006/relationships/notesSlide" Target="/ppt/notesSlides/notesSlide6.xml" Id="R02d5f12f334641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48d11f02b477c" /><Relationship Type="http://schemas.openxmlformats.org/officeDocument/2006/relationships/notesSlide" Target="/ppt/notesSlides/notesSlide7.xml" Id="Rca11835ac35845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e6a13a7d345e5" /><Relationship Type="http://schemas.openxmlformats.org/officeDocument/2006/relationships/notesSlide" Target="/ppt/notesSlides/notesSlide8.xml" Id="Re04f1df192314f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c317894e34a39" /><Relationship Type="http://schemas.openxmlformats.org/officeDocument/2006/relationships/notesSlide" Target="/ppt/notesSlides/notesSlide9.xml" Id="R0d83f3a6a2f341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9cde0927045ff" /><Relationship Type="http://schemas.openxmlformats.org/officeDocument/2006/relationships/notesSlide" Target="/ppt/notesSlides/notesSlide10.xml" Id="Rae6e89925f4745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F01B0A-FA50-47DE-92C3-0E0D2C76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3691d0e3c4a35"/>
          <a:srcRect xmlns:a="http://schemas.openxmlformats.org/drawingml/2006/main" l="24987" t="0" r="249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46E81-B9B7-4545-A70E-76BDCAA9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8CB45-541C-499B-8693-53FE10EA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E3676-3CF5-4F09-AAE2-E3C2A64D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924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70F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0F14"/>
                </a:solidFill>
                <a:latin typeface="Aptos"/>
                <a:ea typeface="Aptos"/>
                <a:cs typeface="Aptos"/>
              </a:rPr>
              <a:t>15-MINUTE TEAM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B0ED4-2C6B-4FE8-B969-FEA95FD7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53340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AML Agentic</a:t>
            </a:r>
          </a:p>
          <a:p xmlns:a="http://schemas.openxmlformats.org/drawingml/2006/main">
            <a:pPr>
              <a:defRPr sz="4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Intelligence</a:t>
            </a:r>
          </a:p>
          <a:p xmlns:a="http://schemas.openxmlformats.org/drawingml/2006/main">
            <a:pPr>
              <a:defRPr sz="4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Workbench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0B94E-15E8-4035-8187-CC9CAD54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governed bridge from model-driven AML detection to human investigation.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44507-98EC-4A83-B493-B3F0E3A4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Population scoring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73C44-A7A5-454B-9BC3-B84076E5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53000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Candidate 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372CB-2948-48F7-8FE0-AFA30716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Case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0B45F-BF62-4339-A02C-BD866C96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Feedback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8CD1A-6D88-4CE6-AEB6-135588E6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repository docs, code, and local model/data artifacts</a:t>
            </a:r>
          </a:p>
        </p:txBody>
      </p:sp>
    </p:spTree>
    <p:extLst>
      <p:ext uri="{BB962C8B-B14F-4D97-AF65-F5344CB8AC3E}">
        <p14:creationId xmlns:p14="http://schemas.microsoft.com/office/powerpoint/2010/main" val="1823411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552B3C-8DB9-462A-A210-33BDA86E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FE979-1F88-45DC-9D46-7B76BFB2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Business problem and bottleneck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27931-B81D-4653-814A-7BB71A85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AML work has high data volume, many handoffs, and strict governance constraints.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E5D5F-A8EB-43BF-B610-CB2C48A4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A4F2E-A759-4EF1-A1C6-3D5A260B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F782C-5976-46BB-958C-4ED3FB8E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09CED-5E34-4CB4-BA71-E5E11C30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2667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19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Fragmented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AML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186C3-459A-4B07-BE32-565EBF25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143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34D7D-760A-4EB8-9FA0-A4149DA5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35D86-CD39-4455-8981-B4C918DC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Disconnected artifacts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2D9B4-3D6C-4AC3-B112-13521D09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80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Transactions, KYC, features, model scores, typology guidance, and notes live in separate places.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3302A-CFE7-4F7A-BE81-0444B699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143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986CC-DB64-4EFB-B641-89C76394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B646C-4E91-47C3-94DA-9E06EA8B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Alert overload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48F43-57F4-486A-896C-1B8B0BB0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280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Teams need prioritization signals, but model outputs alone are not investigation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12777-5DDF-4259-95AB-2AFF1345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3143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273AF-FFB1-4804-9FDE-0BB26883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300E6-E007-42DE-9C1C-4C0FF8C3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Weak handoff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B169E-FC91-4DCE-8D81-F437D837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280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Data science outputs often do not become investigator-ready packages with clear review focus.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F9E49-8880-426A-B6E8-EC590DD0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3143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0A0AD-0D00-4D0A-95F9-9C524D62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2289F-4071-4160-AA20-6602A29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Governance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E2FF1-F337-4336-996B-D5A9FE84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14850"/>
            <a:ext cx="280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AI text can overstate suspicion, miss citations, or imply decisions without human review.</a:t>
            </a:r>
          </a:p>
        </p:txBody>
      </p: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3829050" y="2505075"/>
            <a:ext cx="93345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192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829050" y="3067050"/>
            <a:ext cx="933450" cy="1666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" name=""/>
          <p:cNvCxnSpPr>
            <a:stCxn xmlns:a="http://schemas.openxmlformats.org/drawingml/2006/main" id="16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4762500" y="2505075"/>
            <a:ext cx="657225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192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" name=""/>
          <p:cNvCxnSpPr>
            <a:stCxn xmlns:a="http://schemas.openxmlformats.org/drawingml/2006/main" id="20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4762500" y="3067050"/>
            <a:ext cx="6572250" cy="1666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279872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0D05C4-623D-4C61-89A0-72C7BEDE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PRODUCT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1966F-0AF6-4D45-B09F-71C97D86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the system solves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6A7CE-08F2-4D99-86F4-B35BD2A2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It converts raw AML evidence and model outputs into controlled decision-support packages.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82701-DDDB-49A2-A88B-F1B6BDAB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8593A-A892-4FA3-9F0F-6A9F23AE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CD3B9-CEF6-49FB-93F2-2614C29C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81DC9-CED4-4EE1-8155-B5CC8E66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143250" cy="29718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B17B3-9E96-4121-B826-74C06B83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DB8CE-ED53-4E4F-A079-359E6293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Transaction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61FD-0068-49E6-AD53-EE39CCAA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KYC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D14CB-D95C-4575-95C3-9E8FDD5A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Feature tables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6867F-2BCE-4BA7-9471-90713FA9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Model scores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2782C-DE15-4B75-AF29-B7F89597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Typology guidance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42BFF-B72E-4AEC-A344-A2A21DA8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429000" cy="240030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Governed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agentic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F9D31-B11F-4896-8B6F-4B021662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Role-aware routing + evidence assembly + policy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0B8FC-D9AD-4391-83D9-D0ADAA3F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3143250" cy="29718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E1C6C-F5CB-476B-9A05-64C92CF2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After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75D60-6054-4C9C-B261-58529CD0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324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70F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0F14"/>
                </a:solidFill>
                <a:latin typeface="Aptos"/>
                <a:ea typeface="Aptos"/>
                <a:cs typeface="Aptos"/>
              </a:rPr>
              <a:t>Ranked candidate packages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4ECE8-D2E0-4BDD-9F70-E2409C53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2324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70F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0F14"/>
                </a:solidFill>
                <a:latin typeface="Aptos"/>
                <a:ea typeface="Aptos"/>
                <a:cs typeface="Aptos"/>
              </a:rPr>
              <a:t>Investigation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A950A-D4A0-4928-B3FF-5C5210A1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2324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70F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0F14"/>
                </a:solidFill>
                <a:latin typeface="Aptos"/>
                <a:ea typeface="Aptos"/>
                <a:cs typeface="Aptos"/>
              </a:rPr>
              <a:t>Typology context with citations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FE899-6982-44BB-963B-3CE31D53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43350"/>
            <a:ext cx="2324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Guardrail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14DC6-435A-4F70-82F3-15DD96E1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05300"/>
            <a:ext cx="2324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70F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0F14"/>
                </a:solidFill>
                <a:latin typeface="Aptos"/>
                <a:ea typeface="Aptos"/>
                <a:cs typeface="Aptos"/>
              </a:rPr>
              <a:t>Model feedback fields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867150" y="35242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791450" y="35242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1920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1FC5A8-696D-439D-A3FA-D0498D47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67350"/>
            <a:ext cx="777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Not a free-form chatbot: every output is routed, structured, reviewed, and auditable.</a:t>
            </a:r>
          </a:p>
        </p:txBody>
      </p:sp>
    </p:spTree>
    <p:extLst>
      <p:ext uri="{BB962C8B-B14F-4D97-AF65-F5344CB8AC3E}">
        <p14:creationId xmlns:p14="http://schemas.microsoft.com/office/powerpoint/2010/main" val="1906035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A85AA1-913D-4486-8BE3-2C8F8C64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29CEE-BFC1-4A50-8D02-09089A7C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End-to-end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E0D15-DFD7-41E3-8F89-E75E5A57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system creates a closed loop between model development and investigation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E770E-DF66-4B1E-82FA-304E0276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A9603-4F24-4914-BA82-8B3063FE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5C1AB-AF52-4036-AF4B-77F273E4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31235-33EB-411F-AFF0-A7A4B66F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619250" cy="17335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19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6848D-C49F-4947-BC48-ADAFFC09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CB2BE-2543-49AF-99D1-A107CA71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Population scoring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60D5E-80C9-48E9-AD78-8E4BB521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Score modeled customers.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54A41-FC78-4559-88B7-78FDA87C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43150"/>
            <a:ext cx="1619250" cy="17335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19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4D0E7-2B6A-4193-9329-94549300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C1495-373B-43CA-A6DE-0CEA6375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670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Candidate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9412A-B287-41C9-99E9-4FB2347D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814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Rank top-K review queue.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CB32C-D61D-448C-836D-B2A1BCD6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619250" cy="17335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19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4D5FF-250D-400C-B80A-FCA945CC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F996A-399D-43B7-A8E7-7040FDB9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Handoff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3C9F1-EF7F-4527-9DC2-F4A26371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814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Package drivers and limits.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5B4F8-0DC3-469B-A683-8A8DF9CD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1619250" cy="17335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31543-4CA9-4517-9B6A-24CE530D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548C9-CF8F-4942-801E-2C9E2938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70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Case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22029-9D0D-445E-848B-58EE1FF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814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Review evidence and typology.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9BCC5D-11EE-4B11-9291-1AB5F50A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619250" cy="17335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5C7D3-4100-4198-9D4A-8F560A09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AE7CC9-68D0-4BE8-9A43-A707978D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Disposition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9C1FA7-3168-46A9-A210-EAC34191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Recommend close, monitor, or escalate.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992D83-F6CE-41D2-9A8B-ED93BD7A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43150"/>
            <a:ext cx="1619250" cy="17335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06D6C9-D98A-490D-B4BD-92602F24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E3548-3EA6-4CF4-AA48-38658DE4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670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Feedback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92D68D-461F-4C9A-AEEC-BC6789B6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814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Return outcome fields.</a:t>
            </a:r>
          </a:p>
        </p:txBody>
      </p: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71700" y="3209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192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038600" y="3209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192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905500" y="3209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772400" y="3209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639300" y="3209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2B53C4-5085-4144-82FE-8F1F1D45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101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766E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7DDE8F-6732-4732-8B0F-C9BEA36F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53000"/>
            <a:ext cx="42672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Feedback loop improves features, thresholds, and monitoring</a:t>
            </a:r>
          </a:p>
        </p:txBody>
      </p:sp>
    </p:spTree>
    <p:extLst>
      <p:ext uri="{BB962C8B-B14F-4D97-AF65-F5344CB8AC3E}">
        <p14:creationId xmlns:p14="http://schemas.microsoft.com/office/powerpoint/2010/main" val="20185135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03E0B1-A1DD-430D-BC6C-367292DE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DATA SCIENTIST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16A14-51DC-406F-B208-08B2A7C5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Four-model candidate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A74CA-9812-4CBE-8C06-F06B0B93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Data Scientist workflow ranks customers and prepares investigator-ready packages.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D89C9-9200-47FA-85A3-430CEE16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230F2-DBA6-4BF6-AF27-144523FF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CD860-571F-4971-945F-D1CAB99F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8B637-4A90-44FC-8093-C89080B9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D1561-2030-4A15-A1A2-73FDC72A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272F9-10D9-4A31-B16B-5CF5E29A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Isolation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7DE3E-9964-4EC9-99EC-D6D83684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Random isolation path length; SHAP drivers.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9C439-CD30-4F05-8229-07746828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1926D-F51F-44EB-A264-C2B3702D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9806E-A834-4354-A6B4-B6C06972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Autoencoder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4FD7C-7BD3-4575-8E0F-E4F98C2B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Reconstruction error over standardized features.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9B13F-58F0-4DD6-A9B7-FB59AA39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3B397-B7C9-4482-88DE-295203F9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788D4-4395-4460-84FD-77872564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Variational AE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F8BCB-F39C-44C8-88E5-819F2B9F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Reconstruction plus KL divergence signal.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EA6ADE-CD0F-4BD6-A7C4-E16C6811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242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5BC91-96CD-442A-99C9-79880D87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24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C8269-5E44-4FFA-9A3C-952ADD2C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Conditional VAE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135DB3-FC26-4BDA-9EC2-2849DF55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95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Condition-adjusted anomaly score by customer type.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5163F-A5D8-482B-8CD2-01C27901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00250"/>
            <a:ext cx="3905250" cy="2952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19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5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DDAA17-E0C6-4AEB-A355-EDC7C336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66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Detection Candidate Package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380D31-02CB-4B8E-A862-6DD122D0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Rank, score, percentile, threshold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FD68F6-1E25-4FA1-B95B-C4A3AB16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D7D8BA-47EF-463E-A6DA-ECC6870E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19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Top feature drivers and baselines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CDC15C-8B62-4C53-8A4A-F699395E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7F4BD-2FB3-4AC6-B808-634DD20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81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Guarded explanation or safe fallback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5336E1-8FFD-4DBF-BC58-3D287C11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CD1A4D-E686-4ED4-A082-342DA233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Suggested investigation focus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45FE1B-3452-4CD4-811C-B59622FA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90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1DC833-C351-47CD-BE51-EE544BDF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0F1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0F14"/>
                </a:solidFill>
                <a:latin typeface="Aptos"/>
                <a:ea typeface="Aptos"/>
                <a:cs typeface="Aptos"/>
              </a:rPr>
              <a:t>Required model-not-proof disclaimer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189E57-D6C1-446A-BAC8-6A7B96E3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4" name=""/>
          <p:cNvCxnSpPr>
            <a:stCxn xmlns:a="http://schemas.openxmlformats.org/drawingml/2006/main" id="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067050" y="2647950"/>
            <a:ext cx="401955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1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924550" y="2647950"/>
            <a:ext cx="116205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5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3067050" y="3476625"/>
            <a:ext cx="401955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7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5924550" y="3476625"/>
            <a:ext cx="116205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C348BF-76D8-4BD1-9C8A-2264EFAD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24500"/>
            <a:ext cx="937260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FB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LLM can write wording; deterministic model evidence owns rank, score, threshold, and drivers.</a:t>
            </a:r>
          </a:p>
        </p:txBody>
      </p:sp>
    </p:spTree>
    <p:extLst>
      <p:ext uri="{BB962C8B-B14F-4D97-AF65-F5344CB8AC3E}">
        <p14:creationId xmlns:p14="http://schemas.microsoft.com/office/powerpoint/2010/main" val="5000957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B6CA2-3B76-4838-88BE-5A77149E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INVESTIGATOR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AB54F-7ECB-4D0A-B3A2-D8EBDCC8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Evidence-based case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19AE3-A18F-4ED2-9138-3C1A13F6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Investigator workflow consumes a model-prioritized candidate and returns case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1F1E4-B09A-4825-81DA-291707EB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8E698-CA9D-4ADF-A0AE-C65B4B3E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1C945-0ECA-4429-B0D9-165673D2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67DB7-0F46-44DD-9DCA-B5F07B2A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47650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51E32-00E6-47ED-85FE-B156020E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762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0EFE7-ECC1-4842-A139-F12AEED9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B3AFF-2C86-4E9F-AC9A-3F3838F3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133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One model-prioritized customer with candidate context, score, drivers, limitations, and review focus.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76D08-A495-4FCF-8418-404BC5BB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47625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0522A-F469-49B7-A39D-B55618BB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76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Investigation 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DAD7F-EA63-423B-9116-7C4185BD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90800"/>
            <a:ext cx="3886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FD114-BDB0-4B76-A8D1-66B9D2A4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47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Transaction behaviour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E1DB4-B6EB-41A2-AE2D-7D60A692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574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Velocity, channel use, amounts, cross-border exposure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16CDA-1333-4D33-83D8-AB9BA155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24200"/>
            <a:ext cx="3886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9CA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0E9CA-2682-4847-8333-9D4287DB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81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Typology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DB8F6-B205-4A9D-A58D-F524865F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908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Careful mapping to AML indicators with citations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FCFA64-EBD2-419A-BA95-749F3E51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57600"/>
            <a:ext cx="3886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2D20C-FC1E-4190-B668-5D1FBB9A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Case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A7764-12EC-4AE5-9011-A7D3C2C2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242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Missing evidence, plausible explanations, disposition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90AFC-FB0E-4D58-A57D-0B679B94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91000"/>
            <a:ext cx="3886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DA4AA1-6EB8-473F-9F5A-2F5A4360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48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 feedback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387F9A-5584-4F5D-86B7-E6250C24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576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Useful drivers, misleading drivers, false-positive reason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7EE5C1-ED83-45E0-B2F8-A5840A46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247650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40960-3C5A-4901-A4F5-662FEBFE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4762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628A1-B332-47D2-80CF-05729C54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F539FF-B285-4C34-86BC-AC55E006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09850"/>
            <a:ext cx="2133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Governed AML intelligence package with disposition recommendation, limitations, audit trace, and structured feedback.</a:t>
            </a:r>
          </a:p>
        </p:txBody>
      </p:sp>
      <p:cxnSp>
        <p:nvCxnSpPr>
          <p:cNvPr id="6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162300" y="3314700"/>
            <a:ext cx="552450" cy="66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192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1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8477250" y="3314700"/>
            <a:ext cx="552450" cy="66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34180D-E8E8-408D-80BD-CB0BBFDE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86400"/>
            <a:ext cx="697230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Important boundary: investigators review evidence; the model only prioritizes review.</a:t>
            </a:r>
          </a:p>
        </p:txBody>
      </p:sp>
    </p:spTree>
    <p:extLst>
      <p:ext uri="{BB962C8B-B14F-4D97-AF65-F5344CB8AC3E}">
        <p14:creationId xmlns:p14="http://schemas.microsoft.com/office/powerpoint/2010/main" val="7805275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DAE52B-7485-4C23-A4FD-E0C6B712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E4C9C-457B-402A-9BAB-63DC1539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Architecture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4A3C0-3CFC-4532-B9F5-34D148CB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implementation separates UI, orchestration, model/data services, retrieval, and governance.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0EF75-ABED-46A3-A0FF-513C3888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19C93-C869-484B-A175-49B5D9FE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0C3E0-7051-46CC-9237-7E5A96D7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D13FB-08C1-42EE-8268-F5006E67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381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3204A-B0D0-4395-8CEE-7E275832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03B04-797E-4671-A23F-73EED52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Next.js Workbench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8508A-1FC6-405B-AD1F-92CD21DC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Role pages, route preview, streaming progress, report view, evaluation dashboard.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FE792-CDA8-426A-B394-9A433FCE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05000"/>
            <a:ext cx="2381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FF673-0B1B-4E05-AC88-A8B5D3E8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050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7443A-6E23-42B9-A326-4626773C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57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FastAPI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3495E-6FE8-46E1-8EC8-8D54CCD6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030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Analysis endpoints, streaming endpoint, reports, evaluations, customer data browser.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669E3-EA1D-40B6-AF4C-29BE484C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05000"/>
            <a:ext cx="2381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E8A9D-6971-4C09-A96D-92E3ED0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050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C53FB-4AE9-460F-B230-55521995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57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Orchestration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F87AB-42E2-4E57-86F6-5383C862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Router, dynamic graph, bounded investigator planner, critic, remediation loop.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32EB7-6CBB-4186-90DE-167477ED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05000"/>
            <a:ext cx="1714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2A7884-4CA6-4F6D-B781-320E7E7D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050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275E8-3AC8-4E20-BAD9-183B7082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574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FBDF0-B732-4CF7-9BF1-10D8B45F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Candidate packages, reports, judge scores, guardrail status, audit trace.</a:t>
            </a:r>
          </a:p>
        </p:txBody>
      </p:sp>
      <p:cxnSp>
        <p:nvCxnSpPr>
          <p:cNvPr id="66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48000" y="25050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115050" y="25050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82100" y="25050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583D70-CFBB-418F-9976-18C772B8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4107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7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AD1004-C0CF-4BE7-B997-CC00C44A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38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Service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9DB29D-D90F-4FC3-ABD9-21DEA324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00550"/>
            <a:ext cx="1524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A5B79F-C7AC-4C69-B5F6-87C05ADD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577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 Service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D12CE3-F41E-49DC-930C-070D9B0E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48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IF + AE + VAE + CVAE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0C96FE-F394-453F-A9F7-D6166BBD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00550"/>
            <a:ext cx="1524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844858-82A4-426D-97FE-E8F851B9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577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 Service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583394-EA71-4D76-863D-1F3639BF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48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Transactions, KYC, features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53970B-8EAB-4E78-A263-4F47C202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00550"/>
            <a:ext cx="1524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6A254E-38BE-460D-8D59-DB55E084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577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RAG Retriever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3ACB43-3B22-48A9-A6E6-D9CCED20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48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Official AML knowledge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2B401B-8A17-4498-AB6F-ED62EB35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00550"/>
            <a:ext cx="1524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9CA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EBE512-F7AF-4C60-8F8F-BB097989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577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Policy Engine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09F222-268E-497A-ACDF-2551EBC6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48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Guardrails + judge panel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8C14B7-D6B3-450A-BC37-EAEA3055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1524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F916E2-62EF-4249-8DC3-F2ECC3C8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 Store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CD8DBC-E5A8-44CF-8878-2CA96E2C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48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Local history and audit view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4DCA73-0D57-4246-A15C-D5208B40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192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0766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54DA3-DD9B-4BE3-BACE-CBF26D27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19325-646D-4DFF-BD3B-7320331C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Safety design before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F71CE-FD2F-47C8-9E6A-30C8F99C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system is built to prevent unsupported AML conclusions and keep outputs reviewable.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60F65-7AEC-49B8-8D4A-6E70D46F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F6C79-A16F-47CB-B23C-9F022DAA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E53A0-05C9-471D-B2BE-429F622D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0DD05-853F-4022-949A-AF821B96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572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8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8A1B3-EEA8-4CAC-8310-A049C60E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Input guardrails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06AAD-A376-4958-A595-6950BDEF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859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Blocks prompt injection, prompt extraction, and unsafe laundering requests.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DED1B-395A-44F1-89A9-B790CDDD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572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8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2F609-BC0A-4518-9968-0831F1E4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Role-aware routing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5F131-F72B-4C7B-8868-0411916D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Only authorized agents run for the selected business role and task.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A88DD-F2DD-4AAD-98E1-DADB0046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4572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8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61AA9-F5BD-464E-9A22-2119D271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Structured outputs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35760-A305-4BD5-B3D0-EC92AB89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575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Pydantic schemas enforce citations, careful language, and required disclaimers.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EB56D-0093-436E-BDB6-2793A462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4572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8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49F81-DBBE-4E24-A8E3-75860AE9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Judge panel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0787B-CE99-4FCD-A01F-158D11DD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433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Scores faithfulness, citation support, compliance, typology, data science quality, usefulness.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01216-B5B3-401C-81B9-8983D405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4572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9CA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8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B12AC-F52D-47F8-AA31-5E22D4DC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Output guardrails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2FC42-F3DE-4C9D-991E-60C02B2D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291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Flags prohibited phrases, model-score-as-proof language, unsupported typology, PII.</a:t>
            </a:r>
          </a:p>
        </p:txBody>
      </p:sp>
      <p:cxnSp>
        <p:nvCxnSpPr>
          <p:cNvPr id="52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81350" y="23241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81350" y="30099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181350" y="36957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181350" y="43815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59989-1320-4B12-8777-0D95EFD5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3905250" cy="249555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3B6214-57C9-448B-873C-A5B8679C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Delivery rule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74F768-0847-4618-9BDD-E1B6BD06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0F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70F14"/>
                </a:solidFill>
                <a:latin typeface="Aptos"/>
                <a:ea typeface="Aptos"/>
                <a:cs typeface="Aptos"/>
              </a:rPr>
              <a:t>Model score is a prioritization signal only.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9CC99-94E4-4DE2-B788-73DC004E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24250"/>
            <a:ext cx="318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final report must avoid legal conclusions, unsupported typology claims, fabricated citations, and STR instructions.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34648D-2BD9-4132-977A-4910249D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67200"/>
            <a:ext cx="3181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Allowed: careful, evidence-grounded, human-review wording</a:t>
            </a:r>
          </a:p>
        </p:txBody>
      </p:sp>
    </p:spTree>
    <p:extLst>
      <p:ext uri="{BB962C8B-B14F-4D97-AF65-F5344CB8AC3E}">
        <p14:creationId xmlns:p14="http://schemas.microsoft.com/office/powerpoint/2010/main" val="20979840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703E10-4128-4238-A404-04FF15A3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B840F-1D05-48B2-9B44-3CA26637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Results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734B0-24C1-4FFA-A319-AA1BC81C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prototype is grounded in local real-data artifacts, implemented workflows, and verification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D0382-E930-40FC-A503-280B8F31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64868-44F5-4B9C-974D-D78A10A7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BE1CC-D89F-4AD5-A4C4-36C3AEF1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9056F-B688-4F7F-BFAF-B61950A5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00025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9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E4727-9DD9-4678-B64D-000C9565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rPr>
              <a:t>~5.95M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1AD0B-F32F-49FC-97AC-03AC99C9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transaction rows across channel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40426-CB42-4044-B51E-5EE3D6A3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180975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9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25210-21AC-4BE6-BEFC-F9955692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5740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rPr>
              <a:t>61,410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E48E2-EC5C-4429-98A7-78CEE7A5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modeled customers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7FE81-ACCA-4F51-9535-F43086D1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24050"/>
            <a:ext cx="161925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9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4B80D-5382-45AB-913E-D475F3D5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574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rPr>
              <a:t>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182E9-3BA0-4608-A728-7726E1A5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engineered model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70098-B443-4255-9BE5-0828031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180975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9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A338F-194A-40AB-A120-99E153CD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5740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243C7-D808-4565-8B0D-A90AF1FE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765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positive labels; sparse by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973ADF-D84E-4FF9-AF2B-20B0A4B1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200025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9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031D2-385E-4E2E-A068-2BBC9A54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574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rPr>
              <a:t>81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B9114-3906-4A0C-A364-3E7C4F2A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backend tests last logged passing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5A32A5-013B-4367-AED0-5FB26B9B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953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14AA0-EA50-4F53-B21A-A0668D50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54ACF2-20AE-486E-8A09-FE6E6EC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Implemented workflow proof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B5D3E-7F3E-4280-98D9-838D4644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Data Scientist candidate generation, four model result lists, guarded explanations, SHAP/reconstruction drivers, and investigator handoff are implemented.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27906F-546C-4B7C-B62A-CA36B31D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953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7129E7-A447-4AD8-A781-DBB7FD93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DE101C-5AB2-41B8-89A8-EE23FA0D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957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Verification proof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AF9A58-7949-42DB-93A1-31D99B2F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3860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Ruff, backend tests, frontend typecheck/build, and Chrome verification are recorded in the redesign iteration log.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78A3AB-2236-4215-9B98-FECF402E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72390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FB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Careful interpretation: sparse labels support sanity checks, not production accuracy claims.</a:t>
            </a:r>
          </a:p>
        </p:txBody>
      </p:sp>
    </p:spTree>
    <p:extLst>
      <p:ext uri="{BB962C8B-B14F-4D97-AF65-F5344CB8AC3E}">
        <p14:creationId xmlns:p14="http://schemas.microsoft.com/office/powerpoint/2010/main" val="10778910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56DC75-6DE2-4967-BC39-CBD83F9A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PATH FORWARD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1437B-997C-4C37-B4A5-1227E892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Limitations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B2B8E-2F92-40E5-BAB0-F098D391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current system is a strong foundation, but not yet an enterprise deployment.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0583C-026F-439E-871C-E06E18F2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A737C-0650-4F02-88D3-C7CFDF8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359E3-0900-49EF-A61B-E88AB667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09BF2-5E33-4F07-BC10-5B54ED93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485775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0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420AA-CF14-4F80-A382-9FFB5C59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Current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CA5F2-760A-4B41-9740-627A4E37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production SSO / RBAC / row-level customer authorization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6A434-4574-4DB6-B392-EDCA7056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43147-663C-4F52-ADAF-A9510247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live bank source-system or case-management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7E539-AFF2-49B7-926E-16883E73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6B79C-532E-45C6-BEBB-6EB59772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 history is in-memory in the active API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8E9EC-673A-4C2C-9636-BCF73FF1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325F1-793B-4B37-AB8A-112D2F8A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 artifacts are local, not a governed model registry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ADA39-9B08-4A80-B0EE-3824F3F5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64EE0-F8F8-4396-BAD3-777BDDEB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full human approval workflow UI yet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B7DD8-4313-4DA0-A74D-C822F295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CECBF-E618-480A-8A47-6F92C662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66900"/>
            <a:ext cx="485775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0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12C4B-EC7E-499C-82D3-B8A21111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52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Next 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0CA14-6C87-4532-BCC5-BD499E0C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A8F1C-019D-4105-9CB6-1C7F9BEE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Durable persistence and audit repository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613AF-CD7D-414C-804C-E36A1A7D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24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A3804-5639-44E2-9782-F4F4ED92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Production auth, authorization, and secrets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F945F6-20BB-46ED-BFBE-FB22A15A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24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A4C5F6-514D-4930-BACF-F14F0099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43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 registry and formal validation artifacts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A8F189-C794-4742-9951-3CC0B410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24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A0AC14-FA89-43F6-9415-2F1E24CD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4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Stronger embeddings and RAG refresh workflow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524B47-86A3-447E-B13C-ADF9F508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24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C122C6-56BC-40CD-A33A-0A4047AA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Case-management and feedback-loop integration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E29A5C-3EF1-4F97-A758-B9646586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883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Closing message: the value is the governed handoff from model signal to investigator judgement.</a:t>
            </a:r>
          </a:p>
        </p:txBody>
      </p:sp>
    </p:spTree>
    <p:extLst>
      <p:ext uri="{BB962C8B-B14F-4D97-AF65-F5344CB8AC3E}">
        <p14:creationId xmlns:p14="http://schemas.microsoft.com/office/powerpoint/2010/main" val="1031314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57938" dir="4832261">
              <a:srgbClr val="0F172A">
                <a:alpha val="9000"/>
              </a:srgbClr>
            </a:outerShdw>
          </a:effectLst>
        </a:effectStyle>
        <a:effectStyle>
          <a:effectLst>
            <a:outerShdw blurRad="114300" dist="39273" dir="4557825">
              <a:srgbClr val="0F172A">
                <a:alpha val="8000"/>
              </a:srgbClr>
            </a:outerShdw>
          </a:effectLst>
        </a:effectStyle>
        <a:effectStyle>
          <a:effectLst>
            <a:outerShdw blurRad="171450" dist="57938" dir="4832261">
              <a:srgbClr val="0F172A">
                <a:alpha val="8000"/>
              </a:srgbClr>
            </a:outerShdw>
          </a:effectLst>
        </a:effectStyle>
        <a:effectStyle>
          <a:effectLst>
            <a:outerShdw blurRad="209550" dist="76793" dir="4972499">
              <a:srgbClr val="991B1B">
                <a:alpha val="18000"/>
              </a:srgbClr>
            </a:outerShdw>
          </a:effectLst>
        </a:effectStyle>
        <a:effectStyle>
          <a:effectLst>
            <a:outerShdw blurRad="142875" dist="48568" dir="4721404">
              <a:srgbClr val="0F172A">
                <a:alpha val="8000"/>
              </a:srgbClr>
            </a:outerShdw>
          </a:effectLst>
        </a:effectStyle>
        <a:effectStyle>
          <a:effectLst>
            <a:outerShdw blurRad="209550" dist="76793" dir="4972499">
              <a:srgbClr val="0F172A">
                <a:alpha val="10000"/>
              </a:srgbClr>
            </a:outerShdw>
          </a:effectLst>
        </a:effectStyle>
        <a:effectStyle>
          <a:effectLst>
            <a:outerShdw blurRad="209550" dist="76793" dir="4972499">
              <a:srgbClr val="0F172A">
                <a:alpha val="9000"/>
              </a:srgbClr>
            </a:outerShdw>
          </a:effectLst>
        </a:effectStyle>
        <a:effectStyle>
          <a:effectLst>
            <a:outerShdw blurRad="171450" dist="57938" dir="4832261">
              <a:srgbClr val="0F172A">
                <a:alpha val="7000"/>
              </a:srgbClr>
            </a:outerShdw>
          </a:effectLst>
        </a:effectStyle>
        <a:effectStyle>
          <a:effectLst>
            <a:outerShdw blurRad="114300" dist="39273" dir="4557825">
              <a:srgbClr val="0F172A">
                <a:alpha val="6000"/>
              </a:srgbClr>
            </a:outerShdw>
          </a:effectLst>
        </a:effectStyle>
        <a:effectStyle>
          <a:effectLst>
            <a:outerShdw blurRad="114300" dist="39273" dir="4557825">
              <a:srgbClr val="0F172A">
                <a:alpha val="7000"/>
              </a:srgbClr>
            </a:outerShdw>
          </a:effectLst>
        </a:effectStyle>
        <a:effectStyle>
          <a:effectLst>
            <a:outerShdw blurRad="190500" dist="67352" dir="4912194">
              <a:srgbClr val="0F172A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2026-06-18T22:17:17.0310000Z</dcterms:created>
  <dcterms:modified xsi:type="dcterms:W3CDTF">2026-06-18T22:17:17.0310000Z</dcterms:modified>
</coreProperties>
</file>